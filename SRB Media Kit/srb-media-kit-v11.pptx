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Update "2026" each year. The tagline is written for practice management software companies customize per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Customize the company names (SimplePractice, TherapyNotes, etc.) to match whoever you're pitching. This is the most important slide for B2B software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update: Instagram now leads with 4.1M monthly views (August 2026 actual). TikTok sub2 updated to reflect 3M+ individual video reach. Update quarterly.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EMDRIA Approved Consultant is an important credential it means she can supervise other therapists in EMDR, which significantly raises her authority with clinician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Real analytics screenshots embedded. Left = TikTok grid (viral all-time content). Middle = Instagram top reels by views (30 days). Right = Instagram top by saves (30 days saves signal clinician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"Religious Trauma" is worth calling out highly searched topic with almost no other credentialed creator voices. Strong differentiator in pitch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NOTES:
- These are published (full) rates. Internal negotiation floor: TikTok $450, Reel $350, Carousel $250, Stories $175, FB $100, Core Bundle $900, Full Bundle $1,100.
- For a first partnership, offer the negotiation-floor rate in exchange for permission to publish results as a case study.
- Monthly packages start with 3-month commitments. Exclusivity is always an add-on, never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Steph.Goes.With.That@RootandGrowProvidence.com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503920" y="-1463040"/>
            <a:ext cx="5303520" cy="5303520"/>
          </a:xfrm>
          <a:prstGeom prst="ellipse">
            <a:avLst/>
          </a:prstGeom>
          <a:solidFill>
            <a:srgbClr val="1A6B3F">
              <a:alpha val="18000"/>
            </a:srgbClr>
          </a:solidFill>
          <a:ln w="12700">
            <a:solidFill>
              <a:srgbClr val="1A6B3F">
                <a:alpha val="18000"/>
              </a:srgbClr>
            </a:solidFill>
            <a:prstDash val="solid"/>
          </a:ln>
        </p:spPr>
      </p:sp>
      <p:sp>
        <p:nvSpPr>
          <p:cNvPr id="3" name="Shape 1"/>
          <p:cNvSpPr/>
          <p:nvPr/>
        </p:nvSpPr>
        <p:spPr>
          <a:xfrm>
            <a:off x="9875520" y="3200400"/>
            <a:ext cx="2926080" cy="2926080"/>
          </a:xfrm>
          <a:prstGeom prst="ellipse">
            <a:avLst/>
          </a:prstGeom>
          <a:solidFill>
            <a:srgbClr val="6AAF86">
              <a:alpha val="12000"/>
            </a:srgbClr>
          </a:solidFill>
          <a:ln w="12700">
            <a:solidFill>
              <a:srgbClr val="6AAF86">
                <a:alpha val="12000"/>
              </a:srgbClr>
            </a:solidFill>
            <a:prstDash val="solid"/>
          </a:ln>
        </p:spPr>
      </p:sp>
      <p:sp>
        <p:nvSpPr>
          <p:cNvPr id="4" name="Shape 2"/>
          <p:cNvSpPr/>
          <p:nvPr/>
        </p:nvSpPr>
        <p:spPr>
          <a:xfrm>
            <a:off x="-731520" y="5120640"/>
            <a:ext cx="2743200" cy="2743200"/>
          </a:xfrm>
          <a:prstGeom prst="ellipse">
            <a:avLst/>
          </a:prstGeom>
          <a:solidFill>
            <a:srgbClr val="1A6B3F">
              <a:alpha val="10000"/>
            </a:srgbClr>
          </a:solidFill>
          <a:ln w="12700">
            <a:solidFill>
              <a:srgbClr val="1A6B3F">
                <a:alpha val="10000"/>
              </a:srgbClr>
            </a:solidFill>
            <a:prstDash val="solid"/>
          </a:ln>
        </p:spPr>
      </p:sp>
      <p:sp>
        <p:nvSpPr>
          <p:cNvPr id="5" name="Text 3"/>
          <p:cNvSpPr txBox="1"/>
          <p:nvPr/>
        </p:nvSpPr>
        <p:spPr>
          <a:xfrm>
            <a:off x="685800" y="1097280"/>
            <a:ext cx="7315200" cy="292608"/>
          </a:xfrm>
          <a:prstGeom prst="rect">
            <a:avLst/>
          </a:prstGeom>
          <a:noFill/>
          <a:ln/>
        </p:spPr>
        <p:txBody>
          <a:bodyPr wrap="square" lIns="0" tIns="0" rIns="0" bIns="0" rtlCol="0" anchor="ctr"/>
          <a:lstStyle/>
          <a:p>
            <a:pPr indent="0" marL="0">
              <a:buNone/>
            </a:pPr>
            <a:r>
              <a:rPr lang="en-US" sz="1000" b="1" spc="400" kern="0" dirty="0">
                <a:solidFill>
                  <a:srgbClr val="6AAF86"/>
                </a:solidFill>
                <a:latin typeface="Calibri" pitchFamily="34" charset="0"/>
                <a:ea typeface="Calibri" pitchFamily="34" charset="-122"/>
                <a:cs typeface="Calibri" pitchFamily="34" charset="-120"/>
              </a:rPr>
              <a:t>CREATOR MEDIA KIT  ·  2026</a:t>
            </a:r>
            <a:endParaRPr lang="en-US" sz="1000" dirty="0"/>
          </a:p>
        </p:txBody>
      </p:sp>
      <p:sp>
        <p:nvSpPr>
          <p:cNvPr id="6" name="Text 4"/>
          <p:cNvSpPr txBox="1"/>
          <p:nvPr/>
        </p:nvSpPr>
        <p:spPr>
          <a:xfrm>
            <a:off x="685800" y="1481328"/>
            <a:ext cx="9144000" cy="1234440"/>
          </a:xfrm>
          <a:prstGeom prst="rect">
            <a:avLst/>
          </a:prstGeom>
          <a:noFill/>
          <a:ln/>
        </p:spPr>
        <p:txBody>
          <a:bodyPr wrap="square" lIns="0" tIns="0" rIns="0" bIns="0" rtlCol="0" anchor="ctr"/>
          <a:lstStyle/>
          <a:p>
            <a:pPr indent="0" marL="0">
              <a:buNone/>
            </a:pPr>
            <a:r>
              <a:rPr lang="en-US" sz="6200" b="1" dirty="0">
                <a:solidFill>
                  <a:srgbClr val="EBF5EF"/>
                </a:solidFill>
                <a:latin typeface="Cambria" pitchFamily="34" charset="0"/>
                <a:ea typeface="Cambria" pitchFamily="34" charset="-122"/>
                <a:cs typeface="Cambria" pitchFamily="34" charset="-120"/>
              </a:rPr>
              <a:t>Steph Brashear</a:t>
            </a:r>
            <a:endParaRPr lang="en-US" sz="6200" dirty="0"/>
          </a:p>
        </p:txBody>
      </p:sp>
      <p:sp>
        <p:nvSpPr>
          <p:cNvPr id="7" name="Text 5"/>
          <p:cNvSpPr txBox="1"/>
          <p:nvPr/>
        </p:nvSpPr>
        <p:spPr>
          <a:xfrm>
            <a:off x="685800" y="2834640"/>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@steph.goes.with.that  ·  TikTok  ·  Instagram  ·  Facebook</a:t>
            </a:r>
            <a:endParaRPr lang="en-US" sz="1300" dirty="0"/>
          </a:p>
        </p:txBody>
      </p:sp>
      <p:sp>
        <p:nvSpPr>
          <p:cNvPr id="8" name="Text 6"/>
          <p:cNvSpPr txBox="1"/>
          <p:nvPr/>
        </p:nvSpPr>
        <p:spPr>
          <a:xfrm>
            <a:off x="685800" y="3337560"/>
            <a:ext cx="8046720" cy="1005840"/>
          </a:xfrm>
          <a:prstGeom prst="rect">
            <a:avLst/>
          </a:prstGeom>
          <a:noFill/>
          <a:ln/>
        </p:spPr>
        <p:txBody>
          <a:bodyPr wrap="square" lIns="0" tIns="0" rIns="0" bIns="0" rtlCol="0" anchor="ctr"/>
          <a:lstStyle/>
          <a:p>
            <a:pPr indent="0" marL="0">
              <a:buNone/>
            </a:pPr>
            <a:r>
              <a:rPr lang="en-US" sz="1600" i="1" dirty="0">
                <a:solidFill>
                  <a:srgbClr val="8AAE96"/>
                </a:solidFill>
                <a:latin typeface="Cambria" pitchFamily="34" charset="0"/>
                <a:ea typeface="Cambria" pitchFamily="34" charset="-122"/>
                <a:cs typeface="Cambria" pitchFamily="34" charset="-120"/>
              </a:rPr>
              <a:t>EMDR Therapist &amp; EMDRIA Approved Consultant -</a:t>
            </a:r>
            <a:endParaRPr lang="en-US" sz="1600" dirty="0"/>
          </a:p>
          <a:p>
            <a:pPr indent="0" marL="0">
              <a:buNone/>
            </a:pPr>
            <a:r>
              <a:rPr lang="en-US" sz="1600" i="1" dirty="0">
                <a:solidFill>
                  <a:srgbClr val="8AAE96"/>
                </a:solidFill>
                <a:latin typeface="Cambria" pitchFamily="34" charset="0"/>
                <a:ea typeface="Cambria" pitchFamily="34" charset="-122"/>
                <a:cs typeface="Cambria" pitchFamily="34" charset="-120"/>
              </a:rPr>
              <a:t>talking to the therapists who buy your software and the clients who influence them.</a:t>
            </a:r>
            <a:endParaRPr lang="en-US" sz="1600" dirty="0"/>
          </a:p>
        </p:txBody>
      </p:sp>
      <p:sp>
        <p:nvSpPr>
          <p:cNvPr id="9" name="Shape 7"/>
          <p:cNvSpPr/>
          <p:nvPr/>
        </p:nvSpPr>
        <p:spPr>
          <a:xfrm>
            <a:off x="8275320" y="1463040"/>
            <a:ext cx="2834640" cy="2834640"/>
          </a:xfrm>
          <a:prstGeom prst="ellipse">
            <a:avLst/>
          </a:prstGeom>
          <a:solidFill>
            <a:srgbClr val="1A6B3F">
              <a:alpha val="45000"/>
            </a:srgbClr>
          </a:solidFill>
          <a:ln w="19050">
            <a:solidFill>
              <a:srgbClr val="1A6B3F">
                <a:alpha val="70000"/>
              </a:srgbClr>
            </a:solidFill>
            <a:prstDash val="solid"/>
          </a:ln>
        </p:spPr>
      </p:sp>
      <p:pic>
        <p:nvPicPr>
          <p:cNvPr id="10" name="Image 0" descr="C:\Users\richa\Documents\Claude Projects\SRB Media Kit\assets\steph-profile.jpg">    </p:cNvPr>
          <p:cNvPicPr>
            <a:picLocks noChangeAspect="1"/>
          </p:cNvPicPr>
          <p:nvPr/>
        </p:nvPicPr>
        <p:blipFill>
          <a:blip r:embed="rId1"/>
          <a:stretch>
            <a:fillRect/>
          </a:stretch>
        </p:blipFill>
        <p:spPr>
          <a:xfrm>
            <a:off x="8412480" y="1600200"/>
            <a:ext cx="2560320" cy="2560320"/>
          </a:xfrm>
          <a:prstGeom prst="ellipse">
            <a:avLst/>
          </a:prstGeom>
        </p:spPr>
      </p:pic>
      <p:sp>
        <p:nvSpPr>
          <p:cNvPr id="11" name="Shape 8"/>
          <p:cNvSpPr/>
          <p:nvPr/>
        </p:nvSpPr>
        <p:spPr>
          <a:xfrm>
            <a:off x="685800" y="4800600"/>
            <a:ext cx="940003" cy="329184"/>
          </a:xfrm>
          <a:prstGeom prst="rect">
            <a:avLst/>
          </a:prstGeom>
          <a:solidFill>
            <a:srgbClr val="054126"/>
          </a:solidFill>
          <a:ln w="9525">
            <a:solidFill>
              <a:srgbClr val="6AAF86">
                <a:alpha val="55000"/>
              </a:srgbClr>
            </a:solidFill>
            <a:prstDash val="solid"/>
          </a:ln>
        </p:spPr>
      </p:sp>
      <p:sp>
        <p:nvSpPr>
          <p:cNvPr id="12" name="Text 9"/>
          <p:cNvSpPr txBox="1"/>
          <p:nvPr/>
        </p:nvSpPr>
        <p:spPr>
          <a:xfrm>
            <a:off x="685800" y="4800600"/>
            <a:ext cx="940003"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TikTok</a:t>
            </a:r>
            <a:endParaRPr lang="en-US" sz="1100" dirty="0"/>
          </a:p>
        </p:txBody>
      </p:sp>
      <p:sp>
        <p:nvSpPr>
          <p:cNvPr id="13" name="Shape 10"/>
          <p:cNvSpPr/>
          <p:nvPr/>
        </p:nvSpPr>
        <p:spPr>
          <a:xfrm>
            <a:off x="1790395" y="4800600"/>
            <a:ext cx="1181405" cy="329184"/>
          </a:xfrm>
          <a:prstGeom prst="rect">
            <a:avLst/>
          </a:prstGeom>
          <a:solidFill>
            <a:srgbClr val="054126"/>
          </a:solidFill>
          <a:ln w="9525">
            <a:solidFill>
              <a:srgbClr val="6AAF86">
                <a:alpha val="55000"/>
              </a:srgbClr>
            </a:solidFill>
            <a:prstDash val="solid"/>
          </a:ln>
        </p:spPr>
      </p:sp>
      <p:sp>
        <p:nvSpPr>
          <p:cNvPr id="14" name="Text 11"/>
          <p:cNvSpPr txBox="1"/>
          <p:nvPr/>
        </p:nvSpPr>
        <p:spPr>
          <a:xfrm>
            <a:off x="1790395" y="4800600"/>
            <a:ext cx="1181405"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Instagram</a:t>
            </a:r>
            <a:endParaRPr lang="en-US" sz="1100" dirty="0"/>
          </a:p>
        </p:txBody>
      </p:sp>
      <p:sp>
        <p:nvSpPr>
          <p:cNvPr id="15" name="Shape 12"/>
          <p:cNvSpPr/>
          <p:nvPr/>
        </p:nvSpPr>
        <p:spPr>
          <a:xfrm>
            <a:off x="3136392" y="4800600"/>
            <a:ext cx="1100938" cy="329184"/>
          </a:xfrm>
          <a:prstGeom prst="rect">
            <a:avLst/>
          </a:prstGeom>
          <a:solidFill>
            <a:srgbClr val="054126"/>
          </a:solidFill>
          <a:ln w="9525">
            <a:solidFill>
              <a:srgbClr val="6AAF86">
                <a:alpha val="55000"/>
              </a:srgbClr>
            </a:solidFill>
            <a:prstDash val="solid"/>
          </a:ln>
        </p:spPr>
      </p:sp>
      <p:sp>
        <p:nvSpPr>
          <p:cNvPr id="16" name="Text 13"/>
          <p:cNvSpPr txBox="1"/>
          <p:nvPr/>
        </p:nvSpPr>
        <p:spPr>
          <a:xfrm>
            <a:off x="3136392" y="4800600"/>
            <a:ext cx="1100938"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Facebook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THE OPPORTUNITY</a:t>
            </a:r>
            <a:endParaRPr lang="en-US" sz="9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indent="0" marL="0">
              <a:buNone/>
            </a:pPr>
            <a:r>
              <a:rPr lang="en-US" sz="3400" b="1" dirty="0">
                <a:solidFill>
                  <a:srgbClr val="054126"/>
                </a:solidFill>
                <a:latin typeface="Cambria" pitchFamily="34" charset="0"/>
                <a:ea typeface="Cambria" pitchFamily="34" charset="-122"/>
                <a:cs typeface="Cambria" pitchFamily="34" charset="-120"/>
              </a:rPr>
              <a:t>Why This Partnership Works</a:t>
            </a:r>
            <a:endParaRPr lang="en-US" sz="3400" dirty="0"/>
          </a:p>
        </p:txBody>
      </p:sp>
      <p:sp>
        <p:nvSpPr>
          <p:cNvPr id="4" name="Shape 2"/>
          <p:cNvSpPr/>
          <p:nvPr/>
        </p:nvSpPr>
        <p:spPr>
          <a:xfrm>
            <a:off x="502920" y="1719072"/>
            <a:ext cx="5029200" cy="4754880"/>
          </a:xfrm>
          <a:prstGeom prst="rect">
            <a:avLst/>
          </a:prstGeom>
          <a:solidFill>
            <a:srgbClr val="054126"/>
          </a:solidFill>
          <a:ln w="12700">
            <a:solidFill>
              <a:srgbClr val="054126"/>
            </a:solidFill>
            <a:prstDash val="solid"/>
          </a:ln>
        </p:spPr>
      </p:sp>
      <p:sp>
        <p:nvSpPr>
          <p:cNvPr id="5" name="Text 3"/>
          <p:cNvSpPr txBox="1"/>
          <p:nvPr/>
        </p:nvSpPr>
        <p:spPr>
          <a:xfrm>
            <a:off x="685800" y="2148840"/>
            <a:ext cx="4663440" cy="228600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Her audience</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is your</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customer.</a:t>
            </a:r>
            <a:endParaRPr lang="en-US" sz="3600" dirty="0"/>
          </a:p>
        </p:txBody>
      </p:sp>
      <p:sp>
        <p:nvSpPr>
          <p:cNvPr id="6" name="Text 4"/>
          <p:cNvSpPr txBox="1"/>
          <p:nvPr/>
        </p:nvSpPr>
        <p:spPr>
          <a:xfrm>
            <a:off x="685800" y="4526280"/>
            <a:ext cx="4663440" cy="2468880"/>
          </a:xfrm>
          <a:prstGeom prst="rect">
            <a:avLst/>
          </a:prstGeom>
          <a:noFill/>
          <a:ln/>
        </p:spPr>
        <p:txBody>
          <a:bodyPr wrap="square" lIns="0" tIns="0" rIns="0" bIns="0" rtlCol="0" anchor="ctr"/>
          <a:lstStyle/>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Half her audience are therapists shopping for better tools. The other half are clients who just sent her video to their own therapist. Both groups trust her. Both buy things.</a:t>
            </a:r>
            <a:endParaRPr lang="en-US" sz="1200" dirty="0"/>
          </a:p>
          <a:p>
            <a:pPr indent="0" marL="0">
              <a:lnSpc>
                <a:spcPct val="135000"/>
              </a:lnSpc>
              <a:buNone/>
            </a:pPr>
            <a:endParaRPr lang="en-US" sz="1200" dirty="0"/>
          </a:p>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You mean therapy comes with a built-in product research pipeline? But we don't have to get into all of that. When she recommends something, it doesn't feel like an ad. It feels like advice from someone who actually does this work because she does.</a:t>
            </a:r>
            <a:endParaRPr lang="en-US" sz="1200" dirty="0"/>
          </a:p>
        </p:txBody>
      </p:sp>
      <p:sp>
        <p:nvSpPr>
          <p:cNvPr id="7" name="Shape 5"/>
          <p:cNvSpPr/>
          <p:nvPr/>
        </p:nvSpPr>
        <p:spPr>
          <a:xfrm>
            <a:off x="5852160" y="1719072"/>
            <a:ext cx="5806440" cy="1481328"/>
          </a:xfrm>
          <a:prstGeom prst="rect">
            <a:avLst/>
          </a:prstGeom>
          <a:solidFill>
            <a:srgbClr val="EBF5EF"/>
          </a:solidFill>
          <a:ln w="9525">
            <a:solidFill>
              <a:srgbClr val="C2DDD0"/>
            </a:solidFill>
            <a:prstDash val="solid"/>
          </a:ln>
        </p:spPr>
      </p:sp>
      <p:sp>
        <p:nvSpPr>
          <p:cNvPr id="8" name="Text 6"/>
          <p:cNvSpPr txBox="1"/>
          <p:nvPr/>
        </p:nvSpPr>
        <p:spPr>
          <a:xfrm>
            <a:off x="6035040" y="19202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6537960" y="19019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Dual Audience Reach</a:t>
            </a:r>
            <a:endParaRPr lang="en-US" sz="1400" dirty="0"/>
          </a:p>
        </p:txBody>
      </p:sp>
      <p:sp>
        <p:nvSpPr>
          <p:cNvPr id="10" name="Text 8"/>
          <p:cNvSpPr txBox="1"/>
          <p:nvPr/>
        </p:nvSpPr>
        <p:spPr>
          <a:xfrm>
            <a:off x="6537960" y="22860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She reaches both therapists evaluating software AND clients who influence their therapist's buying decisions.</a:t>
            </a:r>
            <a:endParaRPr lang="en-US" sz="1150" dirty="0"/>
          </a:p>
        </p:txBody>
      </p:sp>
      <p:sp>
        <p:nvSpPr>
          <p:cNvPr id="11" name="Shape 9"/>
          <p:cNvSpPr/>
          <p:nvPr/>
        </p:nvSpPr>
        <p:spPr>
          <a:xfrm>
            <a:off x="5852160" y="3319272"/>
            <a:ext cx="5806440" cy="1481328"/>
          </a:xfrm>
          <a:prstGeom prst="rect">
            <a:avLst/>
          </a:prstGeom>
          <a:solidFill>
            <a:srgbClr val="EBF5EF"/>
          </a:solidFill>
          <a:ln w="9525">
            <a:solidFill>
              <a:srgbClr val="C2DDD0"/>
            </a:solidFill>
            <a:prstDash val="solid"/>
          </a:ln>
        </p:spPr>
      </p:sp>
      <p:sp>
        <p:nvSpPr>
          <p:cNvPr id="12" name="Text 10"/>
          <p:cNvSpPr txBox="1"/>
          <p:nvPr/>
        </p:nvSpPr>
        <p:spPr>
          <a:xfrm>
            <a:off x="6035040" y="35204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6537960" y="35021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Clinical Credibility</a:t>
            </a:r>
            <a:endParaRPr lang="en-US" sz="1400" dirty="0"/>
          </a:p>
        </p:txBody>
      </p:sp>
      <p:sp>
        <p:nvSpPr>
          <p:cNvPr id="14" name="Text 12"/>
          <p:cNvSpPr txBox="1"/>
          <p:nvPr/>
        </p:nvSpPr>
        <p:spPr>
          <a:xfrm>
            <a:off x="6537960" y="38862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As an EMDRIA Approved Consultant, her product recommendations carry professional weight not just influencer noise.</a:t>
            </a:r>
            <a:endParaRPr lang="en-US" sz="1150" dirty="0"/>
          </a:p>
        </p:txBody>
      </p:sp>
      <p:sp>
        <p:nvSpPr>
          <p:cNvPr id="15" name="Shape 13"/>
          <p:cNvSpPr/>
          <p:nvPr/>
        </p:nvSpPr>
        <p:spPr>
          <a:xfrm>
            <a:off x="5852160" y="4919472"/>
            <a:ext cx="5806440" cy="1481328"/>
          </a:xfrm>
          <a:prstGeom prst="rect">
            <a:avLst/>
          </a:prstGeom>
          <a:solidFill>
            <a:srgbClr val="EBF5EF"/>
          </a:solidFill>
          <a:ln w="9525">
            <a:solidFill>
              <a:srgbClr val="C2DDD0"/>
            </a:solidFill>
            <a:prstDash val="solid"/>
          </a:ln>
        </p:spPr>
      </p:sp>
      <p:sp>
        <p:nvSpPr>
          <p:cNvPr id="16" name="Text 14"/>
          <p:cNvSpPr txBox="1"/>
          <p:nvPr/>
        </p:nvSpPr>
        <p:spPr>
          <a:xfrm>
            <a:off x="6035040" y="51206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03</a:t>
            </a:r>
            <a:endParaRPr lang="en-US" sz="1100" dirty="0"/>
          </a:p>
        </p:txBody>
      </p:sp>
      <p:sp>
        <p:nvSpPr>
          <p:cNvPr id="17" name="Text 15"/>
          <p:cNvSpPr txBox="1"/>
          <p:nvPr/>
        </p:nvSpPr>
        <p:spPr>
          <a:xfrm>
            <a:off x="6537960" y="51023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Viral Organic Reach</a:t>
            </a:r>
            <a:endParaRPr lang="en-US" sz="1400" dirty="0"/>
          </a:p>
        </p:txBody>
      </p:sp>
      <p:sp>
        <p:nvSpPr>
          <p:cNvPr id="18" name="Text 16"/>
          <p:cNvSpPr txBox="1"/>
          <p:nvPr/>
        </p:nvSpPr>
        <p:spPr>
          <a:xfrm>
            <a:off x="6537960" y="54864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Instagram hit 4.1M views in August alone 97.9% from non-followers. Sponsored content rides the same algorithm.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PLATFORM REACH</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By the Numbers</a:t>
            </a:r>
            <a:endParaRPr lang="en-US" sz="3000" dirty="0"/>
          </a:p>
        </p:txBody>
      </p:sp>
      <p:sp>
        <p:nvSpPr>
          <p:cNvPr id="5" name="Shape 3"/>
          <p:cNvSpPr/>
          <p:nvPr/>
        </p:nvSpPr>
        <p:spPr>
          <a:xfrm>
            <a:off x="502920" y="1627632"/>
            <a:ext cx="3611880" cy="4919472"/>
          </a:xfrm>
          <a:prstGeom prst="rect">
            <a:avLst/>
          </a:prstGeom>
          <a:solidFill>
            <a:srgbClr val="F2FAF6"/>
          </a:solidFill>
          <a:ln w="9525">
            <a:solidFill>
              <a:srgbClr val="C2DDD0"/>
            </a:solidFill>
            <a:prstDash val="solid"/>
          </a:ln>
        </p:spPr>
      </p:sp>
      <p:sp>
        <p:nvSpPr>
          <p:cNvPr id="6" name="Shape 4"/>
          <p:cNvSpPr/>
          <p:nvPr/>
        </p:nvSpPr>
        <p:spPr>
          <a:xfrm>
            <a:off x="502920" y="1627632"/>
            <a:ext cx="3611880" cy="109728"/>
          </a:xfrm>
          <a:prstGeom prst="rect">
            <a:avLst/>
          </a:prstGeom>
          <a:solidFill>
            <a:srgbClr val="1A6B3F"/>
          </a:solidFill>
          <a:ln w="12700">
            <a:solidFill>
              <a:srgbClr val="1A6B3F"/>
            </a:solidFill>
            <a:prstDash val="solid"/>
          </a:ln>
        </p:spPr>
      </p:sp>
      <p:sp>
        <p:nvSpPr>
          <p:cNvPr id="7" name="Text 5"/>
          <p:cNvSpPr txBox="1"/>
          <p:nvPr/>
        </p:nvSpPr>
        <p:spPr>
          <a:xfrm>
            <a:off x="502920"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8" name="Text 6"/>
          <p:cNvSpPr txBox="1"/>
          <p:nvPr/>
        </p:nvSpPr>
        <p:spPr>
          <a:xfrm>
            <a:off x="502920"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390.6K</a:t>
            </a:r>
            <a:endParaRPr lang="en-US" sz="5400" dirty="0"/>
          </a:p>
        </p:txBody>
      </p:sp>
      <p:sp>
        <p:nvSpPr>
          <p:cNvPr id="9" name="Text 7"/>
          <p:cNvSpPr txBox="1"/>
          <p:nvPr/>
        </p:nvSpPr>
        <p:spPr>
          <a:xfrm>
            <a:off x="502920"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Total Likes</a:t>
            </a:r>
            <a:endParaRPr lang="en-US" sz="1300" dirty="0"/>
          </a:p>
        </p:txBody>
      </p:sp>
      <p:sp>
        <p:nvSpPr>
          <p:cNvPr id="10" name="Shape 8"/>
          <p:cNvSpPr/>
          <p:nvPr/>
        </p:nvSpPr>
        <p:spPr>
          <a:xfrm>
            <a:off x="1691640" y="3822192"/>
            <a:ext cx="1234440" cy="22860"/>
          </a:xfrm>
          <a:prstGeom prst="rect">
            <a:avLst/>
          </a:prstGeom>
          <a:solidFill>
            <a:srgbClr val="1A6B3F"/>
          </a:solidFill>
          <a:ln w="12700">
            <a:solidFill>
              <a:srgbClr val="1A6B3F"/>
            </a:solidFill>
            <a:prstDash val="solid"/>
          </a:ln>
        </p:spPr>
      </p:sp>
      <p:sp>
        <p:nvSpPr>
          <p:cNvPr id="11" name="Text 9"/>
          <p:cNvSpPr txBox="1"/>
          <p:nvPr/>
        </p:nvSpPr>
        <p:spPr>
          <a:xfrm>
            <a:off x="594360"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2,532 followers</a:t>
            </a:r>
            <a:endParaRPr lang="en-US" sz="1200" dirty="0"/>
          </a:p>
        </p:txBody>
      </p:sp>
      <p:sp>
        <p:nvSpPr>
          <p:cNvPr id="12" name="Text 10"/>
          <p:cNvSpPr txBox="1"/>
          <p:nvPr/>
        </p:nvSpPr>
        <p:spPr>
          <a:xfrm>
            <a:off x="685800"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Individual videos reach 3M+ views</a:t>
            </a:r>
            <a:endParaRPr lang="en-US" sz="1100" dirty="0"/>
          </a:p>
        </p:txBody>
      </p:sp>
      <p:sp>
        <p:nvSpPr>
          <p:cNvPr id="13" name="Shape 11"/>
          <p:cNvSpPr/>
          <p:nvPr/>
        </p:nvSpPr>
        <p:spPr>
          <a:xfrm>
            <a:off x="4398264" y="1627632"/>
            <a:ext cx="3611880" cy="4919472"/>
          </a:xfrm>
          <a:prstGeom prst="rect">
            <a:avLst/>
          </a:prstGeom>
          <a:solidFill>
            <a:srgbClr val="F2FAF6"/>
          </a:solidFill>
          <a:ln w="9525">
            <a:solidFill>
              <a:srgbClr val="C2DDD0"/>
            </a:solidFill>
            <a:prstDash val="solid"/>
          </a:ln>
        </p:spPr>
      </p:sp>
      <p:sp>
        <p:nvSpPr>
          <p:cNvPr id="14" name="Shape 12"/>
          <p:cNvSpPr/>
          <p:nvPr/>
        </p:nvSpPr>
        <p:spPr>
          <a:xfrm>
            <a:off x="4398264" y="1627632"/>
            <a:ext cx="3611880" cy="109728"/>
          </a:xfrm>
          <a:prstGeom prst="rect">
            <a:avLst/>
          </a:prstGeom>
          <a:solidFill>
            <a:srgbClr val="1A6B3F"/>
          </a:solidFill>
          <a:ln w="12700">
            <a:solidFill>
              <a:srgbClr val="1A6B3F"/>
            </a:solidFill>
            <a:prstDash val="solid"/>
          </a:ln>
        </p:spPr>
      </p:sp>
      <p:sp>
        <p:nvSpPr>
          <p:cNvPr id="15" name="Text 13"/>
          <p:cNvSpPr txBox="1"/>
          <p:nvPr/>
        </p:nvSpPr>
        <p:spPr>
          <a:xfrm>
            <a:off x="4398264"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INSTAGRAM</a:t>
            </a:r>
            <a:endParaRPr lang="en-US" sz="900" dirty="0"/>
          </a:p>
        </p:txBody>
      </p:sp>
      <p:sp>
        <p:nvSpPr>
          <p:cNvPr id="16" name="Text 14"/>
          <p:cNvSpPr txBox="1"/>
          <p:nvPr/>
        </p:nvSpPr>
        <p:spPr>
          <a:xfrm>
            <a:off x="4398264"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4.1M</a:t>
            </a:r>
            <a:endParaRPr lang="en-US" sz="5400" dirty="0"/>
          </a:p>
        </p:txBody>
      </p:sp>
      <p:sp>
        <p:nvSpPr>
          <p:cNvPr id="17" name="Text 15"/>
          <p:cNvSpPr txBox="1"/>
          <p:nvPr/>
        </p:nvSpPr>
        <p:spPr>
          <a:xfrm>
            <a:off x="4398264"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Monthly Views</a:t>
            </a:r>
            <a:endParaRPr lang="en-US" sz="1300" dirty="0"/>
          </a:p>
        </p:txBody>
      </p:sp>
      <p:sp>
        <p:nvSpPr>
          <p:cNvPr id="18" name="Shape 16"/>
          <p:cNvSpPr/>
          <p:nvPr/>
        </p:nvSpPr>
        <p:spPr>
          <a:xfrm>
            <a:off x="5586984" y="3822192"/>
            <a:ext cx="1234440" cy="22860"/>
          </a:xfrm>
          <a:prstGeom prst="rect">
            <a:avLst/>
          </a:prstGeom>
          <a:solidFill>
            <a:srgbClr val="1A6B3F"/>
          </a:solidFill>
          <a:ln w="12700">
            <a:solidFill>
              <a:srgbClr val="1A6B3F"/>
            </a:solidFill>
            <a:prstDash val="solid"/>
          </a:ln>
        </p:spPr>
      </p:sp>
      <p:sp>
        <p:nvSpPr>
          <p:cNvPr id="19" name="Text 17"/>
          <p:cNvSpPr txBox="1"/>
          <p:nvPr/>
        </p:nvSpPr>
        <p:spPr>
          <a:xfrm>
            <a:off x="4489704"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8,848 followers · 309 posts</a:t>
            </a:r>
            <a:endParaRPr lang="en-US" sz="1200" dirty="0"/>
          </a:p>
        </p:txBody>
      </p:sp>
      <p:sp>
        <p:nvSpPr>
          <p:cNvPr id="20" name="Text 18"/>
          <p:cNvSpPr txBox="1"/>
          <p:nvPr/>
        </p:nvSpPr>
        <p:spPr>
          <a:xfrm>
            <a:off x="4581144"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97.9% views from non-followers</a:t>
            </a:r>
            <a:endParaRPr lang="en-US" sz="1100" dirty="0"/>
          </a:p>
        </p:txBody>
      </p:sp>
      <p:sp>
        <p:nvSpPr>
          <p:cNvPr id="21" name="Shape 19"/>
          <p:cNvSpPr/>
          <p:nvPr/>
        </p:nvSpPr>
        <p:spPr>
          <a:xfrm>
            <a:off x="8293608" y="1627632"/>
            <a:ext cx="3611880" cy="4919472"/>
          </a:xfrm>
          <a:prstGeom prst="rect">
            <a:avLst/>
          </a:prstGeom>
          <a:solidFill>
            <a:srgbClr val="F2FAF6"/>
          </a:solidFill>
          <a:ln w="9525">
            <a:solidFill>
              <a:srgbClr val="C2DDD0"/>
            </a:solidFill>
            <a:prstDash val="solid"/>
          </a:ln>
        </p:spPr>
      </p:sp>
      <p:sp>
        <p:nvSpPr>
          <p:cNvPr id="22" name="Shape 20"/>
          <p:cNvSpPr/>
          <p:nvPr/>
        </p:nvSpPr>
        <p:spPr>
          <a:xfrm>
            <a:off x="8293608" y="1627632"/>
            <a:ext cx="3611880" cy="109728"/>
          </a:xfrm>
          <a:prstGeom prst="rect">
            <a:avLst/>
          </a:prstGeom>
          <a:solidFill>
            <a:srgbClr val="1A6B3F"/>
          </a:solidFill>
          <a:ln w="12700">
            <a:solidFill>
              <a:srgbClr val="1A6B3F"/>
            </a:solidFill>
            <a:prstDash val="solid"/>
          </a:ln>
        </p:spPr>
      </p:sp>
      <p:sp>
        <p:nvSpPr>
          <p:cNvPr id="23" name="Text 21"/>
          <p:cNvSpPr txBox="1"/>
          <p:nvPr/>
        </p:nvSpPr>
        <p:spPr>
          <a:xfrm>
            <a:off x="8293608"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FACEBOOK</a:t>
            </a:r>
            <a:endParaRPr lang="en-US" sz="900" dirty="0"/>
          </a:p>
        </p:txBody>
      </p:sp>
      <p:sp>
        <p:nvSpPr>
          <p:cNvPr id="24" name="Text 22"/>
          <p:cNvSpPr txBox="1"/>
          <p:nvPr/>
        </p:nvSpPr>
        <p:spPr>
          <a:xfrm>
            <a:off x="8293608"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209</a:t>
            </a:r>
            <a:endParaRPr lang="en-US" sz="5400" dirty="0"/>
          </a:p>
        </p:txBody>
      </p:sp>
      <p:sp>
        <p:nvSpPr>
          <p:cNvPr id="25" name="Text 23"/>
          <p:cNvSpPr txBox="1"/>
          <p:nvPr/>
        </p:nvSpPr>
        <p:spPr>
          <a:xfrm>
            <a:off x="8293608"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Followers</a:t>
            </a:r>
            <a:endParaRPr lang="en-US" sz="1300" dirty="0"/>
          </a:p>
        </p:txBody>
      </p:sp>
      <p:sp>
        <p:nvSpPr>
          <p:cNvPr id="26" name="Shape 24"/>
          <p:cNvSpPr/>
          <p:nvPr/>
        </p:nvSpPr>
        <p:spPr>
          <a:xfrm>
            <a:off x="9482328" y="3822192"/>
            <a:ext cx="1234440" cy="22860"/>
          </a:xfrm>
          <a:prstGeom prst="rect">
            <a:avLst/>
          </a:prstGeom>
          <a:solidFill>
            <a:srgbClr val="1A6B3F"/>
          </a:solidFill>
          <a:ln w="12700">
            <a:solidFill>
              <a:srgbClr val="1A6B3F"/>
            </a:solidFill>
            <a:prstDash val="solid"/>
          </a:ln>
        </p:spPr>
      </p:sp>
      <p:sp>
        <p:nvSpPr>
          <p:cNvPr id="27" name="Text 25"/>
          <p:cNvSpPr txBox="1"/>
          <p:nvPr/>
        </p:nvSpPr>
        <p:spPr>
          <a:xfrm>
            <a:off x="8385048"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Growing audience</a:t>
            </a:r>
            <a:endParaRPr lang="en-US" sz="1200" dirty="0"/>
          </a:p>
        </p:txBody>
      </p:sp>
      <p:sp>
        <p:nvSpPr>
          <p:cNvPr id="28" name="Text 26"/>
          <p:cNvSpPr txBox="1"/>
          <p:nvPr/>
        </p:nvSpPr>
        <p:spPr>
          <a:xfrm>
            <a:off x="8476488"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Linked to IG presence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394960" cy="6858000"/>
          </a:xfrm>
          <a:prstGeom prst="rect">
            <a:avLst/>
          </a:prstGeom>
          <a:solidFill>
            <a:srgbClr val="054126"/>
          </a:solidFill>
          <a:ln w="12700">
            <a:solidFill>
              <a:srgbClr val="054126"/>
            </a:solidFill>
            <a:prstDash val="solid"/>
          </a:ln>
        </p:spPr>
      </p:sp>
      <p:sp>
        <p:nvSpPr>
          <p:cNvPr id="3" name="Shape 1"/>
          <p:cNvSpPr/>
          <p:nvPr/>
        </p:nvSpPr>
        <p:spPr>
          <a:xfrm>
            <a:off x="0" y="0"/>
            <a:ext cx="5394960" cy="228600"/>
          </a:xfrm>
          <a:prstGeom prst="rect">
            <a:avLst/>
          </a:prstGeom>
          <a:solidFill>
            <a:srgbClr val="1A6B3F"/>
          </a:solidFill>
          <a:ln w="12700">
            <a:solidFill>
              <a:srgbClr val="1A6B3F"/>
            </a:solidFill>
            <a:prstDash val="solid"/>
          </a:ln>
        </p:spPr>
      </p:sp>
      <p:sp>
        <p:nvSpPr>
          <p:cNvPr id="4" name="Shape 2"/>
          <p:cNvSpPr/>
          <p:nvPr/>
        </p:nvSpPr>
        <p:spPr>
          <a:xfrm>
            <a:off x="1645920" y="384048"/>
            <a:ext cx="2103120" cy="2103120"/>
          </a:xfrm>
          <a:prstGeom prst="ellipse">
            <a:avLst/>
          </a:prstGeom>
          <a:solidFill>
            <a:srgbClr val="1A6B3F">
              <a:alpha val="45000"/>
            </a:srgbClr>
          </a:solidFill>
          <a:ln w="19050">
            <a:solidFill>
              <a:srgbClr val="1A6B3F">
                <a:alpha val="75000"/>
              </a:srgbClr>
            </a:solidFill>
            <a:prstDash val="solid"/>
          </a:ln>
        </p:spPr>
      </p:sp>
      <p:pic>
        <p:nvPicPr>
          <p:cNvPr id="5" name="Image 0" descr="C:\Users\richa\Documents\Claude Projects\SRB Media Kit\assets\steph-profile.jpg">    </p:cNvPr>
          <p:cNvPicPr>
            <a:picLocks noChangeAspect="1"/>
          </p:cNvPicPr>
          <p:nvPr/>
        </p:nvPicPr>
        <p:blipFill>
          <a:blip r:embed="rId1"/>
          <a:stretch>
            <a:fillRect/>
          </a:stretch>
        </p:blipFill>
        <p:spPr>
          <a:xfrm>
            <a:off x="1755648" y="493776"/>
            <a:ext cx="1883664" cy="1883664"/>
          </a:xfrm>
          <a:prstGeom prst="ellipse">
            <a:avLst/>
          </a:prstGeom>
        </p:spPr>
      </p:pic>
      <p:sp>
        <p:nvSpPr>
          <p:cNvPr id="6" name="Text 3"/>
          <p:cNvSpPr txBox="1"/>
          <p:nvPr/>
        </p:nvSpPr>
        <p:spPr>
          <a:xfrm>
            <a:off x="548640" y="2606040"/>
            <a:ext cx="4389120" cy="256032"/>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ABOUT &amp; CREDENTIALS</a:t>
            </a:r>
            <a:endParaRPr lang="en-US" sz="900" dirty="0"/>
          </a:p>
        </p:txBody>
      </p:sp>
      <p:sp>
        <p:nvSpPr>
          <p:cNvPr id="7" name="Text 4"/>
          <p:cNvSpPr txBox="1"/>
          <p:nvPr/>
        </p:nvSpPr>
        <p:spPr>
          <a:xfrm>
            <a:off x="548640" y="2907792"/>
            <a:ext cx="4389120" cy="77724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Steph Brashear</a:t>
            </a:r>
            <a:endParaRPr lang="en-US" sz="3600" dirty="0"/>
          </a:p>
        </p:txBody>
      </p:sp>
      <p:sp>
        <p:nvSpPr>
          <p:cNvPr id="8" name="Text 5"/>
          <p:cNvSpPr txBox="1"/>
          <p:nvPr/>
        </p:nvSpPr>
        <p:spPr>
          <a:xfrm>
            <a:off x="548640" y="3730752"/>
            <a:ext cx="4389120" cy="274320"/>
          </a:xfrm>
          <a:prstGeom prst="rect">
            <a:avLst/>
          </a:prstGeom>
          <a:noFill/>
          <a:ln/>
        </p:spPr>
        <p:txBody>
          <a:bodyPr wrap="square" lIns="0" tIns="0" rIns="0" bIns="0" rtlCol="0" anchor="ctr"/>
          <a:lstStyle/>
          <a:p>
            <a:pPr indent="0" marL="0">
              <a:buNone/>
            </a:pPr>
            <a:r>
              <a:rPr lang="en-US" sz="1200" dirty="0">
                <a:solidFill>
                  <a:srgbClr val="6AAF86"/>
                </a:solidFill>
                <a:latin typeface="Calibri" pitchFamily="34" charset="0"/>
                <a:ea typeface="Calibri" pitchFamily="34" charset="-122"/>
                <a:cs typeface="Calibri" pitchFamily="34" charset="-120"/>
              </a:rPr>
              <a:t>@steph.goes.with.that</a:t>
            </a:r>
            <a:endParaRPr lang="en-US" sz="1200" dirty="0"/>
          </a:p>
        </p:txBody>
      </p:sp>
      <p:sp>
        <p:nvSpPr>
          <p:cNvPr id="9" name="Text 6"/>
          <p:cNvSpPr txBox="1"/>
          <p:nvPr/>
        </p:nvSpPr>
        <p:spPr>
          <a:xfrm>
            <a:off x="548640" y="4133088"/>
            <a:ext cx="4297680" cy="1508760"/>
          </a:xfrm>
          <a:prstGeom prst="rect">
            <a:avLst/>
          </a:prstGeom>
          <a:noFill/>
          <a:ln/>
        </p:spPr>
        <p:txBody>
          <a:bodyPr wrap="square" lIns="0" tIns="0" rIns="0" bIns="0" rtlCol="0" anchor="ctr"/>
          <a:lstStyle/>
          <a:p>
            <a:pPr indent="0" marL="0">
              <a:buNone/>
            </a:pPr>
            <a:r>
              <a:rPr lang="en-US" sz="1300" i="1" dirty="0">
                <a:solidFill>
                  <a:srgbClr val="8AAE96"/>
                </a:solidFill>
                <a:latin typeface="Cambria" pitchFamily="34" charset="0"/>
                <a:ea typeface="Cambria" pitchFamily="34" charset="-122"/>
                <a:cs typeface="Cambria" pitchFamily="34" charset="-120"/>
              </a:rPr>
              <a:t>"A popular mental health creator and EMDR consultant known for sharing relatable insights on therapy and emotional healing."</a:t>
            </a:r>
            <a:endParaRPr lang="en-US" sz="1300" dirty="0"/>
          </a:p>
        </p:txBody>
      </p:sp>
      <p:sp>
        <p:nvSpPr>
          <p:cNvPr id="10" name="Text 7"/>
          <p:cNvSpPr txBox="1"/>
          <p:nvPr/>
        </p:nvSpPr>
        <p:spPr>
          <a:xfrm>
            <a:off x="548640" y="5687568"/>
            <a:ext cx="4389120" cy="256032"/>
          </a:xfrm>
          <a:prstGeom prst="rect">
            <a:avLst/>
          </a:prstGeom>
          <a:noFill/>
          <a:ln/>
        </p:spPr>
        <p:txBody>
          <a:bodyPr wrap="square" lIns="0" tIns="0" rIns="0" bIns="0" rtlCol="0" anchor="ctr"/>
          <a:lstStyle/>
          <a:p>
            <a:pPr indent="0" marL="0">
              <a:buNone/>
            </a:pPr>
            <a:r>
              <a:rPr lang="en-US" sz="1000" dirty="0">
                <a:solidFill>
                  <a:srgbClr val="8A9BAE"/>
                </a:solidFill>
                <a:latin typeface="Calibri" pitchFamily="34" charset="0"/>
                <a:ea typeface="Calibri" pitchFamily="34" charset="-122"/>
                <a:cs typeface="Calibri" pitchFamily="34" charset="-120"/>
              </a:rPr>
              <a:t>- Google AI Overview</a:t>
            </a:r>
            <a:endParaRPr lang="en-US" sz="1000" dirty="0"/>
          </a:p>
        </p:txBody>
      </p:sp>
      <p:sp>
        <p:nvSpPr>
          <p:cNvPr id="11" name="Text 8"/>
          <p:cNvSpPr txBox="1"/>
          <p:nvPr/>
        </p:nvSpPr>
        <p:spPr>
          <a:xfrm>
            <a:off x="5852160" y="685800"/>
            <a:ext cx="5806440" cy="731520"/>
          </a:xfrm>
          <a:prstGeom prst="rect">
            <a:avLst/>
          </a:prstGeom>
          <a:noFill/>
          <a:ln/>
        </p:spPr>
        <p:txBody>
          <a:bodyPr wrap="square" lIns="0" tIns="0" rIns="0" bIns="0" rtlCol="0" anchor="ctr"/>
          <a:lstStyle/>
          <a:p>
            <a:pPr indent="0" marL="0">
              <a:buNone/>
            </a:pPr>
            <a:r>
              <a:rPr lang="en-US" sz="1800" b="1" dirty="0">
                <a:solidFill>
                  <a:srgbClr val="054126"/>
                </a:solidFill>
                <a:latin typeface="Cambria" pitchFamily="34" charset="0"/>
                <a:ea typeface="Cambria" pitchFamily="34" charset="-122"/>
                <a:cs typeface="Cambria" pitchFamily="34" charset="-120"/>
              </a:rPr>
              <a:t>Licensed EMDR Therapist &amp; EMDRIA Approved Consultant</a:t>
            </a:r>
            <a:endParaRPr lang="en-US" sz="1800" dirty="0"/>
          </a:p>
        </p:txBody>
      </p:sp>
      <p:sp>
        <p:nvSpPr>
          <p:cNvPr id="12" name="Text 9"/>
          <p:cNvSpPr txBox="1"/>
          <p:nvPr/>
        </p:nvSpPr>
        <p:spPr>
          <a:xfrm>
            <a:off x="5852160" y="1536192"/>
            <a:ext cx="5806440" cy="3246120"/>
          </a:xfrm>
          <a:prstGeom prst="rect">
            <a:avLst/>
          </a:prstGeom>
          <a:noFill/>
          <a:ln/>
        </p:spPr>
        <p:txBody>
          <a:bodyPr wrap="square" lIns="0" tIns="0" rIns="0" bIns="0" rtlCol="0" anchor="ctr"/>
          <a:lstStyle/>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Stephanie Brashear is a licensed EMDR therapist, EMDRIA Approved Consultant, and based on the comment sections everyone's parasocial therapist. She talks about trauma, EMDR, and the messier parts of healing the way someone talks when they've actually sat with it.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Her audience doesn't just watch. They screenshot, save, and DM her videos to their own therapist. That kind of trust doesn't come from a content calendar it comes from credibility. But we don't have to get into all of that.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Half her followers are therapists making active decisions about practice tools. The other half are clients who influence those decisions. You mean therapy comes with accountability to the product stack? One channel, both sides of the sale.</a:t>
            </a:r>
            <a:endParaRPr lang="en-US" sz="1300" dirty="0"/>
          </a:p>
        </p:txBody>
      </p:sp>
      <p:sp>
        <p:nvSpPr>
          <p:cNvPr id="13" name="Shape 10"/>
          <p:cNvSpPr/>
          <p:nvPr/>
        </p:nvSpPr>
        <p:spPr>
          <a:xfrm>
            <a:off x="5852160" y="4937760"/>
            <a:ext cx="2532888" cy="329184"/>
          </a:xfrm>
          <a:prstGeom prst="rect">
            <a:avLst/>
          </a:prstGeom>
          <a:solidFill>
            <a:srgbClr val="EBF5EF"/>
          </a:solidFill>
          <a:ln w="9525">
            <a:solidFill>
              <a:srgbClr val="C2DDD0"/>
            </a:solidFill>
            <a:prstDash val="solid"/>
          </a:ln>
        </p:spPr>
      </p:sp>
      <p:sp>
        <p:nvSpPr>
          <p:cNvPr id="14" name="Text 11"/>
          <p:cNvSpPr txBox="1"/>
          <p:nvPr/>
        </p:nvSpPr>
        <p:spPr>
          <a:xfrm>
            <a:off x="5852160" y="4937760"/>
            <a:ext cx="253288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EMDRIA Approved Consultant</a:t>
            </a:r>
            <a:endParaRPr lang="en-US" sz="1050" dirty="0"/>
          </a:p>
        </p:txBody>
      </p:sp>
      <p:sp>
        <p:nvSpPr>
          <p:cNvPr id="15" name="Shape 12"/>
          <p:cNvSpPr/>
          <p:nvPr/>
        </p:nvSpPr>
        <p:spPr>
          <a:xfrm>
            <a:off x="8513064" y="4937760"/>
            <a:ext cx="2098548" cy="329184"/>
          </a:xfrm>
          <a:prstGeom prst="rect">
            <a:avLst/>
          </a:prstGeom>
          <a:solidFill>
            <a:srgbClr val="EBF5EF"/>
          </a:solidFill>
          <a:ln w="9525">
            <a:solidFill>
              <a:srgbClr val="C2DDD0"/>
            </a:solidFill>
            <a:prstDash val="solid"/>
          </a:ln>
        </p:spPr>
      </p:sp>
      <p:sp>
        <p:nvSpPr>
          <p:cNvPr id="16" name="Text 13"/>
          <p:cNvSpPr txBox="1"/>
          <p:nvPr/>
        </p:nvSpPr>
        <p:spPr>
          <a:xfrm>
            <a:off x="8513064" y="4937760"/>
            <a:ext cx="209854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Licensed RI · SC · OH</a:t>
            </a:r>
            <a:endParaRPr lang="en-US" sz="1050" dirty="0"/>
          </a:p>
        </p:txBody>
      </p:sp>
      <p:sp>
        <p:nvSpPr>
          <p:cNvPr id="17" name="Shape 14"/>
          <p:cNvSpPr/>
          <p:nvPr/>
        </p:nvSpPr>
        <p:spPr>
          <a:xfrm>
            <a:off x="5852160" y="5394960"/>
            <a:ext cx="1664208" cy="329184"/>
          </a:xfrm>
          <a:prstGeom prst="rect">
            <a:avLst/>
          </a:prstGeom>
          <a:solidFill>
            <a:srgbClr val="EBF5EF"/>
          </a:solidFill>
          <a:ln w="9525">
            <a:solidFill>
              <a:srgbClr val="C2DDD0"/>
            </a:solidFill>
            <a:prstDash val="solid"/>
          </a:ln>
        </p:spPr>
      </p:sp>
      <p:sp>
        <p:nvSpPr>
          <p:cNvPr id="18" name="Text 15"/>
          <p:cNvSpPr txBox="1"/>
          <p:nvPr/>
        </p:nvSpPr>
        <p:spPr>
          <a:xfrm>
            <a:off x="5852160"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CPTSD Specialist</a:t>
            </a:r>
            <a:endParaRPr lang="en-US" sz="1050" dirty="0"/>
          </a:p>
        </p:txBody>
      </p:sp>
      <p:sp>
        <p:nvSpPr>
          <p:cNvPr id="19" name="Shape 16"/>
          <p:cNvSpPr/>
          <p:nvPr/>
        </p:nvSpPr>
        <p:spPr>
          <a:xfrm>
            <a:off x="7644384" y="5394960"/>
            <a:ext cx="1664208" cy="329184"/>
          </a:xfrm>
          <a:prstGeom prst="rect">
            <a:avLst/>
          </a:prstGeom>
          <a:solidFill>
            <a:srgbClr val="EBF5EF"/>
          </a:solidFill>
          <a:ln w="9525">
            <a:solidFill>
              <a:srgbClr val="C2DDD0"/>
            </a:solidFill>
            <a:prstDash val="solid"/>
          </a:ln>
        </p:spPr>
      </p:sp>
      <p:sp>
        <p:nvSpPr>
          <p:cNvPr id="20" name="Text 17"/>
          <p:cNvSpPr txBox="1"/>
          <p:nvPr/>
        </p:nvSpPr>
        <p:spPr>
          <a:xfrm>
            <a:off x="7644384"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Religious Trauma</a:t>
            </a:r>
            <a:endParaRPr lang="en-US" sz="1050" dirty="0"/>
          </a:p>
        </p:txBody>
      </p:sp>
      <p:sp>
        <p:nvSpPr>
          <p:cNvPr id="21" name="Shape 18"/>
          <p:cNvSpPr/>
          <p:nvPr/>
        </p:nvSpPr>
        <p:spPr>
          <a:xfrm>
            <a:off x="9436608" y="5394960"/>
            <a:ext cx="1664208" cy="329184"/>
          </a:xfrm>
          <a:prstGeom prst="rect">
            <a:avLst/>
          </a:prstGeom>
          <a:solidFill>
            <a:srgbClr val="EBF5EF"/>
          </a:solidFill>
          <a:ln w="9525">
            <a:solidFill>
              <a:srgbClr val="C2DDD0"/>
            </a:solidFill>
            <a:prstDash val="solid"/>
          </a:ln>
        </p:spPr>
      </p:sp>
      <p:sp>
        <p:nvSpPr>
          <p:cNvPr id="22" name="Text 19"/>
          <p:cNvSpPr txBox="1"/>
          <p:nvPr/>
        </p:nvSpPr>
        <p:spPr>
          <a:xfrm>
            <a:off x="9436608"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IFS Practitioner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AF6"/>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SAMPLE CONTENT</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Content in Action</a:t>
            </a:r>
            <a:endParaRPr lang="en-US" sz="3000" dirty="0"/>
          </a:p>
        </p:txBody>
      </p:sp>
      <p:sp>
        <p:nvSpPr>
          <p:cNvPr id="5" name="Text 3"/>
          <p:cNvSpPr txBox="1"/>
          <p:nvPr/>
        </p:nvSpPr>
        <p:spPr>
          <a:xfrm>
            <a:off x="502920"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6" name="Shape 4"/>
          <p:cNvSpPr/>
          <p:nvPr/>
        </p:nvSpPr>
        <p:spPr>
          <a:xfrm>
            <a:off x="640080" y="1874520"/>
            <a:ext cx="3337560" cy="4023360"/>
          </a:xfrm>
          <a:prstGeom prst="rect">
            <a:avLst/>
          </a:prstGeom>
          <a:solidFill>
            <a:srgbClr val="054126"/>
          </a:solidFill>
          <a:ln w="12700">
            <a:solidFill>
              <a:srgbClr val="054126"/>
            </a:solidFill>
            <a:prstDash val="solid"/>
          </a:ln>
        </p:spPr>
      </p:sp>
      <p:pic>
        <p:nvPicPr>
          <p:cNvPr id="7" name="Image 0" descr="C:\Users\richa\Documents\Claude Projects\SRB Media Kit\assets\analytics-screenshots\img-06.jpg">    </p:cNvPr>
          <p:cNvPicPr>
            <a:picLocks noChangeAspect="1"/>
          </p:cNvPicPr>
          <p:nvPr/>
        </p:nvPicPr>
        <p:blipFill>
          <a:blip r:embed="rId1"/>
          <a:stretch>
            <a:fillRect/>
          </a:stretch>
        </p:blipFill>
        <p:spPr>
          <a:xfrm>
            <a:off x="1165860" y="1965960"/>
            <a:ext cx="2286000" cy="3840480"/>
          </a:xfrm>
          <a:prstGeom prst="rect">
            <a:avLst/>
          </a:prstGeom>
        </p:spPr>
      </p:pic>
      <p:sp>
        <p:nvSpPr>
          <p:cNvPr id="8" name="Shape 5"/>
          <p:cNvSpPr/>
          <p:nvPr/>
        </p:nvSpPr>
        <p:spPr>
          <a:xfrm>
            <a:off x="640080" y="5458968"/>
            <a:ext cx="3337560" cy="329184"/>
          </a:xfrm>
          <a:prstGeom prst="rect">
            <a:avLst/>
          </a:prstGeom>
          <a:solidFill>
            <a:srgbClr val="054126">
              <a:alpha val="85000"/>
            </a:srgbClr>
          </a:solidFill>
          <a:ln w="12700">
            <a:solidFill>
              <a:srgbClr val="054126">
                <a:alpha val="85000"/>
              </a:srgbClr>
            </a:solidFill>
            <a:prstDash val="solid"/>
          </a:ln>
        </p:spPr>
      </p:sp>
      <p:sp>
        <p:nvSpPr>
          <p:cNvPr id="9" name="Text 6"/>
          <p:cNvSpPr txBox="1"/>
          <p:nvPr/>
        </p:nvSpPr>
        <p:spPr>
          <a:xfrm>
            <a:off x="640080"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Videos reach 3M+ views</a:t>
            </a:r>
            <a:endParaRPr lang="en-US" sz="1100" dirty="0"/>
          </a:p>
        </p:txBody>
      </p:sp>
      <p:sp>
        <p:nvSpPr>
          <p:cNvPr id="10" name="Text 7"/>
          <p:cNvSpPr txBox="1"/>
          <p:nvPr/>
        </p:nvSpPr>
        <p:spPr>
          <a:xfrm>
            <a:off x="502920"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TikTok content viral reach across therapy &amp; EMDR topics</a:t>
            </a:r>
            <a:endParaRPr lang="en-US" sz="1050" dirty="0"/>
          </a:p>
        </p:txBody>
      </p:sp>
      <p:sp>
        <p:nvSpPr>
          <p:cNvPr id="11" name="Text 8"/>
          <p:cNvSpPr txBox="1"/>
          <p:nvPr/>
        </p:nvSpPr>
        <p:spPr>
          <a:xfrm>
            <a:off x="4398264"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TOP REELS</a:t>
            </a:r>
            <a:endParaRPr lang="en-US" sz="900" dirty="0"/>
          </a:p>
        </p:txBody>
      </p:sp>
      <p:sp>
        <p:nvSpPr>
          <p:cNvPr id="12" name="Shape 9"/>
          <p:cNvSpPr/>
          <p:nvPr/>
        </p:nvSpPr>
        <p:spPr>
          <a:xfrm>
            <a:off x="4535424" y="1874520"/>
            <a:ext cx="3337560" cy="4023360"/>
          </a:xfrm>
          <a:prstGeom prst="rect">
            <a:avLst/>
          </a:prstGeom>
          <a:solidFill>
            <a:srgbClr val="054126"/>
          </a:solidFill>
          <a:ln w="12700">
            <a:solidFill>
              <a:srgbClr val="054126"/>
            </a:solidFill>
            <a:prstDash val="solid"/>
          </a:ln>
        </p:spPr>
      </p:sp>
      <p:pic>
        <p:nvPicPr>
          <p:cNvPr id="13" name="Image 1" descr="C:\Users\richa\Documents\Claude Projects\SRB Media Kit\assets\analytics-screenshots\img-13.jpg">    </p:cNvPr>
          <p:cNvPicPr>
            <a:picLocks noChangeAspect="1"/>
          </p:cNvPicPr>
          <p:nvPr/>
        </p:nvPicPr>
        <p:blipFill>
          <a:blip r:embed="rId2"/>
          <a:stretch>
            <a:fillRect/>
          </a:stretch>
        </p:blipFill>
        <p:spPr>
          <a:xfrm>
            <a:off x="5061204" y="1965960"/>
            <a:ext cx="2286000" cy="3840480"/>
          </a:xfrm>
          <a:prstGeom prst="rect">
            <a:avLst/>
          </a:prstGeom>
        </p:spPr>
      </p:pic>
      <p:sp>
        <p:nvSpPr>
          <p:cNvPr id="14" name="Shape 10"/>
          <p:cNvSpPr/>
          <p:nvPr/>
        </p:nvSpPr>
        <p:spPr>
          <a:xfrm>
            <a:off x="4535424" y="5458968"/>
            <a:ext cx="3337560" cy="329184"/>
          </a:xfrm>
          <a:prstGeom prst="rect">
            <a:avLst/>
          </a:prstGeom>
          <a:solidFill>
            <a:srgbClr val="054126">
              <a:alpha val="85000"/>
            </a:srgbClr>
          </a:solidFill>
          <a:ln w="12700">
            <a:solidFill>
              <a:srgbClr val="054126">
                <a:alpha val="85000"/>
              </a:srgbClr>
            </a:solidFill>
            <a:prstDash val="solid"/>
          </a:ln>
        </p:spPr>
      </p:sp>
      <p:sp>
        <p:nvSpPr>
          <p:cNvPr id="15" name="Text 11"/>
          <p:cNvSpPr txBox="1"/>
          <p:nvPr/>
        </p:nvSpPr>
        <p:spPr>
          <a:xfrm>
            <a:off x="4535424"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802K top reel · 4.1M/month</a:t>
            </a:r>
            <a:endParaRPr lang="en-US" sz="1100" dirty="0"/>
          </a:p>
        </p:txBody>
      </p:sp>
      <p:sp>
        <p:nvSpPr>
          <p:cNvPr id="16" name="Text 12"/>
          <p:cNvSpPr txBox="1"/>
          <p:nvPr/>
        </p:nvSpPr>
        <p:spPr>
          <a:xfrm>
            <a:off x="4398264"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Last 30 days: 9 videos above 100K views</a:t>
            </a:r>
            <a:endParaRPr lang="en-US" sz="1050" dirty="0"/>
          </a:p>
        </p:txBody>
      </p:sp>
      <p:sp>
        <p:nvSpPr>
          <p:cNvPr id="17" name="Text 13"/>
          <p:cNvSpPr txBox="1"/>
          <p:nvPr/>
        </p:nvSpPr>
        <p:spPr>
          <a:xfrm>
            <a:off x="8293608"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SAVES</a:t>
            </a:r>
            <a:endParaRPr lang="en-US" sz="900" dirty="0"/>
          </a:p>
        </p:txBody>
      </p:sp>
      <p:sp>
        <p:nvSpPr>
          <p:cNvPr id="18" name="Shape 14"/>
          <p:cNvSpPr/>
          <p:nvPr/>
        </p:nvSpPr>
        <p:spPr>
          <a:xfrm>
            <a:off x="8430768" y="1874520"/>
            <a:ext cx="3337560" cy="4023360"/>
          </a:xfrm>
          <a:prstGeom prst="rect">
            <a:avLst/>
          </a:prstGeom>
          <a:solidFill>
            <a:srgbClr val="054126"/>
          </a:solidFill>
          <a:ln w="12700">
            <a:solidFill>
              <a:srgbClr val="054126"/>
            </a:solidFill>
            <a:prstDash val="solid"/>
          </a:ln>
        </p:spPr>
      </p:sp>
      <p:pic>
        <p:nvPicPr>
          <p:cNvPr id="19" name="Image 2" descr="C:\Users\richa\Documents\Claude Projects\SRB Media Kit\assets\analytics-screenshots\img-15.jpg">    </p:cNvPr>
          <p:cNvPicPr>
            <a:picLocks noChangeAspect="1"/>
          </p:cNvPicPr>
          <p:nvPr/>
        </p:nvPicPr>
        <p:blipFill>
          <a:blip r:embed="rId3"/>
          <a:stretch>
            <a:fillRect/>
          </a:stretch>
        </p:blipFill>
        <p:spPr>
          <a:xfrm>
            <a:off x="8956548" y="1965960"/>
            <a:ext cx="2286000" cy="3840480"/>
          </a:xfrm>
          <a:prstGeom prst="rect">
            <a:avLst/>
          </a:prstGeom>
        </p:spPr>
      </p:pic>
      <p:sp>
        <p:nvSpPr>
          <p:cNvPr id="20" name="Shape 15"/>
          <p:cNvSpPr/>
          <p:nvPr/>
        </p:nvSpPr>
        <p:spPr>
          <a:xfrm>
            <a:off x="8430768" y="5458968"/>
            <a:ext cx="3337560" cy="329184"/>
          </a:xfrm>
          <a:prstGeom prst="rect">
            <a:avLst/>
          </a:prstGeom>
          <a:solidFill>
            <a:srgbClr val="054126">
              <a:alpha val="85000"/>
            </a:srgbClr>
          </a:solidFill>
          <a:ln w="12700">
            <a:solidFill>
              <a:srgbClr val="054126">
                <a:alpha val="85000"/>
              </a:srgbClr>
            </a:solidFill>
            <a:prstDash val="solid"/>
          </a:ln>
        </p:spPr>
      </p:sp>
      <p:sp>
        <p:nvSpPr>
          <p:cNvPr id="21" name="Text 16"/>
          <p:cNvSpPr txBox="1"/>
          <p:nvPr/>
        </p:nvSpPr>
        <p:spPr>
          <a:xfrm>
            <a:off x="8430768"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1.2K saves on top post</a:t>
            </a:r>
            <a:endParaRPr lang="en-US" sz="1100" dirty="0"/>
          </a:p>
        </p:txBody>
      </p:sp>
      <p:sp>
        <p:nvSpPr>
          <p:cNvPr id="22" name="Text 17"/>
          <p:cNvSpPr txBox="1"/>
          <p:nvPr/>
        </p:nvSpPr>
        <p:spPr>
          <a:xfrm>
            <a:off x="8293608"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High-save content = clinicians bookmarking for practice use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CONTENT FOCUS</a:t>
            </a:r>
            <a:endParaRPr lang="en-US" sz="900" dirty="0"/>
          </a:p>
        </p:txBody>
      </p:sp>
      <p:sp>
        <p:nvSpPr>
          <p:cNvPr id="3" name="Text 1"/>
          <p:cNvSpPr txBox="1"/>
          <p:nvPr/>
        </p:nvSpPr>
        <p:spPr>
          <a:xfrm>
            <a:off x="640080" y="886968"/>
            <a:ext cx="9144000" cy="621792"/>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What Her Audience Comes For</a:t>
            </a:r>
            <a:endParaRPr lang="en-US" sz="3200" dirty="0"/>
          </a:p>
        </p:txBody>
      </p:sp>
      <p:sp>
        <p:nvSpPr>
          <p:cNvPr id="4" name="Shape 2"/>
          <p:cNvSpPr/>
          <p:nvPr/>
        </p:nvSpPr>
        <p:spPr>
          <a:xfrm>
            <a:off x="502920" y="1828800"/>
            <a:ext cx="3611880" cy="2057400"/>
          </a:xfrm>
          <a:prstGeom prst="rect">
            <a:avLst/>
          </a:prstGeom>
          <a:solidFill>
            <a:srgbClr val="FFFFFF"/>
          </a:solidFill>
          <a:ln w="9525">
            <a:solidFill>
              <a:srgbClr val="C2DDD0"/>
            </a:solidFill>
            <a:prstDash val="solid"/>
          </a:ln>
        </p:spPr>
      </p:sp>
      <p:sp>
        <p:nvSpPr>
          <p:cNvPr id="5" name="Shape 3"/>
          <p:cNvSpPr/>
          <p:nvPr/>
        </p:nvSpPr>
        <p:spPr>
          <a:xfrm>
            <a:off x="502920" y="1828800"/>
            <a:ext cx="3611880" cy="91440"/>
          </a:xfrm>
          <a:prstGeom prst="rect">
            <a:avLst/>
          </a:prstGeom>
          <a:solidFill>
            <a:srgbClr val="1A6B3F"/>
          </a:solidFill>
          <a:ln w="12700">
            <a:solidFill>
              <a:srgbClr val="1A6B3F"/>
            </a:solidFill>
            <a:prstDash val="solid"/>
          </a:ln>
        </p:spPr>
      </p:sp>
      <p:sp>
        <p:nvSpPr>
          <p:cNvPr id="6" name="Text 4"/>
          <p:cNvSpPr txBox="1"/>
          <p:nvPr/>
        </p:nvSpPr>
        <p:spPr>
          <a:xfrm>
            <a:off x="667512"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EMDR Therapy</a:t>
            </a:r>
            <a:endParaRPr lang="en-US" sz="1300" dirty="0"/>
          </a:p>
        </p:txBody>
      </p:sp>
      <p:sp>
        <p:nvSpPr>
          <p:cNvPr id="7" name="Text 5"/>
          <p:cNvSpPr txBox="1"/>
          <p:nvPr/>
        </p:nvSpPr>
        <p:spPr>
          <a:xfrm>
            <a:off x="667512"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Eye Movement Desensitization &amp; Reprocessing science and lived experience for clients AND clinicians</a:t>
            </a:r>
            <a:endParaRPr lang="en-US" sz="1150" dirty="0"/>
          </a:p>
        </p:txBody>
      </p:sp>
      <p:sp>
        <p:nvSpPr>
          <p:cNvPr id="8" name="Shape 6"/>
          <p:cNvSpPr/>
          <p:nvPr/>
        </p:nvSpPr>
        <p:spPr>
          <a:xfrm>
            <a:off x="4398264" y="1828800"/>
            <a:ext cx="3611880" cy="2057400"/>
          </a:xfrm>
          <a:prstGeom prst="rect">
            <a:avLst/>
          </a:prstGeom>
          <a:solidFill>
            <a:srgbClr val="FFFFFF"/>
          </a:solidFill>
          <a:ln w="9525">
            <a:solidFill>
              <a:srgbClr val="C2DDD0"/>
            </a:solidFill>
            <a:prstDash val="solid"/>
          </a:ln>
        </p:spPr>
      </p:sp>
      <p:sp>
        <p:nvSpPr>
          <p:cNvPr id="9" name="Shape 7"/>
          <p:cNvSpPr/>
          <p:nvPr/>
        </p:nvSpPr>
        <p:spPr>
          <a:xfrm>
            <a:off x="4398264" y="1828800"/>
            <a:ext cx="3611880" cy="91440"/>
          </a:xfrm>
          <a:prstGeom prst="rect">
            <a:avLst/>
          </a:prstGeom>
          <a:solidFill>
            <a:srgbClr val="1A6B3F"/>
          </a:solidFill>
          <a:ln w="12700">
            <a:solidFill>
              <a:srgbClr val="1A6B3F"/>
            </a:solidFill>
            <a:prstDash val="solid"/>
          </a:ln>
        </p:spPr>
      </p:sp>
      <p:sp>
        <p:nvSpPr>
          <p:cNvPr id="10" name="Text 8"/>
          <p:cNvSpPr txBox="1"/>
          <p:nvPr/>
        </p:nvSpPr>
        <p:spPr>
          <a:xfrm>
            <a:off x="4562856"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IFS Internal Family Systems</a:t>
            </a:r>
            <a:endParaRPr lang="en-US" sz="1300" dirty="0"/>
          </a:p>
        </p:txBody>
      </p:sp>
      <p:sp>
        <p:nvSpPr>
          <p:cNvPr id="11" name="Text 9"/>
          <p:cNvSpPr txBox="1"/>
          <p:nvPr/>
        </p:nvSpPr>
        <p:spPr>
          <a:xfrm>
            <a:off x="4562856"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Parts work and self-leadership explained in a way therapy clients and trainees actually understand</a:t>
            </a:r>
            <a:endParaRPr lang="en-US" sz="1150" dirty="0"/>
          </a:p>
        </p:txBody>
      </p:sp>
      <p:sp>
        <p:nvSpPr>
          <p:cNvPr id="12" name="Shape 10"/>
          <p:cNvSpPr/>
          <p:nvPr/>
        </p:nvSpPr>
        <p:spPr>
          <a:xfrm>
            <a:off x="8293608" y="1828800"/>
            <a:ext cx="3611880" cy="2057400"/>
          </a:xfrm>
          <a:prstGeom prst="rect">
            <a:avLst/>
          </a:prstGeom>
          <a:solidFill>
            <a:srgbClr val="FFFFFF"/>
          </a:solidFill>
          <a:ln w="9525">
            <a:solidFill>
              <a:srgbClr val="C2DDD0"/>
            </a:solidFill>
            <a:prstDash val="solid"/>
          </a:ln>
        </p:spPr>
      </p:sp>
      <p:sp>
        <p:nvSpPr>
          <p:cNvPr id="13" name="Shape 11"/>
          <p:cNvSpPr/>
          <p:nvPr/>
        </p:nvSpPr>
        <p:spPr>
          <a:xfrm>
            <a:off x="8293608" y="1828800"/>
            <a:ext cx="3611880" cy="91440"/>
          </a:xfrm>
          <a:prstGeom prst="rect">
            <a:avLst/>
          </a:prstGeom>
          <a:solidFill>
            <a:srgbClr val="1A6B3F"/>
          </a:solidFill>
          <a:ln w="12700">
            <a:solidFill>
              <a:srgbClr val="1A6B3F"/>
            </a:solidFill>
            <a:prstDash val="solid"/>
          </a:ln>
        </p:spPr>
      </p:sp>
      <p:sp>
        <p:nvSpPr>
          <p:cNvPr id="14" name="Text 12"/>
          <p:cNvSpPr txBox="1"/>
          <p:nvPr/>
        </p:nvSpPr>
        <p:spPr>
          <a:xfrm>
            <a:off x="8458200"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CPTSD &amp; Complex Trauma</a:t>
            </a:r>
            <a:endParaRPr lang="en-US" sz="1300" dirty="0"/>
          </a:p>
        </p:txBody>
      </p:sp>
      <p:sp>
        <p:nvSpPr>
          <p:cNvPr id="15" name="Text 13"/>
          <p:cNvSpPr txBox="1"/>
          <p:nvPr/>
        </p:nvSpPr>
        <p:spPr>
          <a:xfrm>
            <a:off x="8458200"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Symptoms, patterns, and healing pathways for survivors and the therapists supporting them</a:t>
            </a:r>
            <a:endParaRPr lang="en-US" sz="1150" dirty="0"/>
          </a:p>
        </p:txBody>
      </p:sp>
      <p:sp>
        <p:nvSpPr>
          <p:cNvPr id="16" name="Shape 14"/>
          <p:cNvSpPr/>
          <p:nvPr/>
        </p:nvSpPr>
        <p:spPr>
          <a:xfrm>
            <a:off x="502920" y="4041648"/>
            <a:ext cx="3611880" cy="2057400"/>
          </a:xfrm>
          <a:prstGeom prst="rect">
            <a:avLst/>
          </a:prstGeom>
          <a:solidFill>
            <a:srgbClr val="FFFFFF"/>
          </a:solidFill>
          <a:ln w="9525">
            <a:solidFill>
              <a:srgbClr val="C2DDD0"/>
            </a:solidFill>
            <a:prstDash val="solid"/>
          </a:ln>
        </p:spPr>
      </p:sp>
      <p:sp>
        <p:nvSpPr>
          <p:cNvPr id="17" name="Shape 15"/>
          <p:cNvSpPr/>
          <p:nvPr/>
        </p:nvSpPr>
        <p:spPr>
          <a:xfrm>
            <a:off x="502920" y="4041648"/>
            <a:ext cx="3611880" cy="91440"/>
          </a:xfrm>
          <a:prstGeom prst="rect">
            <a:avLst/>
          </a:prstGeom>
          <a:solidFill>
            <a:srgbClr val="1A6B3F"/>
          </a:solidFill>
          <a:ln w="12700">
            <a:solidFill>
              <a:srgbClr val="1A6B3F"/>
            </a:solidFill>
            <a:prstDash val="solid"/>
          </a:ln>
        </p:spPr>
      </p:sp>
      <p:sp>
        <p:nvSpPr>
          <p:cNvPr id="18" name="Text 16"/>
          <p:cNvSpPr txBox="1"/>
          <p:nvPr/>
        </p:nvSpPr>
        <p:spPr>
          <a:xfrm>
            <a:off x="667512"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Religious Trauma</a:t>
            </a:r>
            <a:endParaRPr lang="en-US" sz="1300" dirty="0"/>
          </a:p>
        </p:txBody>
      </p:sp>
      <p:sp>
        <p:nvSpPr>
          <p:cNvPr id="19" name="Text 17"/>
          <p:cNvSpPr txBox="1"/>
          <p:nvPr/>
        </p:nvSpPr>
        <p:spPr>
          <a:xfrm>
            <a:off x="667512"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 niche with massive engagement and very few other credentialed clinician voices addressing it</a:t>
            </a:r>
            <a:endParaRPr lang="en-US" sz="1150" dirty="0"/>
          </a:p>
        </p:txBody>
      </p:sp>
      <p:sp>
        <p:nvSpPr>
          <p:cNvPr id="20" name="Shape 18"/>
          <p:cNvSpPr/>
          <p:nvPr/>
        </p:nvSpPr>
        <p:spPr>
          <a:xfrm>
            <a:off x="4398264" y="4041648"/>
            <a:ext cx="3611880" cy="2057400"/>
          </a:xfrm>
          <a:prstGeom prst="rect">
            <a:avLst/>
          </a:prstGeom>
          <a:solidFill>
            <a:srgbClr val="FFFFFF"/>
          </a:solidFill>
          <a:ln w="9525">
            <a:solidFill>
              <a:srgbClr val="C2DDD0"/>
            </a:solidFill>
            <a:prstDash val="solid"/>
          </a:ln>
        </p:spPr>
      </p:sp>
      <p:sp>
        <p:nvSpPr>
          <p:cNvPr id="21" name="Shape 19"/>
          <p:cNvSpPr/>
          <p:nvPr/>
        </p:nvSpPr>
        <p:spPr>
          <a:xfrm>
            <a:off x="4398264" y="4041648"/>
            <a:ext cx="3611880" cy="91440"/>
          </a:xfrm>
          <a:prstGeom prst="rect">
            <a:avLst/>
          </a:prstGeom>
          <a:solidFill>
            <a:srgbClr val="1A6B3F"/>
          </a:solidFill>
          <a:ln w="12700">
            <a:solidFill>
              <a:srgbClr val="1A6B3F"/>
            </a:solidFill>
            <a:prstDash val="solid"/>
          </a:ln>
        </p:spPr>
      </p:sp>
      <p:sp>
        <p:nvSpPr>
          <p:cNvPr id="22" name="Text 20"/>
          <p:cNvSpPr txBox="1"/>
          <p:nvPr/>
        </p:nvSpPr>
        <p:spPr>
          <a:xfrm>
            <a:off x="4562856"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Clinician Education</a:t>
            </a:r>
            <a:endParaRPr lang="en-US" sz="1300" dirty="0"/>
          </a:p>
        </p:txBody>
      </p:sp>
      <p:sp>
        <p:nvSpPr>
          <p:cNvPr id="23" name="Text 21"/>
          <p:cNvSpPr txBox="1"/>
          <p:nvPr/>
        </p:nvSpPr>
        <p:spPr>
          <a:xfrm>
            <a:off x="4562856"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Content for therapists in training, EMDR consultation, and private practice-building decisions</a:t>
            </a:r>
            <a:endParaRPr lang="en-US" sz="1150" dirty="0"/>
          </a:p>
        </p:txBody>
      </p:sp>
      <p:sp>
        <p:nvSpPr>
          <p:cNvPr id="24" name="Shape 22"/>
          <p:cNvSpPr/>
          <p:nvPr/>
        </p:nvSpPr>
        <p:spPr>
          <a:xfrm>
            <a:off x="8293608" y="4041648"/>
            <a:ext cx="3611880" cy="2057400"/>
          </a:xfrm>
          <a:prstGeom prst="rect">
            <a:avLst/>
          </a:prstGeom>
          <a:solidFill>
            <a:srgbClr val="FFFFFF"/>
          </a:solidFill>
          <a:ln w="9525">
            <a:solidFill>
              <a:srgbClr val="C2DDD0"/>
            </a:solidFill>
            <a:prstDash val="solid"/>
          </a:ln>
        </p:spPr>
      </p:sp>
      <p:sp>
        <p:nvSpPr>
          <p:cNvPr id="25" name="Shape 23"/>
          <p:cNvSpPr/>
          <p:nvPr/>
        </p:nvSpPr>
        <p:spPr>
          <a:xfrm>
            <a:off x="8293608" y="4041648"/>
            <a:ext cx="3611880" cy="91440"/>
          </a:xfrm>
          <a:prstGeom prst="rect">
            <a:avLst/>
          </a:prstGeom>
          <a:solidFill>
            <a:srgbClr val="1A6B3F"/>
          </a:solidFill>
          <a:ln w="12700">
            <a:solidFill>
              <a:srgbClr val="1A6B3F"/>
            </a:solidFill>
            <a:prstDash val="solid"/>
          </a:ln>
        </p:spPr>
      </p:sp>
      <p:sp>
        <p:nvSpPr>
          <p:cNvPr id="26" name="Text 24"/>
          <p:cNvSpPr txBox="1"/>
          <p:nvPr/>
        </p:nvSpPr>
        <p:spPr>
          <a:xfrm>
            <a:off x="8458200"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Therapy Demystified</a:t>
            </a:r>
            <a:endParaRPr lang="en-US" sz="1300" dirty="0"/>
          </a:p>
        </p:txBody>
      </p:sp>
      <p:sp>
        <p:nvSpPr>
          <p:cNvPr id="27" name="Text 25"/>
          <p:cNvSpPr txBox="1"/>
          <p:nvPr/>
        </p:nvSpPr>
        <p:spPr>
          <a:xfrm>
            <a:off x="8458200"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What therapy actually looks like, how to find a therapist, and what to expect for the general public</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47548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PARTNERSHIP OPPORTUNITIES</a:t>
            </a:r>
            <a:endParaRPr lang="en-US" sz="900" dirty="0"/>
          </a:p>
        </p:txBody>
      </p:sp>
      <p:sp>
        <p:nvSpPr>
          <p:cNvPr id="3" name="Text 1"/>
          <p:cNvSpPr txBox="1"/>
          <p:nvPr/>
        </p:nvSpPr>
        <p:spPr>
          <a:xfrm>
            <a:off x="640080" y="786384"/>
            <a:ext cx="9144000" cy="566928"/>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Rates &amp; Deliverables</a:t>
            </a:r>
            <a:endParaRPr lang="en-US" sz="3200" dirty="0"/>
          </a:p>
        </p:txBody>
      </p:sp>
      <p:sp>
        <p:nvSpPr>
          <p:cNvPr id="4" name="Shape 2"/>
          <p:cNvSpPr/>
          <p:nvPr/>
        </p:nvSpPr>
        <p:spPr>
          <a:xfrm>
            <a:off x="502920" y="1508760"/>
            <a:ext cx="11155680" cy="365760"/>
          </a:xfrm>
          <a:prstGeom prst="rect">
            <a:avLst/>
          </a:prstGeom>
          <a:solidFill>
            <a:srgbClr val="054126"/>
          </a:solidFill>
          <a:ln w="12700">
            <a:solidFill>
              <a:srgbClr val="054126"/>
            </a:solidFill>
            <a:prstDash val="solid"/>
          </a:ln>
        </p:spPr>
      </p:sp>
      <p:sp>
        <p:nvSpPr>
          <p:cNvPr id="5" name="Text 3"/>
          <p:cNvSpPr txBox="1"/>
          <p:nvPr/>
        </p:nvSpPr>
        <p:spPr>
          <a:xfrm>
            <a:off x="68580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DELIVERABLE</a:t>
            </a:r>
            <a:endParaRPr lang="en-US" sz="850" dirty="0"/>
          </a:p>
        </p:txBody>
      </p:sp>
      <p:sp>
        <p:nvSpPr>
          <p:cNvPr id="6" name="Text 4"/>
          <p:cNvSpPr txBox="1"/>
          <p:nvPr/>
        </p:nvSpPr>
        <p:spPr>
          <a:xfrm>
            <a:off x="406908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INCLUDES</a:t>
            </a:r>
            <a:endParaRPr lang="en-US" sz="850" dirty="0"/>
          </a:p>
        </p:txBody>
      </p:sp>
      <p:sp>
        <p:nvSpPr>
          <p:cNvPr id="7" name="Text 5"/>
          <p:cNvSpPr txBox="1"/>
          <p:nvPr/>
        </p:nvSpPr>
        <p:spPr>
          <a:xfrm>
            <a:off x="10149840" y="1536192"/>
            <a:ext cx="1371600" cy="274320"/>
          </a:xfrm>
          <a:prstGeom prst="rect">
            <a:avLst/>
          </a:prstGeom>
          <a:noFill/>
          <a:ln/>
        </p:spPr>
        <p:txBody>
          <a:bodyPr wrap="square" lIns="0" tIns="0" rIns="0" bIns="0" rtlCol="0" anchor="ctr"/>
          <a:lstStyle/>
          <a:p>
            <a:pPr algn="r" indent="0" marL="0">
              <a:buNone/>
            </a:pPr>
            <a:r>
              <a:rPr lang="en-US" sz="850" b="1" spc="200" kern="0" dirty="0">
                <a:solidFill>
                  <a:srgbClr val="6AAF86"/>
                </a:solidFill>
                <a:latin typeface="Calibri" pitchFamily="34" charset="0"/>
                <a:ea typeface="Calibri" pitchFamily="34" charset="-122"/>
                <a:cs typeface="Calibri" pitchFamily="34" charset="-120"/>
              </a:rPr>
              <a:t>RATE</a:t>
            </a:r>
            <a:endParaRPr lang="en-US" sz="850" dirty="0"/>
          </a:p>
        </p:txBody>
      </p:sp>
      <p:sp>
        <p:nvSpPr>
          <p:cNvPr id="8" name="Shape 6"/>
          <p:cNvSpPr/>
          <p:nvPr/>
        </p:nvSpPr>
        <p:spPr>
          <a:xfrm>
            <a:off x="502920" y="1911096"/>
            <a:ext cx="11155680" cy="402336"/>
          </a:xfrm>
          <a:prstGeom prst="rect">
            <a:avLst/>
          </a:prstGeom>
          <a:solidFill>
            <a:srgbClr val="FFFFFF"/>
          </a:solidFill>
          <a:ln w="6350">
            <a:solidFill>
              <a:srgbClr val="C2DDD0"/>
            </a:solidFill>
            <a:prstDash val="solid"/>
          </a:ln>
        </p:spPr>
      </p:sp>
      <p:sp>
        <p:nvSpPr>
          <p:cNvPr id="9" name="Text 7"/>
          <p:cNvSpPr txBox="1"/>
          <p:nvPr/>
        </p:nvSpPr>
        <p:spPr>
          <a:xfrm>
            <a:off x="685800" y="1993392"/>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TikTok Sponsored Video</a:t>
            </a:r>
            <a:endParaRPr lang="en-US" sz="1200" dirty="0"/>
          </a:p>
        </p:txBody>
      </p:sp>
      <p:sp>
        <p:nvSpPr>
          <p:cNvPr id="10" name="Text 8"/>
          <p:cNvSpPr txBox="1"/>
          <p:nvPr/>
        </p:nvSpPr>
        <p:spPr>
          <a:xfrm>
            <a:off x="4069080" y="200253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60–90 sec., story-driven integration, 30-day usage rights</a:t>
            </a:r>
            <a:endParaRPr lang="en-US" sz="1050" dirty="0"/>
          </a:p>
        </p:txBody>
      </p:sp>
      <p:sp>
        <p:nvSpPr>
          <p:cNvPr id="11" name="Text 9"/>
          <p:cNvSpPr txBox="1"/>
          <p:nvPr/>
        </p:nvSpPr>
        <p:spPr>
          <a:xfrm>
            <a:off x="10149840" y="1975104"/>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$650</a:t>
            </a:r>
            <a:endParaRPr lang="en-US" sz="1500" dirty="0"/>
          </a:p>
        </p:txBody>
      </p:sp>
      <p:sp>
        <p:nvSpPr>
          <p:cNvPr id="12" name="Shape 10"/>
          <p:cNvSpPr/>
          <p:nvPr/>
        </p:nvSpPr>
        <p:spPr>
          <a:xfrm>
            <a:off x="502920" y="2331720"/>
            <a:ext cx="11155680" cy="402336"/>
          </a:xfrm>
          <a:prstGeom prst="rect">
            <a:avLst/>
          </a:prstGeom>
          <a:solidFill>
            <a:srgbClr val="FAFAFA"/>
          </a:solidFill>
          <a:ln w="6350">
            <a:solidFill>
              <a:srgbClr val="C2DDD0"/>
            </a:solidFill>
            <a:prstDash val="solid"/>
          </a:ln>
        </p:spPr>
      </p:sp>
      <p:sp>
        <p:nvSpPr>
          <p:cNvPr id="13" name="Text 11"/>
          <p:cNvSpPr txBox="1"/>
          <p:nvPr/>
        </p:nvSpPr>
        <p:spPr>
          <a:xfrm>
            <a:off x="685800" y="2414016"/>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Reel</a:t>
            </a:r>
            <a:endParaRPr lang="en-US" sz="1200" dirty="0"/>
          </a:p>
        </p:txBody>
      </p:sp>
      <p:sp>
        <p:nvSpPr>
          <p:cNvPr id="14" name="Text 12"/>
          <p:cNvSpPr txBox="1"/>
          <p:nvPr/>
        </p:nvSpPr>
        <p:spPr>
          <a:xfrm>
            <a:off x="4069080" y="242316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Reel, caption, tags, Story share, link in bio 14 days</a:t>
            </a:r>
            <a:endParaRPr lang="en-US" sz="1050" dirty="0"/>
          </a:p>
        </p:txBody>
      </p:sp>
      <p:sp>
        <p:nvSpPr>
          <p:cNvPr id="15" name="Text 13"/>
          <p:cNvSpPr txBox="1"/>
          <p:nvPr/>
        </p:nvSpPr>
        <p:spPr>
          <a:xfrm>
            <a:off x="10149840" y="2395728"/>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$500</a:t>
            </a:r>
            <a:endParaRPr lang="en-US" sz="1500" dirty="0"/>
          </a:p>
        </p:txBody>
      </p:sp>
      <p:sp>
        <p:nvSpPr>
          <p:cNvPr id="16" name="Shape 14"/>
          <p:cNvSpPr/>
          <p:nvPr/>
        </p:nvSpPr>
        <p:spPr>
          <a:xfrm>
            <a:off x="502920" y="2752344"/>
            <a:ext cx="11155680" cy="402336"/>
          </a:xfrm>
          <a:prstGeom prst="rect">
            <a:avLst/>
          </a:prstGeom>
          <a:solidFill>
            <a:srgbClr val="FFFFFF"/>
          </a:solidFill>
          <a:ln w="6350">
            <a:solidFill>
              <a:srgbClr val="C2DDD0"/>
            </a:solidFill>
            <a:prstDash val="solid"/>
          </a:ln>
        </p:spPr>
      </p:sp>
      <p:sp>
        <p:nvSpPr>
          <p:cNvPr id="17" name="Text 15"/>
          <p:cNvSpPr txBox="1"/>
          <p:nvPr/>
        </p:nvSpPr>
        <p:spPr>
          <a:xfrm>
            <a:off x="685800" y="2834640"/>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Carousel Post</a:t>
            </a:r>
            <a:endParaRPr lang="en-US" sz="1200" dirty="0"/>
          </a:p>
        </p:txBody>
      </p:sp>
      <p:sp>
        <p:nvSpPr>
          <p:cNvPr id="18" name="Text 16"/>
          <p:cNvSpPr txBox="1"/>
          <p:nvPr/>
        </p:nvSpPr>
        <p:spPr>
          <a:xfrm>
            <a:off x="4069080" y="2843784"/>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Educational slide post ideal for apps, tools, or book promos</a:t>
            </a:r>
            <a:endParaRPr lang="en-US" sz="1050" dirty="0"/>
          </a:p>
        </p:txBody>
      </p:sp>
      <p:sp>
        <p:nvSpPr>
          <p:cNvPr id="19" name="Text 17"/>
          <p:cNvSpPr txBox="1"/>
          <p:nvPr/>
        </p:nvSpPr>
        <p:spPr>
          <a:xfrm>
            <a:off x="10149840" y="2816352"/>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$350</a:t>
            </a:r>
            <a:endParaRPr lang="en-US" sz="1500" dirty="0"/>
          </a:p>
        </p:txBody>
      </p:sp>
      <p:sp>
        <p:nvSpPr>
          <p:cNvPr id="20" name="Shape 18"/>
          <p:cNvSpPr/>
          <p:nvPr/>
        </p:nvSpPr>
        <p:spPr>
          <a:xfrm>
            <a:off x="502920" y="3172968"/>
            <a:ext cx="11155680" cy="402336"/>
          </a:xfrm>
          <a:prstGeom prst="rect">
            <a:avLst/>
          </a:prstGeom>
          <a:solidFill>
            <a:srgbClr val="FAFAFA"/>
          </a:solidFill>
          <a:ln w="6350">
            <a:solidFill>
              <a:srgbClr val="C2DDD0"/>
            </a:solidFill>
            <a:prstDash val="solid"/>
          </a:ln>
        </p:spPr>
      </p:sp>
      <p:sp>
        <p:nvSpPr>
          <p:cNvPr id="21" name="Text 19"/>
          <p:cNvSpPr txBox="1"/>
          <p:nvPr/>
        </p:nvSpPr>
        <p:spPr>
          <a:xfrm>
            <a:off x="685800" y="3255264"/>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Story Set (3 frames)</a:t>
            </a:r>
            <a:endParaRPr lang="en-US" sz="1200" dirty="0"/>
          </a:p>
        </p:txBody>
      </p:sp>
      <p:sp>
        <p:nvSpPr>
          <p:cNvPr id="22" name="Text 20"/>
          <p:cNvSpPr txBox="1"/>
          <p:nvPr/>
        </p:nvSpPr>
        <p:spPr>
          <a:xfrm>
            <a:off x="4069080" y="3264408"/>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3-slide swipe with link sticker strong click-through for SaaS tools</a:t>
            </a:r>
            <a:endParaRPr lang="en-US" sz="1050" dirty="0"/>
          </a:p>
        </p:txBody>
      </p:sp>
      <p:sp>
        <p:nvSpPr>
          <p:cNvPr id="23" name="Text 21"/>
          <p:cNvSpPr txBox="1"/>
          <p:nvPr/>
        </p:nvSpPr>
        <p:spPr>
          <a:xfrm>
            <a:off x="10149840" y="3236976"/>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$225</a:t>
            </a:r>
            <a:endParaRPr lang="en-US" sz="1500" dirty="0"/>
          </a:p>
        </p:txBody>
      </p:sp>
      <p:sp>
        <p:nvSpPr>
          <p:cNvPr id="24" name="Shape 22"/>
          <p:cNvSpPr/>
          <p:nvPr/>
        </p:nvSpPr>
        <p:spPr>
          <a:xfrm>
            <a:off x="502920" y="3593592"/>
            <a:ext cx="11155680" cy="402336"/>
          </a:xfrm>
          <a:prstGeom prst="rect">
            <a:avLst/>
          </a:prstGeom>
          <a:solidFill>
            <a:srgbClr val="FFFFFF"/>
          </a:solidFill>
          <a:ln w="6350">
            <a:solidFill>
              <a:srgbClr val="C2DDD0"/>
            </a:solidFill>
            <a:prstDash val="solid"/>
          </a:ln>
        </p:spPr>
      </p:sp>
      <p:sp>
        <p:nvSpPr>
          <p:cNvPr id="25" name="Text 23"/>
          <p:cNvSpPr txBox="1"/>
          <p:nvPr/>
        </p:nvSpPr>
        <p:spPr>
          <a:xfrm>
            <a:off x="685800" y="3675888"/>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Facebook Post</a:t>
            </a:r>
            <a:endParaRPr lang="en-US" sz="1200" dirty="0"/>
          </a:p>
        </p:txBody>
      </p:sp>
      <p:sp>
        <p:nvSpPr>
          <p:cNvPr id="26" name="Text 24"/>
          <p:cNvSpPr txBox="1"/>
          <p:nvPr/>
        </p:nvSpPr>
        <p:spPr>
          <a:xfrm>
            <a:off x="4069080" y="368503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Sponsored post with link cross-posted from IG where appropriate</a:t>
            </a:r>
            <a:endParaRPr lang="en-US" sz="1050" dirty="0"/>
          </a:p>
        </p:txBody>
      </p:sp>
      <p:sp>
        <p:nvSpPr>
          <p:cNvPr id="27" name="Text 25"/>
          <p:cNvSpPr txBox="1"/>
          <p:nvPr/>
        </p:nvSpPr>
        <p:spPr>
          <a:xfrm>
            <a:off x="10149840" y="3657600"/>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$125</a:t>
            </a:r>
            <a:endParaRPr lang="en-US" sz="1500" dirty="0"/>
          </a:p>
        </p:txBody>
      </p:sp>
      <p:sp>
        <p:nvSpPr>
          <p:cNvPr id="28" name="Shape 26"/>
          <p:cNvSpPr/>
          <p:nvPr/>
        </p:nvSpPr>
        <p:spPr>
          <a:xfrm>
            <a:off x="502920" y="4059936"/>
            <a:ext cx="11155680" cy="402336"/>
          </a:xfrm>
          <a:prstGeom prst="rect">
            <a:avLst/>
          </a:prstGeom>
          <a:solidFill>
            <a:srgbClr val="EBF5EF"/>
          </a:solidFill>
          <a:ln w="6350">
            <a:solidFill>
              <a:srgbClr val="C2DDD0"/>
            </a:solidFill>
            <a:prstDash val="solid"/>
          </a:ln>
        </p:spPr>
      </p:sp>
      <p:sp>
        <p:nvSpPr>
          <p:cNvPr id="29" name="Text 27"/>
          <p:cNvSpPr txBox="1"/>
          <p:nvPr/>
        </p:nvSpPr>
        <p:spPr>
          <a:xfrm>
            <a:off x="685800" y="4142232"/>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TikTok + Reel + Stories</a:t>
            </a:r>
            <a:endParaRPr lang="en-US" sz="1200" dirty="0"/>
          </a:p>
        </p:txBody>
      </p:sp>
      <p:sp>
        <p:nvSpPr>
          <p:cNvPr id="30" name="Text 28"/>
          <p:cNvSpPr txBox="1"/>
          <p:nvPr/>
        </p:nvSpPr>
        <p:spPr>
          <a:xfrm>
            <a:off x="4069080" y="415137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Full cross-platform launch coordinated release across 3 channels</a:t>
            </a:r>
            <a:endParaRPr lang="en-US" sz="1050" dirty="0"/>
          </a:p>
        </p:txBody>
      </p:sp>
      <p:sp>
        <p:nvSpPr>
          <p:cNvPr id="31" name="Text 29"/>
          <p:cNvSpPr txBox="1"/>
          <p:nvPr/>
        </p:nvSpPr>
        <p:spPr>
          <a:xfrm>
            <a:off x="10149840" y="4123944"/>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$1,150</a:t>
            </a:r>
            <a:endParaRPr lang="en-US" sz="1500" dirty="0"/>
          </a:p>
        </p:txBody>
      </p:sp>
      <p:sp>
        <p:nvSpPr>
          <p:cNvPr id="32" name="Shape 30"/>
          <p:cNvSpPr/>
          <p:nvPr/>
        </p:nvSpPr>
        <p:spPr>
          <a:xfrm>
            <a:off x="502920" y="4480560"/>
            <a:ext cx="11155680" cy="402336"/>
          </a:xfrm>
          <a:prstGeom prst="rect">
            <a:avLst/>
          </a:prstGeom>
          <a:solidFill>
            <a:srgbClr val="EBF5EF"/>
          </a:solidFill>
          <a:ln w="6350">
            <a:solidFill>
              <a:srgbClr val="C2DDD0"/>
            </a:solidFill>
            <a:prstDash val="solid"/>
          </a:ln>
        </p:spPr>
      </p:sp>
      <p:sp>
        <p:nvSpPr>
          <p:cNvPr id="33" name="Text 31"/>
          <p:cNvSpPr txBox="1"/>
          <p:nvPr/>
        </p:nvSpPr>
        <p:spPr>
          <a:xfrm>
            <a:off x="685800" y="4562856"/>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Full Package (+ Carousel)</a:t>
            </a:r>
            <a:endParaRPr lang="en-US" sz="1200" dirty="0"/>
          </a:p>
        </p:txBody>
      </p:sp>
      <p:sp>
        <p:nvSpPr>
          <p:cNvPr id="34" name="Text 32"/>
          <p:cNvSpPr txBox="1"/>
          <p:nvPr/>
        </p:nvSpPr>
        <p:spPr>
          <a:xfrm>
            <a:off x="4069080" y="457200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TikTok + Reel + Carousel + Story Set best value for product rollouts</a:t>
            </a:r>
            <a:endParaRPr lang="en-US" sz="1050" dirty="0"/>
          </a:p>
        </p:txBody>
      </p:sp>
      <p:sp>
        <p:nvSpPr>
          <p:cNvPr id="35" name="Text 33"/>
          <p:cNvSpPr txBox="1"/>
          <p:nvPr/>
        </p:nvSpPr>
        <p:spPr>
          <a:xfrm>
            <a:off x="10149840" y="4544568"/>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$1,400</a:t>
            </a:r>
            <a:endParaRPr lang="en-US" sz="1500" dirty="0"/>
          </a:p>
        </p:txBody>
      </p:sp>
      <p:sp>
        <p:nvSpPr>
          <p:cNvPr id="36" name="Text 34"/>
          <p:cNvSpPr txBox="1"/>
          <p:nvPr/>
        </p:nvSpPr>
        <p:spPr>
          <a:xfrm>
            <a:off x="685800" y="5056632"/>
            <a:ext cx="9144000" cy="237744"/>
          </a:xfrm>
          <a:prstGeom prst="rect">
            <a:avLst/>
          </a:prstGeom>
          <a:noFill/>
          <a:ln/>
        </p:spPr>
        <p:txBody>
          <a:bodyPr wrap="square" lIns="0" tIns="0" rIns="0" bIns="0" rtlCol="0" anchor="ctr"/>
          <a:lstStyle/>
          <a:p>
            <a:pPr indent="0" marL="0">
              <a:buNone/>
            </a:pPr>
            <a:r>
              <a:rPr lang="en-US" sz="800" b="1" spc="300" kern="0" dirty="0">
                <a:solidFill>
                  <a:srgbClr val="5A7A66"/>
                </a:solidFill>
                <a:latin typeface="Calibri" pitchFamily="34" charset="0"/>
                <a:ea typeface="Calibri" pitchFamily="34" charset="-122"/>
                <a:cs typeface="Calibri" pitchFamily="34" charset="-120"/>
              </a:rPr>
              <a:t>MONTHLY AMBASSADOR PROGRAMS</a:t>
            </a:r>
            <a:endParaRPr lang="en-US" sz="800" dirty="0"/>
          </a:p>
        </p:txBody>
      </p:sp>
      <p:sp>
        <p:nvSpPr>
          <p:cNvPr id="37" name="Shape 35"/>
          <p:cNvSpPr/>
          <p:nvPr/>
        </p:nvSpPr>
        <p:spPr>
          <a:xfrm>
            <a:off x="502920" y="5330952"/>
            <a:ext cx="11155680" cy="402336"/>
          </a:xfrm>
          <a:prstGeom prst="rect">
            <a:avLst/>
          </a:prstGeom>
          <a:solidFill>
            <a:srgbClr val="EEF2ED"/>
          </a:solidFill>
          <a:ln w="6350">
            <a:solidFill>
              <a:srgbClr val="C8D4C6"/>
            </a:solidFill>
            <a:prstDash val="solid"/>
          </a:ln>
        </p:spPr>
      </p:sp>
      <p:sp>
        <p:nvSpPr>
          <p:cNvPr id="38" name="Text 36"/>
          <p:cNvSpPr txBox="1"/>
          <p:nvPr/>
        </p:nvSpPr>
        <p:spPr>
          <a:xfrm>
            <a:off x="685800" y="5413248"/>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Light Ambassador</a:t>
            </a:r>
            <a:endParaRPr lang="en-US" sz="1200" dirty="0"/>
          </a:p>
        </p:txBody>
      </p:sp>
      <p:sp>
        <p:nvSpPr>
          <p:cNvPr id="39" name="Text 37"/>
          <p:cNvSpPr txBox="1"/>
          <p:nvPr/>
        </p:nvSpPr>
        <p:spPr>
          <a:xfrm>
            <a:off x="4069080" y="542239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2 short-form videos + 2 Story sets + 1 carousel 3-month minimum</a:t>
            </a:r>
            <a:endParaRPr lang="en-US" sz="1050" dirty="0"/>
          </a:p>
        </p:txBody>
      </p:sp>
      <p:sp>
        <p:nvSpPr>
          <p:cNvPr id="40" name="Text 38"/>
          <p:cNvSpPr txBox="1"/>
          <p:nvPr/>
        </p:nvSpPr>
        <p:spPr>
          <a:xfrm>
            <a:off x="9144000" y="5394960"/>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$1,750–$2,250/mo</a:t>
            </a:r>
            <a:endParaRPr lang="en-US" sz="1200" dirty="0"/>
          </a:p>
        </p:txBody>
      </p:sp>
      <p:sp>
        <p:nvSpPr>
          <p:cNvPr id="41" name="Shape 39"/>
          <p:cNvSpPr/>
          <p:nvPr/>
        </p:nvSpPr>
        <p:spPr>
          <a:xfrm>
            <a:off x="502920" y="5751576"/>
            <a:ext cx="11155680" cy="402336"/>
          </a:xfrm>
          <a:prstGeom prst="rect">
            <a:avLst/>
          </a:prstGeom>
          <a:solidFill>
            <a:srgbClr val="EEF2ED"/>
          </a:solidFill>
          <a:ln w="6350">
            <a:solidFill>
              <a:srgbClr val="C8D4C6"/>
            </a:solidFill>
            <a:prstDash val="solid"/>
          </a:ln>
        </p:spPr>
      </p:sp>
      <p:sp>
        <p:nvSpPr>
          <p:cNvPr id="42" name="Text 40"/>
          <p:cNvSpPr txBox="1"/>
          <p:nvPr/>
        </p:nvSpPr>
        <p:spPr>
          <a:xfrm>
            <a:off x="685800" y="5833872"/>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Core Ambassador</a:t>
            </a:r>
            <a:endParaRPr lang="en-US" sz="1200" dirty="0"/>
          </a:p>
        </p:txBody>
      </p:sp>
      <p:sp>
        <p:nvSpPr>
          <p:cNvPr id="43" name="Text 41"/>
          <p:cNvSpPr txBox="1"/>
          <p:nvPr/>
        </p:nvSpPr>
        <p:spPr>
          <a:xfrm>
            <a:off x="4069080" y="584301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4 short-form videos + 4 Story sets + 2 carousels 3-month minimum</a:t>
            </a:r>
            <a:endParaRPr lang="en-US" sz="1050" dirty="0"/>
          </a:p>
        </p:txBody>
      </p:sp>
      <p:sp>
        <p:nvSpPr>
          <p:cNvPr id="44" name="Text 42"/>
          <p:cNvSpPr txBox="1"/>
          <p:nvPr/>
        </p:nvSpPr>
        <p:spPr>
          <a:xfrm>
            <a:off x="9144000" y="5815584"/>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$2,750–$3,500/mo</a:t>
            </a:r>
            <a:endParaRPr lang="en-US" sz="1200" dirty="0"/>
          </a:p>
        </p:txBody>
      </p:sp>
      <p:sp>
        <p:nvSpPr>
          <p:cNvPr id="45" name="Text 43"/>
          <p:cNvSpPr txBox="1"/>
          <p:nvPr/>
        </p:nvSpPr>
        <p:spPr>
          <a:xfrm>
            <a:off x="640080" y="6464808"/>
            <a:ext cx="10881360" cy="274320"/>
          </a:xfrm>
          <a:prstGeom prst="rect">
            <a:avLst/>
          </a:prstGeom>
          <a:noFill/>
          <a:ln/>
        </p:spPr>
        <p:txBody>
          <a:bodyPr wrap="square" lIns="0" tIns="0" rIns="0" bIns="0" rtlCol="0" anchor="ctr"/>
          <a:lstStyle/>
          <a:p>
            <a:pPr indent="0" marL="0">
              <a:buNone/>
            </a:pPr>
            <a:r>
              <a:rPr lang="en-US" sz="950" i="1" dirty="0">
                <a:solidFill>
                  <a:srgbClr val="8A9BAE"/>
                </a:solidFill>
                <a:latin typeface="Calibri" pitchFamily="34" charset="0"/>
                <a:ea typeface="Calibri" pitchFamily="34" charset="-122"/>
                <a:cs typeface="Calibri" pitchFamily="34" charset="-120"/>
              </a:rPr>
              <a:t>Add-ons priced separately: paid ad rights +30–50% · whitelisting/Spark Ads +40–60%/mo · category exclusivity +20–40% · extra revision $100 · rush +25%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229600" y="-914400"/>
            <a:ext cx="5669280" cy="5669280"/>
          </a:xfrm>
          <a:prstGeom prst="ellipse">
            <a:avLst/>
          </a:prstGeom>
          <a:solidFill>
            <a:srgbClr val="1A6B3F">
              <a:alpha val="15000"/>
            </a:srgbClr>
          </a:solidFill>
          <a:ln w="12700">
            <a:solidFill>
              <a:srgbClr val="1A6B3F">
                <a:alpha val="15000"/>
              </a:srgbClr>
            </a:solidFill>
            <a:prstDash val="solid"/>
          </a:ln>
        </p:spPr>
      </p:sp>
      <p:sp>
        <p:nvSpPr>
          <p:cNvPr id="3" name="Shape 1"/>
          <p:cNvSpPr/>
          <p:nvPr/>
        </p:nvSpPr>
        <p:spPr>
          <a:xfrm>
            <a:off x="-1645920" y="4572000"/>
            <a:ext cx="3840480" cy="3840480"/>
          </a:xfrm>
          <a:prstGeom prst="ellipse">
            <a:avLst/>
          </a:prstGeom>
          <a:solidFill>
            <a:srgbClr val="6AAF86">
              <a:alpha val="10000"/>
            </a:srgbClr>
          </a:solidFill>
          <a:ln w="12700">
            <a:solidFill>
              <a:srgbClr val="6AAF86">
                <a:alpha val="10000"/>
              </a:srgbClr>
            </a:solidFill>
            <a:prstDash val="solid"/>
          </a:ln>
        </p:spPr>
      </p:sp>
      <p:sp>
        <p:nvSpPr>
          <p:cNvPr id="4" name="Text 2"/>
          <p:cNvSpPr txBox="1"/>
          <p:nvPr/>
        </p:nvSpPr>
        <p:spPr>
          <a:xfrm>
            <a:off x="731520" y="1371600"/>
            <a:ext cx="91440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LET'S PARTNER</a:t>
            </a:r>
            <a:endParaRPr lang="en-US" sz="900" dirty="0"/>
          </a:p>
        </p:txBody>
      </p:sp>
      <p:sp>
        <p:nvSpPr>
          <p:cNvPr id="5" name="Text 3"/>
          <p:cNvSpPr txBox="1"/>
          <p:nvPr/>
        </p:nvSpPr>
        <p:spPr>
          <a:xfrm>
            <a:off x="731520" y="1737360"/>
            <a:ext cx="9144000" cy="868680"/>
          </a:xfrm>
          <a:prstGeom prst="rect">
            <a:avLst/>
          </a:prstGeom>
          <a:noFill/>
          <a:ln/>
        </p:spPr>
        <p:txBody>
          <a:bodyPr wrap="square" lIns="0" tIns="0" rIns="0" bIns="0" rtlCol="0" anchor="ctr"/>
          <a:lstStyle/>
          <a:p>
            <a:pPr indent="0" marL="0">
              <a:buNone/>
            </a:pPr>
            <a:r>
              <a:rPr lang="en-US" sz="5000" b="1" dirty="0">
                <a:solidFill>
                  <a:srgbClr val="EBF5EF"/>
                </a:solidFill>
                <a:latin typeface="Cambria" pitchFamily="34" charset="0"/>
                <a:ea typeface="Cambria" pitchFamily="34" charset="-122"/>
                <a:cs typeface="Cambria" pitchFamily="34" charset="-120"/>
              </a:rPr>
              <a:t>Stephanie Brashear</a:t>
            </a:r>
            <a:endParaRPr lang="en-US" sz="5000" dirty="0"/>
          </a:p>
        </p:txBody>
      </p:sp>
      <p:sp>
        <p:nvSpPr>
          <p:cNvPr id="6" name="Text 4"/>
          <p:cNvSpPr txBox="1"/>
          <p:nvPr/>
        </p:nvSpPr>
        <p:spPr>
          <a:xfrm>
            <a:off x="731520" y="2724912"/>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EMDR Therapist  ·  EMDRIA Approved Consultant</a:t>
            </a:r>
            <a:endParaRPr lang="en-US" sz="1300" dirty="0"/>
          </a:p>
        </p:txBody>
      </p:sp>
      <p:sp>
        <p:nvSpPr>
          <p:cNvPr id="7" name="Shape 5"/>
          <p:cNvSpPr/>
          <p:nvPr/>
        </p:nvSpPr>
        <p:spPr>
          <a:xfrm>
            <a:off x="731520" y="3200400"/>
            <a:ext cx="1645920" cy="36576"/>
          </a:xfrm>
          <a:prstGeom prst="rect">
            <a:avLst/>
          </a:prstGeom>
          <a:solidFill>
            <a:srgbClr val="1A6B3F"/>
          </a:solidFill>
          <a:ln w="12700">
            <a:solidFill>
              <a:srgbClr val="1A6B3F"/>
            </a:solidFill>
            <a:prstDash val="solid"/>
          </a:ln>
        </p:spPr>
      </p:sp>
      <p:sp>
        <p:nvSpPr>
          <p:cNvPr id="8" name="Text 6"/>
          <p:cNvSpPr txBox="1"/>
          <p:nvPr/>
        </p:nvSpPr>
        <p:spPr>
          <a:xfrm>
            <a:off x="731520" y="3310128"/>
            <a:ext cx="8229600" cy="402336"/>
          </a:xfrm>
          <a:prstGeom prst="rect">
            <a:avLst/>
          </a:prstGeom>
          <a:noFill/>
          <a:ln/>
        </p:spPr>
        <p:txBody>
          <a:bodyPr wrap="square" lIns="0" tIns="0" rIns="0" bIns="0" rtlCol="0" anchor="ctr"/>
          <a:lstStyle/>
          <a:p>
            <a:pPr indent="0" marL="0">
              <a:buNone/>
            </a:pPr>
            <a:r>
              <a:rPr lang="en-US" sz="1350" i="1" dirty="0">
                <a:solidFill>
                  <a:srgbClr val="8AAE96"/>
                </a:solidFill>
                <a:latin typeface="Cambria" pitchFamily="34" charset="0"/>
                <a:ea typeface="Cambria" pitchFamily="34" charset="-122"/>
                <a:cs typeface="Cambria" pitchFamily="34" charset="-120"/>
              </a:rPr>
              <a:t>You mean she reads every email herself? She does. No gatekeepers.</a:t>
            </a:r>
            <a:endParaRPr lang="en-US" sz="1350" dirty="0"/>
          </a:p>
        </p:txBody>
      </p:sp>
      <p:sp>
        <p:nvSpPr>
          <p:cNvPr id="9" name="Text 7"/>
          <p:cNvSpPr txBox="1"/>
          <p:nvPr/>
        </p:nvSpPr>
        <p:spPr>
          <a:xfrm>
            <a:off x="731520" y="3886200"/>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TikTok: @steph.goes.with.that</a:t>
            </a:r>
            <a:endParaRPr lang="en-US" sz="1400" dirty="0"/>
          </a:p>
        </p:txBody>
      </p:sp>
      <p:sp>
        <p:nvSpPr>
          <p:cNvPr id="10" name="Text 8"/>
          <p:cNvSpPr txBox="1"/>
          <p:nvPr/>
        </p:nvSpPr>
        <p:spPr>
          <a:xfrm>
            <a:off x="731520" y="4361688"/>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Instagram: @steph.goes.with.that</a:t>
            </a:r>
            <a:endParaRPr lang="en-US" sz="1400" dirty="0"/>
          </a:p>
        </p:txBody>
      </p:sp>
      <p:sp>
        <p:nvSpPr>
          <p:cNvPr id="11" name="Text 9"/>
          <p:cNvSpPr txBox="1"/>
          <p:nvPr/>
        </p:nvSpPr>
        <p:spPr>
          <a:xfrm>
            <a:off x="731520" y="4837176"/>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Facebook: Steph Goes With That</a:t>
            </a:r>
            <a:endParaRPr lang="en-US" sz="1400" dirty="0"/>
          </a:p>
        </p:txBody>
      </p:sp>
      <p:sp>
        <p:nvSpPr>
          <p:cNvPr id="12" name="Text 10"/>
          <p:cNvSpPr txBox="1"/>
          <p:nvPr/>
        </p:nvSpPr>
        <p:spPr>
          <a:xfrm>
            <a:off x="731520" y="5312664"/>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Email: Steph.Goes.With.That@RootandGrowProvidence.com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2026-09-08T18:16:39Z</dcterms:created>
  <dcterms:modified xsi:type="dcterms:W3CDTF">2026-09-08T18:16:39Z</dcterms:modified>
</cp:coreProperties>
</file>