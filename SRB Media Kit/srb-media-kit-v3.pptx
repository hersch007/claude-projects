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Update "2026" each year. The tagline is written for practice management software companies — customize per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Customize the company names (SimplePractice, TherapyNotes, etc.) to match whoever you're pitching. This is the most important slide for B2B software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these numbers quarterly. TikTok "390K+" = total likes — use it to show cumulative reach beyond just follower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EMDRIA Approved Consultant is an important credential — it means she can supervise other therapists in EMDR, which significantly raises her authority with clinician audiences.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UPDATE THIS SLIDE:
1. Take a screenshot of your best TikTok, Instagram Reel, and a strong carousel post
2. Right-click on the purple placeholder box → "Replace Image" (Google Slides) or "Change Picture" (PowerPoint)
3. Choose your screenshot file
4. Update the stat badge text (e.g., "122K views") to match the post you selected
5. Update the caption below each image to describe the post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"Religious Trauma" is worth calling out — highly searched topic with almost no other credentialed creator voices. Strong differentiator in pitch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Adjust rates as audience grows. Bundle and Monthly rows are highlighted — lead with these in software company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Replace "[add email address]" with Steph's business contact email before sending to any brand or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2E"/>
        </a:solidFill>
      </p:bgPr>
    </p:bg>
    <p:spTree>
      <p:nvGrpSpPr>
        <p:cNvPr id="1" name=""/>
        <p:cNvGrpSpPr/>
        <p:nvPr/>
      </p:nvGrpSpPr>
      <p:grpSpPr>
        <a:xfrm>
          <a:off x="0" y="0"/>
          <a:ext cx="0" cy="0"/>
          <a:chOff x="0" y="0"/>
          <a:chExt cx="0" cy="0"/>
        </a:xfrm>
      </p:grpSpPr>
      <p:sp>
        <p:nvSpPr>
          <p:cNvPr id="2" name="Shape 0"/>
          <p:cNvSpPr/>
          <p:nvPr/>
        </p:nvSpPr>
        <p:spPr>
          <a:xfrm>
            <a:off x="8503920" y="-1463040"/>
            <a:ext cx="5303520" cy="5303520"/>
          </a:xfrm>
          <a:prstGeom prst="ellipse">
            <a:avLst/>
          </a:prstGeom>
          <a:solidFill>
            <a:srgbClr val="7C5C8C">
              <a:alpha val="18000"/>
            </a:srgbClr>
          </a:solidFill>
          <a:ln w="12700">
            <a:solidFill>
              <a:srgbClr val="7C5C8C">
                <a:alpha val="18000"/>
              </a:srgbClr>
            </a:solidFill>
            <a:prstDash val="solid"/>
          </a:ln>
        </p:spPr>
      </p:sp>
      <p:sp>
        <p:nvSpPr>
          <p:cNvPr id="3" name="Shape 1"/>
          <p:cNvSpPr/>
          <p:nvPr/>
        </p:nvSpPr>
        <p:spPr>
          <a:xfrm>
            <a:off x="9875520" y="3200400"/>
            <a:ext cx="2926080" cy="2926080"/>
          </a:xfrm>
          <a:prstGeom prst="ellipse">
            <a:avLst/>
          </a:prstGeom>
          <a:solidFill>
            <a:srgbClr val="B8A0C8">
              <a:alpha val="12000"/>
            </a:srgbClr>
          </a:solidFill>
          <a:ln w="12700">
            <a:solidFill>
              <a:srgbClr val="B8A0C8">
                <a:alpha val="12000"/>
              </a:srgbClr>
            </a:solidFill>
            <a:prstDash val="solid"/>
          </a:ln>
        </p:spPr>
      </p:sp>
      <p:sp>
        <p:nvSpPr>
          <p:cNvPr id="4" name="Shape 2"/>
          <p:cNvSpPr/>
          <p:nvPr/>
        </p:nvSpPr>
        <p:spPr>
          <a:xfrm>
            <a:off x="-731520" y="5120640"/>
            <a:ext cx="2743200" cy="2743200"/>
          </a:xfrm>
          <a:prstGeom prst="ellipse">
            <a:avLst/>
          </a:prstGeom>
          <a:solidFill>
            <a:srgbClr val="7C5C8C">
              <a:alpha val="10000"/>
            </a:srgbClr>
          </a:solidFill>
          <a:ln w="12700">
            <a:solidFill>
              <a:srgbClr val="7C5C8C">
                <a:alpha val="10000"/>
              </a:srgbClr>
            </a:solidFill>
            <a:prstDash val="solid"/>
          </a:ln>
        </p:spPr>
      </p:sp>
      <p:sp>
        <p:nvSpPr>
          <p:cNvPr id="5" name="Text 3"/>
          <p:cNvSpPr txBox="1"/>
          <p:nvPr/>
        </p:nvSpPr>
        <p:spPr>
          <a:xfrm>
            <a:off x="685800" y="1097280"/>
            <a:ext cx="7315200" cy="292608"/>
          </a:xfrm>
          <a:prstGeom prst="rect">
            <a:avLst/>
          </a:prstGeom>
          <a:noFill/>
          <a:ln/>
        </p:spPr>
        <p:txBody>
          <a:bodyPr wrap="square" lIns="0" tIns="0" rIns="0" bIns="0" rtlCol="0" anchor="ctr"/>
          <a:lstStyle/>
          <a:p>
            <a:pPr indent="0" marL="0">
              <a:buNone/>
            </a:pPr>
            <a:r>
              <a:rPr lang="en-US" sz="1000" b="1" spc="400" kern="0" dirty="0">
                <a:solidFill>
                  <a:srgbClr val="B8A0C8"/>
                </a:solidFill>
                <a:latin typeface="Calibri" pitchFamily="34" charset="0"/>
                <a:ea typeface="Calibri" pitchFamily="34" charset="-122"/>
                <a:cs typeface="Calibri" pitchFamily="34" charset="-120"/>
              </a:rPr>
              <a:t>CREATOR MEDIA KIT  ·  2026</a:t>
            </a:r>
            <a:endParaRPr lang="en-US" sz="1000" dirty="0"/>
          </a:p>
        </p:txBody>
      </p:sp>
      <p:sp>
        <p:nvSpPr>
          <p:cNvPr id="6" name="Text 4"/>
          <p:cNvSpPr txBox="1"/>
          <p:nvPr/>
        </p:nvSpPr>
        <p:spPr>
          <a:xfrm>
            <a:off x="685800" y="1481328"/>
            <a:ext cx="9144000" cy="1234440"/>
          </a:xfrm>
          <a:prstGeom prst="rect">
            <a:avLst/>
          </a:prstGeom>
          <a:noFill/>
          <a:ln/>
        </p:spPr>
        <p:txBody>
          <a:bodyPr wrap="square" lIns="0" tIns="0" rIns="0" bIns="0" rtlCol="0" anchor="ctr"/>
          <a:lstStyle/>
          <a:p>
            <a:pPr indent="0" marL="0">
              <a:buNone/>
            </a:pPr>
            <a:r>
              <a:rPr lang="en-US" sz="6200" b="1" dirty="0">
                <a:solidFill>
                  <a:srgbClr val="F0EBF8"/>
                </a:solidFill>
                <a:latin typeface="Cambria" pitchFamily="34" charset="0"/>
                <a:ea typeface="Cambria" pitchFamily="34" charset="-122"/>
                <a:cs typeface="Cambria" pitchFamily="34" charset="-120"/>
              </a:rPr>
              <a:t>Steph Brashear</a:t>
            </a:r>
            <a:endParaRPr lang="en-US" sz="6200" dirty="0"/>
          </a:p>
        </p:txBody>
      </p:sp>
      <p:sp>
        <p:nvSpPr>
          <p:cNvPr id="7" name="Text 5"/>
          <p:cNvSpPr txBox="1"/>
          <p:nvPr/>
        </p:nvSpPr>
        <p:spPr>
          <a:xfrm>
            <a:off x="685800" y="2834640"/>
            <a:ext cx="9144000" cy="320040"/>
          </a:xfrm>
          <a:prstGeom prst="rect">
            <a:avLst/>
          </a:prstGeom>
          <a:noFill/>
          <a:ln/>
        </p:spPr>
        <p:txBody>
          <a:bodyPr wrap="square" lIns="0" tIns="0" rIns="0" bIns="0" rtlCol="0" anchor="ctr"/>
          <a:lstStyle/>
          <a:p>
            <a:pPr indent="0" marL="0">
              <a:buNone/>
            </a:pPr>
            <a:r>
              <a:rPr lang="en-US" sz="1300" dirty="0">
                <a:solidFill>
                  <a:srgbClr val="B8A0C8"/>
                </a:solidFill>
                <a:latin typeface="Calibri" pitchFamily="34" charset="0"/>
                <a:ea typeface="Calibri" pitchFamily="34" charset="-122"/>
                <a:cs typeface="Calibri" pitchFamily="34" charset="-120"/>
              </a:rPr>
              <a:t>@steph.goes.with.that  ·  TikTok  ·  Instagram  ·  Facebook</a:t>
            </a:r>
            <a:endParaRPr lang="en-US" sz="1300" dirty="0"/>
          </a:p>
        </p:txBody>
      </p:sp>
      <p:sp>
        <p:nvSpPr>
          <p:cNvPr id="8" name="Text 6"/>
          <p:cNvSpPr txBox="1"/>
          <p:nvPr/>
        </p:nvSpPr>
        <p:spPr>
          <a:xfrm>
            <a:off x="685800" y="3337560"/>
            <a:ext cx="8046720" cy="1005840"/>
          </a:xfrm>
          <a:prstGeom prst="rect">
            <a:avLst/>
          </a:prstGeom>
          <a:noFill/>
          <a:ln/>
        </p:spPr>
        <p:txBody>
          <a:bodyPr wrap="square" lIns="0" tIns="0" rIns="0" bIns="0" rtlCol="0" anchor="ctr"/>
          <a:lstStyle/>
          <a:p>
            <a:pPr indent="0" marL="0">
              <a:buNone/>
            </a:pPr>
            <a:r>
              <a:rPr lang="en-US" sz="1600" i="1" dirty="0">
                <a:solidFill>
                  <a:srgbClr val="A090C0"/>
                </a:solidFill>
                <a:latin typeface="Cambria" pitchFamily="34" charset="0"/>
                <a:ea typeface="Cambria" pitchFamily="34" charset="-122"/>
                <a:cs typeface="Cambria" pitchFamily="34" charset="-120"/>
              </a:rPr>
              <a:t>EMDR Therapist &amp; EMDRIA Approved Consultant —</a:t>
            </a:r>
            <a:endParaRPr lang="en-US" sz="1600" dirty="0"/>
          </a:p>
          <a:p>
            <a:pPr indent="0" marL="0">
              <a:buNone/>
            </a:pPr>
            <a:r>
              <a:rPr lang="en-US" sz="1600" i="1" dirty="0">
                <a:solidFill>
                  <a:srgbClr val="A090C0"/>
                </a:solidFill>
                <a:latin typeface="Cambria" pitchFamily="34" charset="0"/>
                <a:ea typeface="Cambria" pitchFamily="34" charset="-122"/>
                <a:cs typeface="Cambria" pitchFamily="34" charset="-120"/>
              </a:rPr>
              <a:t>reaching the therapists and clients that practice management platforms want to reach.</a:t>
            </a:r>
            <a:endParaRPr lang="en-US" sz="1600" dirty="0"/>
          </a:p>
        </p:txBody>
      </p:sp>
      <p:sp>
        <p:nvSpPr>
          <p:cNvPr id="9" name="Shape 7"/>
          <p:cNvSpPr/>
          <p:nvPr/>
        </p:nvSpPr>
        <p:spPr>
          <a:xfrm>
            <a:off x="8275320" y="1463040"/>
            <a:ext cx="2834640" cy="2834640"/>
          </a:xfrm>
          <a:prstGeom prst="ellipse">
            <a:avLst/>
          </a:prstGeom>
          <a:solidFill>
            <a:srgbClr val="7C5C8C">
              <a:alpha val="45000"/>
            </a:srgbClr>
          </a:solidFill>
          <a:ln w="19050">
            <a:solidFill>
              <a:srgbClr val="7C5C8C">
                <a:alpha val="70000"/>
              </a:srgbClr>
            </a:solidFill>
            <a:prstDash val="solid"/>
          </a:ln>
        </p:spPr>
      </p:sp>
      <p:pic>
        <p:nvPicPr>
          <p:cNvPr id="10" name="Image 0" descr="C:\Users\richa\Documents\Claude Projects\SRB Media Kit\assets\steph-profile.jpg">    </p:cNvPr>
          <p:cNvPicPr>
            <a:picLocks noChangeAspect="1"/>
          </p:cNvPicPr>
          <p:nvPr/>
        </p:nvPicPr>
        <p:blipFill>
          <a:blip r:embed="rId1"/>
          <a:stretch>
            <a:fillRect/>
          </a:stretch>
        </p:blipFill>
        <p:spPr>
          <a:xfrm>
            <a:off x="8412480" y="1600200"/>
            <a:ext cx="2560320" cy="2560320"/>
          </a:xfrm>
          <a:prstGeom prst="ellipse">
            <a:avLst/>
          </a:prstGeom>
        </p:spPr>
      </p:pic>
      <p:sp>
        <p:nvSpPr>
          <p:cNvPr id="11" name="Shape 8"/>
          <p:cNvSpPr/>
          <p:nvPr/>
        </p:nvSpPr>
        <p:spPr>
          <a:xfrm>
            <a:off x="685800" y="4800600"/>
            <a:ext cx="940003" cy="329184"/>
          </a:xfrm>
          <a:prstGeom prst="rect">
            <a:avLst/>
          </a:prstGeom>
          <a:solidFill>
            <a:srgbClr val="1E1B2E"/>
          </a:solidFill>
          <a:ln w="9525">
            <a:solidFill>
              <a:srgbClr val="B8A0C8">
                <a:alpha val="55000"/>
              </a:srgbClr>
            </a:solidFill>
            <a:prstDash val="solid"/>
          </a:ln>
        </p:spPr>
      </p:sp>
      <p:sp>
        <p:nvSpPr>
          <p:cNvPr id="12" name="Text 9"/>
          <p:cNvSpPr txBox="1"/>
          <p:nvPr/>
        </p:nvSpPr>
        <p:spPr>
          <a:xfrm>
            <a:off x="685800" y="4800600"/>
            <a:ext cx="940003" cy="329184"/>
          </a:xfrm>
          <a:prstGeom prst="rect">
            <a:avLst/>
          </a:prstGeom>
          <a:noFill/>
          <a:ln/>
        </p:spPr>
        <p:txBody>
          <a:bodyPr wrap="square" rtlCol="0" anchor="ctr"/>
          <a:lstStyle/>
          <a:p>
            <a:pPr algn="ctr" indent="0" marL="0">
              <a:buNone/>
            </a:pPr>
            <a:r>
              <a:rPr lang="en-US" sz="1100" dirty="0">
                <a:solidFill>
                  <a:srgbClr val="B8A0C8"/>
                </a:solidFill>
                <a:latin typeface="Calibri" pitchFamily="34" charset="0"/>
                <a:ea typeface="Calibri" pitchFamily="34" charset="-122"/>
                <a:cs typeface="Calibri" pitchFamily="34" charset="-120"/>
              </a:rPr>
              <a:t>TikTok</a:t>
            </a:r>
            <a:endParaRPr lang="en-US" sz="1100" dirty="0"/>
          </a:p>
        </p:txBody>
      </p:sp>
      <p:sp>
        <p:nvSpPr>
          <p:cNvPr id="13" name="Shape 10"/>
          <p:cNvSpPr/>
          <p:nvPr/>
        </p:nvSpPr>
        <p:spPr>
          <a:xfrm>
            <a:off x="1790395" y="4800600"/>
            <a:ext cx="1181405" cy="329184"/>
          </a:xfrm>
          <a:prstGeom prst="rect">
            <a:avLst/>
          </a:prstGeom>
          <a:solidFill>
            <a:srgbClr val="1E1B2E"/>
          </a:solidFill>
          <a:ln w="9525">
            <a:solidFill>
              <a:srgbClr val="B8A0C8">
                <a:alpha val="55000"/>
              </a:srgbClr>
            </a:solidFill>
            <a:prstDash val="solid"/>
          </a:ln>
        </p:spPr>
      </p:sp>
      <p:sp>
        <p:nvSpPr>
          <p:cNvPr id="14" name="Text 11"/>
          <p:cNvSpPr txBox="1"/>
          <p:nvPr/>
        </p:nvSpPr>
        <p:spPr>
          <a:xfrm>
            <a:off x="1790395" y="4800600"/>
            <a:ext cx="1181405" cy="329184"/>
          </a:xfrm>
          <a:prstGeom prst="rect">
            <a:avLst/>
          </a:prstGeom>
          <a:noFill/>
          <a:ln/>
        </p:spPr>
        <p:txBody>
          <a:bodyPr wrap="square" rtlCol="0" anchor="ctr"/>
          <a:lstStyle/>
          <a:p>
            <a:pPr algn="ctr" indent="0" marL="0">
              <a:buNone/>
            </a:pPr>
            <a:r>
              <a:rPr lang="en-US" sz="1100" dirty="0">
                <a:solidFill>
                  <a:srgbClr val="B8A0C8"/>
                </a:solidFill>
                <a:latin typeface="Calibri" pitchFamily="34" charset="0"/>
                <a:ea typeface="Calibri" pitchFamily="34" charset="-122"/>
                <a:cs typeface="Calibri" pitchFamily="34" charset="-120"/>
              </a:rPr>
              <a:t>Instagram</a:t>
            </a:r>
            <a:endParaRPr lang="en-US" sz="1100" dirty="0"/>
          </a:p>
        </p:txBody>
      </p:sp>
      <p:sp>
        <p:nvSpPr>
          <p:cNvPr id="15" name="Shape 12"/>
          <p:cNvSpPr/>
          <p:nvPr/>
        </p:nvSpPr>
        <p:spPr>
          <a:xfrm>
            <a:off x="3136392" y="4800600"/>
            <a:ext cx="1100938" cy="329184"/>
          </a:xfrm>
          <a:prstGeom prst="rect">
            <a:avLst/>
          </a:prstGeom>
          <a:solidFill>
            <a:srgbClr val="1E1B2E"/>
          </a:solidFill>
          <a:ln w="9525">
            <a:solidFill>
              <a:srgbClr val="B8A0C8">
                <a:alpha val="55000"/>
              </a:srgbClr>
            </a:solidFill>
            <a:prstDash val="solid"/>
          </a:ln>
        </p:spPr>
      </p:sp>
      <p:sp>
        <p:nvSpPr>
          <p:cNvPr id="16" name="Text 13"/>
          <p:cNvSpPr txBox="1"/>
          <p:nvPr/>
        </p:nvSpPr>
        <p:spPr>
          <a:xfrm>
            <a:off x="3136392" y="4800600"/>
            <a:ext cx="1100938" cy="329184"/>
          </a:xfrm>
          <a:prstGeom prst="rect">
            <a:avLst/>
          </a:prstGeom>
          <a:noFill/>
          <a:ln/>
        </p:spPr>
        <p:txBody>
          <a:bodyPr wrap="square" rtlCol="0" anchor="ctr"/>
          <a:lstStyle/>
          <a:p>
            <a:pPr algn="ctr" indent="0" marL="0">
              <a:buNone/>
            </a:pPr>
            <a:r>
              <a:rPr lang="en-US" sz="1100" dirty="0">
                <a:solidFill>
                  <a:srgbClr val="B8A0C8"/>
                </a:solidFill>
                <a:latin typeface="Calibri" pitchFamily="34" charset="0"/>
                <a:ea typeface="Calibri" pitchFamily="34" charset="-122"/>
                <a:cs typeface="Calibri" pitchFamily="34" charset="-120"/>
              </a:rPr>
              <a:t>Facebook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F9"/>
        </a:solidFill>
      </p:bgPr>
    </p:bg>
    <p:spTree>
      <p:nvGrpSpPr>
        <p:cNvPr id="1" name=""/>
        <p:cNvGrpSpPr/>
        <p:nvPr/>
      </p:nvGrpSpPr>
      <p:grpSpPr>
        <a:xfrm>
          <a:off x="0" y="0"/>
          <a:ext cx="0" cy="0"/>
          <a:chOff x="0" y="0"/>
          <a:chExt cx="0" cy="0"/>
        </a:xfrm>
      </p:grpSpPr>
      <p:sp>
        <p:nvSpPr>
          <p:cNvPr id="2" name="Text 0"/>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00" b="1" spc="400" kern="0" dirty="0">
                <a:solidFill>
                  <a:srgbClr val="7C5C8C"/>
                </a:solidFill>
                <a:latin typeface="Calibri" pitchFamily="34" charset="0"/>
                <a:ea typeface="Calibri" pitchFamily="34" charset="-122"/>
                <a:cs typeface="Calibri" pitchFamily="34" charset="-120"/>
              </a:rPr>
              <a:t>THE OPPORTUNITY</a:t>
            </a:r>
            <a:endParaRPr lang="en-US" sz="900" dirty="0"/>
          </a:p>
        </p:txBody>
      </p:sp>
      <p:sp>
        <p:nvSpPr>
          <p:cNvPr id="3" name="Text 1"/>
          <p:cNvSpPr txBox="1"/>
          <p:nvPr/>
        </p:nvSpPr>
        <p:spPr>
          <a:xfrm>
            <a:off x="640080" y="868680"/>
            <a:ext cx="9144000" cy="640080"/>
          </a:xfrm>
          <a:prstGeom prst="rect">
            <a:avLst/>
          </a:prstGeom>
          <a:noFill/>
          <a:ln/>
        </p:spPr>
        <p:txBody>
          <a:bodyPr wrap="square" lIns="0" tIns="0" rIns="0" bIns="0" rtlCol="0" anchor="ctr"/>
          <a:lstStyle/>
          <a:p>
            <a:pPr indent="0" marL="0">
              <a:buNone/>
            </a:pPr>
            <a:r>
              <a:rPr lang="en-US" sz="3400" b="1" dirty="0">
                <a:solidFill>
                  <a:srgbClr val="1E1B2E"/>
                </a:solidFill>
                <a:latin typeface="Cambria" pitchFamily="34" charset="0"/>
                <a:ea typeface="Cambria" pitchFamily="34" charset="-122"/>
                <a:cs typeface="Cambria" pitchFamily="34" charset="-120"/>
              </a:rPr>
              <a:t>Why This Partnership Works</a:t>
            </a:r>
            <a:endParaRPr lang="en-US" sz="3400" dirty="0"/>
          </a:p>
        </p:txBody>
      </p:sp>
      <p:sp>
        <p:nvSpPr>
          <p:cNvPr id="4" name="Shape 2"/>
          <p:cNvSpPr/>
          <p:nvPr/>
        </p:nvSpPr>
        <p:spPr>
          <a:xfrm>
            <a:off x="502920" y="1719072"/>
            <a:ext cx="5029200" cy="4754880"/>
          </a:xfrm>
          <a:prstGeom prst="rect">
            <a:avLst/>
          </a:prstGeom>
          <a:solidFill>
            <a:srgbClr val="1E1B2E"/>
          </a:solidFill>
          <a:ln w="12700">
            <a:solidFill>
              <a:srgbClr val="1E1B2E"/>
            </a:solidFill>
            <a:prstDash val="solid"/>
          </a:ln>
        </p:spPr>
      </p:sp>
      <p:sp>
        <p:nvSpPr>
          <p:cNvPr id="5" name="Text 3"/>
          <p:cNvSpPr txBox="1"/>
          <p:nvPr/>
        </p:nvSpPr>
        <p:spPr>
          <a:xfrm>
            <a:off x="685800" y="2148840"/>
            <a:ext cx="4663440" cy="2286000"/>
          </a:xfrm>
          <a:prstGeom prst="rect">
            <a:avLst/>
          </a:prstGeom>
          <a:noFill/>
          <a:ln/>
        </p:spPr>
        <p:txBody>
          <a:bodyPr wrap="square" lIns="0" tIns="0" rIns="0" bIns="0" rtlCol="0" anchor="ctr"/>
          <a:lstStyle/>
          <a:p>
            <a:pPr indent="0" marL="0">
              <a:buNone/>
            </a:pPr>
            <a:r>
              <a:rPr lang="en-US" sz="3600" b="1" dirty="0">
                <a:solidFill>
                  <a:srgbClr val="F0EBF8"/>
                </a:solidFill>
                <a:latin typeface="Cambria" pitchFamily="34" charset="0"/>
                <a:ea typeface="Cambria" pitchFamily="34" charset="-122"/>
                <a:cs typeface="Cambria" pitchFamily="34" charset="-120"/>
              </a:rPr>
              <a:t>Her audience</a:t>
            </a:r>
            <a:endParaRPr lang="en-US" sz="3600" dirty="0"/>
          </a:p>
          <a:p>
            <a:pPr indent="0" marL="0">
              <a:buNone/>
            </a:pPr>
            <a:r>
              <a:rPr lang="en-US" sz="3600" b="1" dirty="0">
                <a:solidFill>
                  <a:srgbClr val="F0EBF8"/>
                </a:solidFill>
                <a:latin typeface="Cambria" pitchFamily="34" charset="0"/>
                <a:ea typeface="Cambria" pitchFamily="34" charset="-122"/>
                <a:cs typeface="Cambria" pitchFamily="34" charset="-120"/>
              </a:rPr>
              <a:t>is your</a:t>
            </a:r>
            <a:endParaRPr lang="en-US" sz="3600" dirty="0"/>
          </a:p>
          <a:p>
            <a:pPr indent="0" marL="0">
              <a:buNone/>
            </a:pPr>
            <a:r>
              <a:rPr lang="en-US" sz="3600" b="1" dirty="0">
                <a:solidFill>
                  <a:srgbClr val="F0EBF8"/>
                </a:solidFill>
                <a:latin typeface="Cambria" pitchFamily="34" charset="0"/>
                <a:ea typeface="Cambria" pitchFamily="34" charset="-122"/>
                <a:cs typeface="Cambria" pitchFamily="34" charset="-120"/>
              </a:rPr>
              <a:t>customer.</a:t>
            </a:r>
            <a:endParaRPr lang="en-US" sz="3600" dirty="0"/>
          </a:p>
        </p:txBody>
      </p:sp>
      <p:sp>
        <p:nvSpPr>
          <p:cNvPr id="6" name="Text 4"/>
          <p:cNvSpPr txBox="1"/>
          <p:nvPr/>
        </p:nvSpPr>
        <p:spPr>
          <a:xfrm>
            <a:off x="685800" y="4526280"/>
            <a:ext cx="4663440" cy="2468880"/>
          </a:xfrm>
          <a:prstGeom prst="rect">
            <a:avLst/>
          </a:prstGeom>
          <a:noFill/>
          <a:ln/>
        </p:spPr>
        <p:txBody>
          <a:bodyPr wrap="square" lIns="0" tIns="0" rIns="0" bIns="0" rtlCol="0" anchor="ctr"/>
          <a:lstStyle/>
          <a:p>
            <a:pPr indent="0" marL="0">
              <a:lnSpc>
                <a:spcPct val="135000"/>
              </a:lnSpc>
              <a:buNone/>
            </a:pPr>
            <a:r>
              <a:rPr lang="en-US" sz="1200" dirty="0">
                <a:solidFill>
                  <a:srgbClr val="B8A0C8"/>
                </a:solidFill>
                <a:latin typeface="Calibri" pitchFamily="34" charset="0"/>
                <a:ea typeface="Calibri" pitchFamily="34" charset="-122"/>
                <a:cs typeface="Calibri" pitchFamily="34" charset="-120"/>
              </a:rPr>
              <a:t>Steph speaks daily to licensed therapists, EMDR practitioners, and their clients — the exact people who subscribe to SimplePractice, TherapyNotes, Jane App, and TheraNest.</a:t>
            </a:r>
            <a:endParaRPr lang="en-US" sz="1200" dirty="0"/>
          </a:p>
          <a:p>
            <a:pPr indent="0" marL="0">
              <a:lnSpc>
                <a:spcPct val="135000"/>
              </a:lnSpc>
              <a:buNone/>
            </a:pPr>
            <a:endParaRPr lang="en-US" sz="1200" dirty="0"/>
          </a:p>
          <a:p>
            <a:pPr indent="0" marL="0">
              <a:lnSpc>
                <a:spcPct val="135000"/>
              </a:lnSpc>
              <a:buNone/>
            </a:pPr>
            <a:r>
              <a:rPr lang="en-US" sz="1200" dirty="0">
                <a:solidFill>
                  <a:srgbClr val="B8A0C8"/>
                </a:solidFill>
                <a:latin typeface="Calibri" pitchFamily="34" charset="0"/>
                <a:ea typeface="Calibri" pitchFamily="34" charset="-122"/>
                <a:cs typeface="Calibri" pitchFamily="34" charset="-120"/>
              </a:rPr>
              <a:t>A brand endorsement from Steph reaches buyers who are already primed to act.</a:t>
            </a:r>
            <a:endParaRPr lang="en-US" sz="1200" dirty="0"/>
          </a:p>
        </p:txBody>
      </p:sp>
      <p:sp>
        <p:nvSpPr>
          <p:cNvPr id="7" name="Shape 5"/>
          <p:cNvSpPr/>
          <p:nvPr/>
        </p:nvSpPr>
        <p:spPr>
          <a:xfrm>
            <a:off x="5852160" y="1719072"/>
            <a:ext cx="5806440" cy="1481328"/>
          </a:xfrm>
          <a:prstGeom prst="rect">
            <a:avLst/>
          </a:prstGeom>
          <a:solidFill>
            <a:srgbClr val="EDE8F4"/>
          </a:solidFill>
          <a:ln w="9525">
            <a:solidFill>
              <a:srgbClr val="DDD5EA"/>
            </a:solidFill>
            <a:prstDash val="solid"/>
          </a:ln>
        </p:spPr>
      </p:sp>
      <p:sp>
        <p:nvSpPr>
          <p:cNvPr id="8" name="Text 6"/>
          <p:cNvSpPr txBox="1"/>
          <p:nvPr/>
        </p:nvSpPr>
        <p:spPr>
          <a:xfrm>
            <a:off x="6035040" y="1920240"/>
            <a:ext cx="457200" cy="365760"/>
          </a:xfrm>
          <a:prstGeom prst="rect">
            <a:avLst/>
          </a:prstGeom>
          <a:noFill/>
          <a:ln/>
        </p:spPr>
        <p:txBody>
          <a:bodyPr wrap="square" lIns="0" tIns="0" rIns="0" bIns="0" rtlCol="0" anchor="ctr"/>
          <a:lstStyle/>
          <a:p>
            <a:pPr indent="0" marL="0">
              <a:buNone/>
            </a:pPr>
            <a:r>
              <a:rPr lang="en-US" sz="1100" b="1" spc="100" kern="0" dirty="0">
                <a:solidFill>
                  <a:srgbClr val="7C5C8C"/>
                </a:solidFill>
                <a:latin typeface="Calibri" pitchFamily="34" charset="0"/>
                <a:ea typeface="Calibri" pitchFamily="34" charset="-122"/>
                <a:cs typeface="Calibri" pitchFamily="34" charset="-120"/>
              </a:rPr>
              <a:t>01</a:t>
            </a:r>
            <a:endParaRPr lang="en-US" sz="1100" dirty="0"/>
          </a:p>
        </p:txBody>
      </p:sp>
      <p:sp>
        <p:nvSpPr>
          <p:cNvPr id="9" name="Text 7"/>
          <p:cNvSpPr txBox="1"/>
          <p:nvPr/>
        </p:nvSpPr>
        <p:spPr>
          <a:xfrm>
            <a:off x="6537960" y="1901952"/>
            <a:ext cx="4937760" cy="347472"/>
          </a:xfrm>
          <a:prstGeom prst="rect">
            <a:avLst/>
          </a:prstGeom>
          <a:noFill/>
          <a:ln/>
        </p:spPr>
        <p:txBody>
          <a:bodyPr wrap="square" lIns="0" tIns="0" rIns="0" bIns="0" rtlCol="0" anchor="ctr"/>
          <a:lstStyle/>
          <a:p>
            <a:pPr indent="0" marL="0">
              <a:buNone/>
            </a:pPr>
            <a:r>
              <a:rPr lang="en-US" sz="1400" b="1" dirty="0">
                <a:solidFill>
                  <a:srgbClr val="1E1B2E"/>
                </a:solidFill>
                <a:latin typeface="Calibri" pitchFamily="34" charset="0"/>
                <a:ea typeface="Calibri" pitchFamily="34" charset="-122"/>
                <a:cs typeface="Calibri" pitchFamily="34" charset="-120"/>
              </a:rPr>
              <a:t>Dual Audience Reach</a:t>
            </a:r>
            <a:endParaRPr lang="en-US" sz="1400" dirty="0"/>
          </a:p>
        </p:txBody>
      </p:sp>
      <p:sp>
        <p:nvSpPr>
          <p:cNvPr id="10" name="Text 8"/>
          <p:cNvSpPr txBox="1"/>
          <p:nvPr/>
        </p:nvSpPr>
        <p:spPr>
          <a:xfrm>
            <a:off x="6537960" y="2286000"/>
            <a:ext cx="4937760" cy="7772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She reaches both therapists evaluating software AND clients who influence their therapist's buying decisions.</a:t>
            </a:r>
            <a:endParaRPr lang="en-US" sz="1150" dirty="0"/>
          </a:p>
        </p:txBody>
      </p:sp>
      <p:sp>
        <p:nvSpPr>
          <p:cNvPr id="11" name="Shape 9"/>
          <p:cNvSpPr/>
          <p:nvPr/>
        </p:nvSpPr>
        <p:spPr>
          <a:xfrm>
            <a:off x="5852160" y="3319272"/>
            <a:ext cx="5806440" cy="1481328"/>
          </a:xfrm>
          <a:prstGeom prst="rect">
            <a:avLst/>
          </a:prstGeom>
          <a:solidFill>
            <a:srgbClr val="EDE8F4"/>
          </a:solidFill>
          <a:ln w="9525">
            <a:solidFill>
              <a:srgbClr val="DDD5EA"/>
            </a:solidFill>
            <a:prstDash val="solid"/>
          </a:ln>
        </p:spPr>
      </p:sp>
      <p:sp>
        <p:nvSpPr>
          <p:cNvPr id="12" name="Text 10"/>
          <p:cNvSpPr txBox="1"/>
          <p:nvPr/>
        </p:nvSpPr>
        <p:spPr>
          <a:xfrm>
            <a:off x="6035040" y="3520440"/>
            <a:ext cx="457200" cy="365760"/>
          </a:xfrm>
          <a:prstGeom prst="rect">
            <a:avLst/>
          </a:prstGeom>
          <a:noFill/>
          <a:ln/>
        </p:spPr>
        <p:txBody>
          <a:bodyPr wrap="square" lIns="0" tIns="0" rIns="0" bIns="0" rtlCol="0" anchor="ctr"/>
          <a:lstStyle/>
          <a:p>
            <a:pPr indent="0" marL="0">
              <a:buNone/>
            </a:pPr>
            <a:r>
              <a:rPr lang="en-US" sz="1100" b="1" spc="100" kern="0" dirty="0">
                <a:solidFill>
                  <a:srgbClr val="7C5C8C"/>
                </a:solidFill>
                <a:latin typeface="Calibri" pitchFamily="34" charset="0"/>
                <a:ea typeface="Calibri" pitchFamily="34" charset="-122"/>
                <a:cs typeface="Calibri" pitchFamily="34" charset="-120"/>
              </a:rPr>
              <a:t>02</a:t>
            </a:r>
            <a:endParaRPr lang="en-US" sz="1100" dirty="0"/>
          </a:p>
        </p:txBody>
      </p:sp>
      <p:sp>
        <p:nvSpPr>
          <p:cNvPr id="13" name="Text 11"/>
          <p:cNvSpPr txBox="1"/>
          <p:nvPr/>
        </p:nvSpPr>
        <p:spPr>
          <a:xfrm>
            <a:off x="6537960" y="3502152"/>
            <a:ext cx="4937760" cy="347472"/>
          </a:xfrm>
          <a:prstGeom prst="rect">
            <a:avLst/>
          </a:prstGeom>
          <a:noFill/>
          <a:ln/>
        </p:spPr>
        <p:txBody>
          <a:bodyPr wrap="square" lIns="0" tIns="0" rIns="0" bIns="0" rtlCol="0" anchor="ctr"/>
          <a:lstStyle/>
          <a:p>
            <a:pPr indent="0" marL="0">
              <a:buNone/>
            </a:pPr>
            <a:r>
              <a:rPr lang="en-US" sz="1400" b="1" dirty="0">
                <a:solidFill>
                  <a:srgbClr val="1E1B2E"/>
                </a:solidFill>
                <a:latin typeface="Calibri" pitchFamily="34" charset="0"/>
                <a:ea typeface="Calibri" pitchFamily="34" charset="-122"/>
                <a:cs typeface="Calibri" pitchFamily="34" charset="-120"/>
              </a:rPr>
              <a:t>Clinical Credibility</a:t>
            </a:r>
            <a:endParaRPr lang="en-US" sz="1400" dirty="0"/>
          </a:p>
        </p:txBody>
      </p:sp>
      <p:sp>
        <p:nvSpPr>
          <p:cNvPr id="14" name="Text 12"/>
          <p:cNvSpPr txBox="1"/>
          <p:nvPr/>
        </p:nvSpPr>
        <p:spPr>
          <a:xfrm>
            <a:off x="6537960" y="3886200"/>
            <a:ext cx="4937760" cy="7772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As an EMDRIA Approved Consultant, her product recommendations carry professional weight — not just influencer noise.</a:t>
            </a:r>
            <a:endParaRPr lang="en-US" sz="1150" dirty="0"/>
          </a:p>
        </p:txBody>
      </p:sp>
      <p:sp>
        <p:nvSpPr>
          <p:cNvPr id="15" name="Shape 13"/>
          <p:cNvSpPr/>
          <p:nvPr/>
        </p:nvSpPr>
        <p:spPr>
          <a:xfrm>
            <a:off x="5852160" y="4919472"/>
            <a:ext cx="5806440" cy="1481328"/>
          </a:xfrm>
          <a:prstGeom prst="rect">
            <a:avLst/>
          </a:prstGeom>
          <a:solidFill>
            <a:srgbClr val="EDE8F4"/>
          </a:solidFill>
          <a:ln w="9525">
            <a:solidFill>
              <a:srgbClr val="DDD5EA"/>
            </a:solidFill>
            <a:prstDash val="solid"/>
          </a:ln>
        </p:spPr>
      </p:sp>
      <p:sp>
        <p:nvSpPr>
          <p:cNvPr id="16" name="Text 14"/>
          <p:cNvSpPr txBox="1"/>
          <p:nvPr/>
        </p:nvSpPr>
        <p:spPr>
          <a:xfrm>
            <a:off x="6035040" y="5120640"/>
            <a:ext cx="457200" cy="365760"/>
          </a:xfrm>
          <a:prstGeom prst="rect">
            <a:avLst/>
          </a:prstGeom>
          <a:noFill/>
          <a:ln/>
        </p:spPr>
        <p:txBody>
          <a:bodyPr wrap="square" lIns="0" tIns="0" rIns="0" bIns="0" rtlCol="0" anchor="ctr"/>
          <a:lstStyle/>
          <a:p>
            <a:pPr indent="0" marL="0">
              <a:buNone/>
            </a:pPr>
            <a:r>
              <a:rPr lang="en-US" sz="1100" b="1" spc="100" kern="0" dirty="0">
                <a:solidFill>
                  <a:srgbClr val="7C5C8C"/>
                </a:solidFill>
                <a:latin typeface="Calibri" pitchFamily="34" charset="0"/>
                <a:ea typeface="Calibri" pitchFamily="34" charset="-122"/>
                <a:cs typeface="Calibri" pitchFamily="34" charset="-120"/>
              </a:rPr>
              <a:t>03</a:t>
            </a:r>
            <a:endParaRPr lang="en-US" sz="1100" dirty="0"/>
          </a:p>
        </p:txBody>
      </p:sp>
      <p:sp>
        <p:nvSpPr>
          <p:cNvPr id="17" name="Text 15"/>
          <p:cNvSpPr txBox="1"/>
          <p:nvPr/>
        </p:nvSpPr>
        <p:spPr>
          <a:xfrm>
            <a:off x="6537960" y="5102352"/>
            <a:ext cx="4937760" cy="347472"/>
          </a:xfrm>
          <a:prstGeom prst="rect">
            <a:avLst/>
          </a:prstGeom>
          <a:noFill/>
          <a:ln/>
        </p:spPr>
        <p:txBody>
          <a:bodyPr wrap="square" lIns="0" tIns="0" rIns="0" bIns="0" rtlCol="0" anchor="ctr"/>
          <a:lstStyle/>
          <a:p>
            <a:pPr indent="0" marL="0">
              <a:buNone/>
            </a:pPr>
            <a:r>
              <a:rPr lang="en-US" sz="1400" b="1" dirty="0">
                <a:solidFill>
                  <a:srgbClr val="1E1B2E"/>
                </a:solidFill>
                <a:latin typeface="Calibri" pitchFamily="34" charset="0"/>
                <a:ea typeface="Calibri" pitchFamily="34" charset="-122"/>
                <a:cs typeface="Calibri" pitchFamily="34" charset="-120"/>
              </a:rPr>
              <a:t>Viral Organic Reach</a:t>
            </a:r>
            <a:endParaRPr lang="en-US" sz="1400" dirty="0"/>
          </a:p>
        </p:txBody>
      </p:sp>
      <p:sp>
        <p:nvSpPr>
          <p:cNvPr id="18" name="Text 16"/>
          <p:cNvSpPr txBox="1"/>
          <p:nvPr/>
        </p:nvSpPr>
        <p:spPr>
          <a:xfrm>
            <a:off x="6537960" y="5486400"/>
            <a:ext cx="4937760" cy="7772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TikTok videos regularly hit 60K–120K+ views with only 2.5K followers. Sponsored content rides the same algorithm.</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463040"/>
          </a:xfrm>
          <a:prstGeom prst="rect">
            <a:avLst/>
          </a:prstGeom>
          <a:solidFill>
            <a:srgbClr val="1E1B2E"/>
          </a:solidFill>
          <a:ln w="12700">
            <a:solidFill>
              <a:srgbClr val="1E1B2E"/>
            </a:solidFill>
            <a:prstDash val="solid"/>
          </a:ln>
        </p:spPr>
      </p:sp>
      <p:sp>
        <p:nvSpPr>
          <p:cNvPr id="3" name="Text 1"/>
          <p:cNvSpPr txBox="1"/>
          <p:nvPr/>
        </p:nvSpPr>
        <p:spPr>
          <a:xfrm>
            <a:off x="640080" y="274320"/>
            <a:ext cx="7315200" cy="274320"/>
          </a:xfrm>
          <a:prstGeom prst="rect">
            <a:avLst/>
          </a:prstGeom>
          <a:noFill/>
          <a:ln/>
        </p:spPr>
        <p:txBody>
          <a:bodyPr wrap="square" lIns="0" tIns="0" rIns="0" bIns="0" rtlCol="0" anchor="ctr"/>
          <a:lstStyle/>
          <a:p>
            <a:pPr indent="0" marL="0">
              <a:buNone/>
            </a:pPr>
            <a:r>
              <a:rPr lang="en-US" sz="900" b="1" spc="400" kern="0" dirty="0">
                <a:solidFill>
                  <a:srgbClr val="B8A0C8"/>
                </a:solidFill>
                <a:latin typeface="Calibri" pitchFamily="34" charset="0"/>
                <a:ea typeface="Calibri" pitchFamily="34" charset="-122"/>
                <a:cs typeface="Calibri" pitchFamily="34" charset="-120"/>
              </a:rPr>
              <a:t>PLATFORM REACH</a:t>
            </a:r>
            <a:endParaRPr lang="en-US" sz="900" dirty="0"/>
          </a:p>
        </p:txBody>
      </p:sp>
      <p:sp>
        <p:nvSpPr>
          <p:cNvPr id="4" name="Text 2"/>
          <p:cNvSpPr txBox="1"/>
          <p:nvPr/>
        </p:nvSpPr>
        <p:spPr>
          <a:xfrm>
            <a:off x="640080" y="603504"/>
            <a:ext cx="9144000" cy="594360"/>
          </a:xfrm>
          <a:prstGeom prst="rect">
            <a:avLst/>
          </a:prstGeom>
          <a:noFill/>
          <a:ln/>
        </p:spPr>
        <p:txBody>
          <a:bodyPr wrap="square" lIns="0" tIns="0" rIns="0" bIns="0" rtlCol="0" anchor="ctr"/>
          <a:lstStyle/>
          <a:p>
            <a:pPr indent="0" marL="0">
              <a:buNone/>
            </a:pPr>
            <a:r>
              <a:rPr lang="en-US" sz="3000" b="1" dirty="0">
                <a:solidFill>
                  <a:srgbClr val="F0EBF8"/>
                </a:solidFill>
                <a:latin typeface="Cambria" pitchFamily="34" charset="0"/>
                <a:ea typeface="Cambria" pitchFamily="34" charset="-122"/>
                <a:cs typeface="Cambria" pitchFamily="34" charset="-120"/>
              </a:rPr>
              <a:t>By the Numbers</a:t>
            </a:r>
            <a:endParaRPr lang="en-US" sz="3000" dirty="0"/>
          </a:p>
        </p:txBody>
      </p:sp>
      <p:sp>
        <p:nvSpPr>
          <p:cNvPr id="5" name="Shape 3"/>
          <p:cNvSpPr/>
          <p:nvPr/>
        </p:nvSpPr>
        <p:spPr>
          <a:xfrm>
            <a:off x="502920" y="1627632"/>
            <a:ext cx="3611880" cy="4919472"/>
          </a:xfrm>
          <a:prstGeom prst="rect">
            <a:avLst/>
          </a:prstGeom>
          <a:solidFill>
            <a:srgbClr val="F6F4F9"/>
          </a:solidFill>
          <a:ln w="9525">
            <a:solidFill>
              <a:srgbClr val="DDD5EA"/>
            </a:solidFill>
            <a:prstDash val="solid"/>
          </a:ln>
        </p:spPr>
      </p:sp>
      <p:sp>
        <p:nvSpPr>
          <p:cNvPr id="6" name="Shape 4"/>
          <p:cNvSpPr/>
          <p:nvPr/>
        </p:nvSpPr>
        <p:spPr>
          <a:xfrm>
            <a:off x="502920" y="1627632"/>
            <a:ext cx="3611880" cy="109728"/>
          </a:xfrm>
          <a:prstGeom prst="rect">
            <a:avLst/>
          </a:prstGeom>
          <a:solidFill>
            <a:srgbClr val="7C5C8C"/>
          </a:solidFill>
          <a:ln w="12700">
            <a:solidFill>
              <a:srgbClr val="7C5C8C"/>
            </a:solidFill>
            <a:prstDash val="solid"/>
          </a:ln>
        </p:spPr>
      </p:sp>
      <p:sp>
        <p:nvSpPr>
          <p:cNvPr id="7" name="Text 5"/>
          <p:cNvSpPr txBox="1"/>
          <p:nvPr/>
        </p:nvSpPr>
        <p:spPr>
          <a:xfrm>
            <a:off x="502920" y="1993392"/>
            <a:ext cx="3611880" cy="274320"/>
          </a:xfrm>
          <a:prstGeom prst="rect">
            <a:avLst/>
          </a:prstGeom>
          <a:noFill/>
          <a:ln/>
        </p:spPr>
        <p:txBody>
          <a:bodyPr wrap="square" lIns="0" tIns="0" rIns="0" bIns="0" rtlCol="0" anchor="ctr"/>
          <a:lstStyle/>
          <a:p>
            <a:pPr algn="ctr" indent="0" marL="0">
              <a:buNone/>
            </a:pPr>
            <a:r>
              <a:rPr lang="en-US" sz="900" b="1" spc="350" kern="0" dirty="0">
                <a:solidFill>
                  <a:srgbClr val="8A9BAE"/>
                </a:solidFill>
                <a:latin typeface="Calibri" pitchFamily="34" charset="0"/>
                <a:ea typeface="Calibri" pitchFamily="34" charset="-122"/>
                <a:cs typeface="Calibri" pitchFamily="34" charset="-120"/>
              </a:rPr>
              <a:t>TIKTOK</a:t>
            </a:r>
            <a:endParaRPr lang="en-US" sz="900" dirty="0"/>
          </a:p>
        </p:txBody>
      </p:sp>
      <p:sp>
        <p:nvSpPr>
          <p:cNvPr id="8" name="Text 6"/>
          <p:cNvSpPr txBox="1"/>
          <p:nvPr/>
        </p:nvSpPr>
        <p:spPr>
          <a:xfrm>
            <a:off x="502920" y="2340864"/>
            <a:ext cx="3611880" cy="960120"/>
          </a:xfrm>
          <a:prstGeom prst="rect">
            <a:avLst/>
          </a:prstGeom>
          <a:noFill/>
          <a:ln/>
        </p:spPr>
        <p:txBody>
          <a:bodyPr wrap="square" lIns="0" tIns="0" rIns="0" bIns="0" rtlCol="0" anchor="ctr"/>
          <a:lstStyle/>
          <a:p>
            <a:pPr algn="ctr" indent="0" marL="0">
              <a:buNone/>
            </a:pPr>
            <a:r>
              <a:rPr lang="en-US" sz="5400" b="1" dirty="0">
                <a:solidFill>
                  <a:srgbClr val="1E1B2E"/>
                </a:solidFill>
                <a:latin typeface="Cambria" pitchFamily="34" charset="0"/>
                <a:ea typeface="Cambria" pitchFamily="34" charset="-122"/>
                <a:cs typeface="Cambria" pitchFamily="34" charset="-120"/>
              </a:rPr>
              <a:t>390K+</a:t>
            </a:r>
            <a:endParaRPr lang="en-US" sz="5400" dirty="0"/>
          </a:p>
        </p:txBody>
      </p:sp>
      <p:sp>
        <p:nvSpPr>
          <p:cNvPr id="9" name="Text 7"/>
          <p:cNvSpPr txBox="1"/>
          <p:nvPr/>
        </p:nvSpPr>
        <p:spPr>
          <a:xfrm>
            <a:off x="502920" y="3383280"/>
            <a:ext cx="3611880" cy="310896"/>
          </a:xfrm>
          <a:prstGeom prst="rect">
            <a:avLst/>
          </a:prstGeom>
          <a:noFill/>
          <a:ln/>
        </p:spPr>
        <p:txBody>
          <a:bodyPr wrap="square" lIns="0" tIns="0" rIns="0" bIns="0" rtlCol="0" anchor="ctr"/>
          <a:lstStyle/>
          <a:p>
            <a:pPr algn="ctr" indent="0" marL="0">
              <a:buNone/>
            </a:pPr>
            <a:r>
              <a:rPr lang="en-US" sz="1300" dirty="0">
                <a:solidFill>
                  <a:srgbClr val="4D5568"/>
                </a:solidFill>
                <a:latin typeface="Calibri" pitchFamily="34" charset="0"/>
                <a:ea typeface="Calibri" pitchFamily="34" charset="-122"/>
                <a:cs typeface="Calibri" pitchFamily="34" charset="-120"/>
              </a:rPr>
              <a:t>Total Likes</a:t>
            </a:r>
            <a:endParaRPr lang="en-US" sz="1300" dirty="0"/>
          </a:p>
        </p:txBody>
      </p:sp>
      <p:sp>
        <p:nvSpPr>
          <p:cNvPr id="10" name="Shape 8"/>
          <p:cNvSpPr/>
          <p:nvPr/>
        </p:nvSpPr>
        <p:spPr>
          <a:xfrm>
            <a:off x="1691640" y="3822192"/>
            <a:ext cx="1234440" cy="22860"/>
          </a:xfrm>
          <a:prstGeom prst="rect">
            <a:avLst/>
          </a:prstGeom>
          <a:solidFill>
            <a:srgbClr val="7C5C8C"/>
          </a:solidFill>
          <a:ln w="12700">
            <a:solidFill>
              <a:srgbClr val="7C5C8C"/>
            </a:solidFill>
            <a:prstDash val="solid"/>
          </a:ln>
        </p:spPr>
      </p:sp>
      <p:sp>
        <p:nvSpPr>
          <p:cNvPr id="11" name="Text 9"/>
          <p:cNvSpPr txBox="1"/>
          <p:nvPr/>
        </p:nvSpPr>
        <p:spPr>
          <a:xfrm>
            <a:off x="594360" y="3950208"/>
            <a:ext cx="3429000" cy="274320"/>
          </a:xfrm>
          <a:prstGeom prst="rect">
            <a:avLst/>
          </a:prstGeom>
          <a:noFill/>
          <a:ln/>
        </p:spPr>
        <p:txBody>
          <a:bodyPr wrap="square" lIns="0" tIns="0" rIns="0" bIns="0" rtlCol="0" anchor="ctr"/>
          <a:lstStyle/>
          <a:p>
            <a:pPr algn="ctr" indent="0" marL="0">
              <a:buNone/>
            </a:pPr>
            <a:r>
              <a:rPr lang="en-US" sz="1200" b="1" dirty="0">
                <a:solidFill>
                  <a:srgbClr val="7C5C8C"/>
                </a:solidFill>
                <a:latin typeface="Calibri" pitchFamily="34" charset="0"/>
                <a:ea typeface="Calibri" pitchFamily="34" charset="-122"/>
                <a:cs typeface="Calibri" pitchFamily="34" charset="-120"/>
              </a:rPr>
              <a:t>2,529 followers</a:t>
            </a:r>
            <a:endParaRPr lang="en-US" sz="1200" dirty="0"/>
          </a:p>
        </p:txBody>
      </p:sp>
      <p:sp>
        <p:nvSpPr>
          <p:cNvPr id="12" name="Text 10"/>
          <p:cNvSpPr txBox="1"/>
          <p:nvPr/>
        </p:nvSpPr>
        <p:spPr>
          <a:xfrm>
            <a:off x="685800" y="4279392"/>
            <a:ext cx="3246120" cy="502920"/>
          </a:xfrm>
          <a:prstGeom prst="rect">
            <a:avLst/>
          </a:prstGeom>
          <a:noFill/>
          <a:ln/>
        </p:spPr>
        <p:txBody>
          <a:bodyPr wrap="square" lIns="0" tIns="0" rIns="0" bIns="0" rtlCol="0" anchor="ctr"/>
          <a:lstStyle/>
          <a:p>
            <a:pPr algn="ctr" indent="0" marL="0">
              <a:buNone/>
            </a:pPr>
            <a:r>
              <a:rPr lang="en-US" sz="1100" dirty="0">
                <a:solidFill>
                  <a:srgbClr val="4D5568"/>
                </a:solidFill>
                <a:latin typeface="Calibri" pitchFamily="34" charset="0"/>
                <a:ea typeface="Calibri" pitchFamily="34" charset="-122"/>
                <a:cs typeface="Calibri" pitchFamily="34" charset="-120"/>
              </a:rPr>
              <a:t>Viral reach 60K–120K+ per video</a:t>
            </a:r>
            <a:endParaRPr lang="en-US" sz="1100" dirty="0"/>
          </a:p>
        </p:txBody>
      </p:sp>
      <p:sp>
        <p:nvSpPr>
          <p:cNvPr id="13" name="Shape 11"/>
          <p:cNvSpPr/>
          <p:nvPr/>
        </p:nvSpPr>
        <p:spPr>
          <a:xfrm>
            <a:off x="4398264" y="1627632"/>
            <a:ext cx="3611880" cy="4919472"/>
          </a:xfrm>
          <a:prstGeom prst="rect">
            <a:avLst/>
          </a:prstGeom>
          <a:solidFill>
            <a:srgbClr val="F6F4F9"/>
          </a:solidFill>
          <a:ln w="9525">
            <a:solidFill>
              <a:srgbClr val="DDD5EA"/>
            </a:solidFill>
            <a:prstDash val="solid"/>
          </a:ln>
        </p:spPr>
      </p:sp>
      <p:sp>
        <p:nvSpPr>
          <p:cNvPr id="14" name="Shape 12"/>
          <p:cNvSpPr/>
          <p:nvPr/>
        </p:nvSpPr>
        <p:spPr>
          <a:xfrm>
            <a:off x="4398264" y="1627632"/>
            <a:ext cx="3611880" cy="109728"/>
          </a:xfrm>
          <a:prstGeom prst="rect">
            <a:avLst/>
          </a:prstGeom>
          <a:solidFill>
            <a:srgbClr val="7C5C8C"/>
          </a:solidFill>
          <a:ln w="12700">
            <a:solidFill>
              <a:srgbClr val="7C5C8C"/>
            </a:solidFill>
            <a:prstDash val="solid"/>
          </a:ln>
        </p:spPr>
      </p:sp>
      <p:sp>
        <p:nvSpPr>
          <p:cNvPr id="15" name="Text 13"/>
          <p:cNvSpPr txBox="1"/>
          <p:nvPr/>
        </p:nvSpPr>
        <p:spPr>
          <a:xfrm>
            <a:off x="4398264" y="1993392"/>
            <a:ext cx="3611880" cy="274320"/>
          </a:xfrm>
          <a:prstGeom prst="rect">
            <a:avLst/>
          </a:prstGeom>
          <a:noFill/>
          <a:ln/>
        </p:spPr>
        <p:txBody>
          <a:bodyPr wrap="square" lIns="0" tIns="0" rIns="0" bIns="0" rtlCol="0" anchor="ctr"/>
          <a:lstStyle/>
          <a:p>
            <a:pPr algn="ctr" indent="0" marL="0">
              <a:buNone/>
            </a:pPr>
            <a:r>
              <a:rPr lang="en-US" sz="900" b="1" spc="350" kern="0" dirty="0">
                <a:solidFill>
                  <a:srgbClr val="8A9BAE"/>
                </a:solidFill>
                <a:latin typeface="Calibri" pitchFamily="34" charset="0"/>
                <a:ea typeface="Calibri" pitchFamily="34" charset="-122"/>
                <a:cs typeface="Calibri" pitchFamily="34" charset="-120"/>
              </a:rPr>
              <a:t>INSTAGRAM</a:t>
            </a:r>
            <a:endParaRPr lang="en-US" sz="900" dirty="0"/>
          </a:p>
        </p:txBody>
      </p:sp>
      <p:sp>
        <p:nvSpPr>
          <p:cNvPr id="16" name="Text 14"/>
          <p:cNvSpPr txBox="1"/>
          <p:nvPr/>
        </p:nvSpPr>
        <p:spPr>
          <a:xfrm>
            <a:off x="4398264" y="2340864"/>
            <a:ext cx="3611880" cy="960120"/>
          </a:xfrm>
          <a:prstGeom prst="rect">
            <a:avLst/>
          </a:prstGeom>
          <a:noFill/>
          <a:ln/>
        </p:spPr>
        <p:txBody>
          <a:bodyPr wrap="square" lIns="0" tIns="0" rIns="0" bIns="0" rtlCol="0" anchor="ctr"/>
          <a:lstStyle/>
          <a:p>
            <a:pPr algn="ctr" indent="0" marL="0">
              <a:buNone/>
            </a:pPr>
            <a:r>
              <a:rPr lang="en-US" sz="5400" b="1" dirty="0">
                <a:solidFill>
                  <a:srgbClr val="1E1B2E"/>
                </a:solidFill>
                <a:latin typeface="Cambria" pitchFamily="34" charset="0"/>
                <a:ea typeface="Cambria" pitchFamily="34" charset="-122"/>
                <a:cs typeface="Cambria" pitchFamily="34" charset="-120"/>
              </a:rPr>
              <a:t>8,836</a:t>
            </a:r>
            <a:endParaRPr lang="en-US" sz="5400" dirty="0"/>
          </a:p>
        </p:txBody>
      </p:sp>
      <p:sp>
        <p:nvSpPr>
          <p:cNvPr id="17" name="Text 15"/>
          <p:cNvSpPr txBox="1"/>
          <p:nvPr/>
        </p:nvSpPr>
        <p:spPr>
          <a:xfrm>
            <a:off x="4398264" y="3383280"/>
            <a:ext cx="3611880" cy="310896"/>
          </a:xfrm>
          <a:prstGeom prst="rect">
            <a:avLst/>
          </a:prstGeom>
          <a:noFill/>
          <a:ln/>
        </p:spPr>
        <p:txBody>
          <a:bodyPr wrap="square" lIns="0" tIns="0" rIns="0" bIns="0" rtlCol="0" anchor="ctr"/>
          <a:lstStyle/>
          <a:p>
            <a:pPr algn="ctr" indent="0" marL="0">
              <a:buNone/>
            </a:pPr>
            <a:r>
              <a:rPr lang="en-US" sz="1300" dirty="0">
                <a:solidFill>
                  <a:srgbClr val="4D5568"/>
                </a:solidFill>
                <a:latin typeface="Calibri" pitchFamily="34" charset="0"/>
                <a:ea typeface="Calibri" pitchFamily="34" charset="-122"/>
                <a:cs typeface="Calibri" pitchFamily="34" charset="-120"/>
              </a:rPr>
              <a:t>Followers</a:t>
            </a:r>
            <a:endParaRPr lang="en-US" sz="1300" dirty="0"/>
          </a:p>
        </p:txBody>
      </p:sp>
      <p:sp>
        <p:nvSpPr>
          <p:cNvPr id="18" name="Shape 16"/>
          <p:cNvSpPr/>
          <p:nvPr/>
        </p:nvSpPr>
        <p:spPr>
          <a:xfrm>
            <a:off x="5586984" y="3822192"/>
            <a:ext cx="1234440" cy="22860"/>
          </a:xfrm>
          <a:prstGeom prst="rect">
            <a:avLst/>
          </a:prstGeom>
          <a:solidFill>
            <a:srgbClr val="7C5C8C"/>
          </a:solidFill>
          <a:ln w="12700">
            <a:solidFill>
              <a:srgbClr val="7C5C8C"/>
            </a:solidFill>
            <a:prstDash val="solid"/>
          </a:ln>
        </p:spPr>
      </p:sp>
      <p:sp>
        <p:nvSpPr>
          <p:cNvPr id="19" name="Text 17"/>
          <p:cNvSpPr txBox="1"/>
          <p:nvPr/>
        </p:nvSpPr>
        <p:spPr>
          <a:xfrm>
            <a:off x="4489704" y="3950208"/>
            <a:ext cx="3429000" cy="274320"/>
          </a:xfrm>
          <a:prstGeom prst="rect">
            <a:avLst/>
          </a:prstGeom>
          <a:noFill/>
          <a:ln/>
        </p:spPr>
        <p:txBody>
          <a:bodyPr wrap="square" lIns="0" tIns="0" rIns="0" bIns="0" rtlCol="0" anchor="ctr"/>
          <a:lstStyle/>
          <a:p>
            <a:pPr algn="ctr" indent="0" marL="0">
              <a:buNone/>
            </a:pPr>
            <a:r>
              <a:rPr lang="en-US" sz="1200" b="1" dirty="0">
                <a:solidFill>
                  <a:srgbClr val="7C5C8C"/>
                </a:solidFill>
                <a:latin typeface="Calibri" pitchFamily="34" charset="0"/>
                <a:ea typeface="Calibri" pitchFamily="34" charset="-122"/>
                <a:cs typeface="Calibri" pitchFamily="34" charset="-120"/>
              </a:rPr>
              <a:t>309 posts</a:t>
            </a:r>
            <a:endParaRPr lang="en-US" sz="1200" dirty="0"/>
          </a:p>
        </p:txBody>
      </p:sp>
      <p:sp>
        <p:nvSpPr>
          <p:cNvPr id="20" name="Text 18"/>
          <p:cNvSpPr txBox="1"/>
          <p:nvPr/>
        </p:nvSpPr>
        <p:spPr>
          <a:xfrm>
            <a:off x="4581144" y="4279392"/>
            <a:ext cx="3246120" cy="502920"/>
          </a:xfrm>
          <a:prstGeom prst="rect">
            <a:avLst/>
          </a:prstGeom>
          <a:noFill/>
          <a:ln/>
        </p:spPr>
        <p:txBody>
          <a:bodyPr wrap="square" lIns="0" tIns="0" rIns="0" bIns="0" rtlCol="0" anchor="ctr"/>
          <a:lstStyle/>
          <a:p>
            <a:pPr algn="ctr" indent="0" marL="0">
              <a:buNone/>
            </a:pPr>
            <a:r>
              <a:rPr lang="en-US" sz="1100" dirty="0">
                <a:solidFill>
                  <a:srgbClr val="4D5568"/>
                </a:solidFill>
                <a:latin typeface="Calibri" pitchFamily="34" charset="0"/>
                <a:ea typeface="Calibri" pitchFamily="34" charset="-122"/>
                <a:cs typeface="Calibri" pitchFamily="34" charset="-120"/>
              </a:rPr>
              <a:t>Engaged clinician community</a:t>
            </a:r>
            <a:endParaRPr lang="en-US" sz="1100" dirty="0"/>
          </a:p>
        </p:txBody>
      </p:sp>
      <p:sp>
        <p:nvSpPr>
          <p:cNvPr id="21" name="Shape 19"/>
          <p:cNvSpPr/>
          <p:nvPr/>
        </p:nvSpPr>
        <p:spPr>
          <a:xfrm>
            <a:off x="8293608" y="1627632"/>
            <a:ext cx="3611880" cy="4919472"/>
          </a:xfrm>
          <a:prstGeom prst="rect">
            <a:avLst/>
          </a:prstGeom>
          <a:solidFill>
            <a:srgbClr val="F6F4F9"/>
          </a:solidFill>
          <a:ln w="9525">
            <a:solidFill>
              <a:srgbClr val="DDD5EA"/>
            </a:solidFill>
            <a:prstDash val="solid"/>
          </a:ln>
        </p:spPr>
      </p:sp>
      <p:sp>
        <p:nvSpPr>
          <p:cNvPr id="22" name="Shape 20"/>
          <p:cNvSpPr/>
          <p:nvPr/>
        </p:nvSpPr>
        <p:spPr>
          <a:xfrm>
            <a:off x="8293608" y="1627632"/>
            <a:ext cx="3611880" cy="109728"/>
          </a:xfrm>
          <a:prstGeom prst="rect">
            <a:avLst/>
          </a:prstGeom>
          <a:solidFill>
            <a:srgbClr val="7C5C8C"/>
          </a:solidFill>
          <a:ln w="12700">
            <a:solidFill>
              <a:srgbClr val="7C5C8C"/>
            </a:solidFill>
            <a:prstDash val="solid"/>
          </a:ln>
        </p:spPr>
      </p:sp>
      <p:sp>
        <p:nvSpPr>
          <p:cNvPr id="23" name="Text 21"/>
          <p:cNvSpPr txBox="1"/>
          <p:nvPr/>
        </p:nvSpPr>
        <p:spPr>
          <a:xfrm>
            <a:off x="8293608" y="1993392"/>
            <a:ext cx="3611880" cy="274320"/>
          </a:xfrm>
          <a:prstGeom prst="rect">
            <a:avLst/>
          </a:prstGeom>
          <a:noFill/>
          <a:ln/>
        </p:spPr>
        <p:txBody>
          <a:bodyPr wrap="square" lIns="0" tIns="0" rIns="0" bIns="0" rtlCol="0" anchor="ctr"/>
          <a:lstStyle/>
          <a:p>
            <a:pPr algn="ctr" indent="0" marL="0">
              <a:buNone/>
            </a:pPr>
            <a:r>
              <a:rPr lang="en-US" sz="900" b="1" spc="350" kern="0" dirty="0">
                <a:solidFill>
                  <a:srgbClr val="8A9BAE"/>
                </a:solidFill>
                <a:latin typeface="Calibri" pitchFamily="34" charset="0"/>
                <a:ea typeface="Calibri" pitchFamily="34" charset="-122"/>
                <a:cs typeface="Calibri" pitchFamily="34" charset="-120"/>
              </a:rPr>
              <a:t>FACEBOOK</a:t>
            </a:r>
            <a:endParaRPr lang="en-US" sz="900" dirty="0"/>
          </a:p>
        </p:txBody>
      </p:sp>
      <p:sp>
        <p:nvSpPr>
          <p:cNvPr id="24" name="Text 22"/>
          <p:cNvSpPr txBox="1"/>
          <p:nvPr/>
        </p:nvSpPr>
        <p:spPr>
          <a:xfrm>
            <a:off x="8293608" y="2340864"/>
            <a:ext cx="3611880" cy="960120"/>
          </a:xfrm>
          <a:prstGeom prst="rect">
            <a:avLst/>
          </a:prstGeom>
          <a:noFill/>
          <a:ln/>
        </p:spPr>
        <p:txBody>
          <a:bodyPr wrap="square" lIns="0" tIns="0" rIns="0" bIns="0" rtlCol="0" anchor="ctr"/>
          <a:lstStyle/>
          <a:p>
            <a:pPr algn="ctr" indent="0" marL="0">
              <a:buNone/>
            </a:pPr>
            <a:r>
              <a:rPr lang="en-US" sz="5400" b="1" dirty="0">
                <a:solidFill>
                  <a:srgbClr val="1E1B2E"/>
                </a:solidFill>
                <a:latin typeface="Cambria" pitchFamily="34" charset="0"/>
                <a:ea typeface="Cambria" pitchFamily="34" charset="-122"/>
                <a:cs typeface="Cambria" pitchFamily="34" charset="-120"/>
              </a:rPr>
              <a:t>209</a:t>
            </a:r>
            <a:endParaRPr lang="en-US" sz="5400" dirty="0"/>
          </a:p>
        </p:txBody>
      </p:sp>
      <p:sp>
        <p:nvSpPr>
          <p:cNvPr id="25" name="Text 23"/>
          <p:cNvSpPr txBox="1"/>
          <p:nvPr/>
        </p:nvSpPr>
        <p:spPr>
          <a:xfrm>
            <a:off x="8293608" y="3383280"/>
            <a:ext cx="3611880" cy="310896"/>
          </a:xfrm>
          <a:prstGeom prst="rect">
            <a:avLst/>
          </a:prstGeom>
          <a:noFill/>
          <a:ln/>
        </p:spPr>
        <p:txBody>
          <a:bodyPr wrap="square" lIns="0" tIns="0" rIns="0" bIns="0" rtlCol="0" anchor="ctr"/>
          <a:lstStyle/>
          <a:p>
            <a:pPr algn="ctr" indent="0" marL="0">
              <a:buNone/>
            </a:pPr>
            <a:r>
              <a:rPr lang="en-US" sz="1300" dirty="0">
                <a:solidFill>
                  <a:srgbClr val="4D5568"/>
                </a:solidFill>
                <a:latin typeface="Calibri" pitchFamily="34" charset="0"/>
                <a:ea typeface="Calibri" pitchFamily="34" charset="-122"/>
                <a:cs typeface="Calibri" pitchFamily="34" charset="-120"/>
              </a:rPr>
              <a:t>Followers</a:t>
            </a:r>
            <a:endParaRPr lang="en-US" sz="1300" dirty="0"/>
          </a:p>
        </p:txBody>
      </p:sp>
      <p:sp>
        <p:nvSpPr>
          <p:cNvPr id="26" name="Shape 24"/>
          <p:cNvSpPr/>
          <p:nvPr/>
        </p:nvSpPr>
        <p:spPr>
          <a:xfrm>
            <a:off x="9482328" y="3822192"/>
            <a:ext cx="1234440" cy="22860"/>
          </a:xfrm>
          <a:prstGeom prst="rect">
            <a:avLst/>
          </a:prstGeom>
          <a:solidFill>
            <a:srgbClr val="7C5C8C"/>
          </a:solidFill>
          <a:ln w="12700">
            <a:solidFill>
              <a:srgbClr val="7C5C8C"/>
            </a:solidFill>
            <a:prstDash val="solid"/>
          </a:ln>
        </p:spPr>
      </p:sp>
      <p:sp>
        <p:nvSpPr>
          <p:cNvPr id="27" name="Text 25"/>
          <p:cNvSpPr txBox="1"/>
          <p:nvPr/>
        </p:nvSpPr>
        <p:spPr>
          <a:xfrm>
            <a:off x="8385048" y="3950208"/>
            <a:ext cx="3429000" cy="274320"/>
          </a:xfrm>
          <a:prstGeom prst="rect">
            <a:avLst/>
          </a:prstGeom>
          <a:noFill/>
          <a:ln/>
        </p:spPr>
        <p:txBody>
          <a:bodyPr wrap="square" lIns="0" tIns="0" rIns="0" bIns="0" rtlCol="0" anchor="ctr"/>
          <a:lstStyle/>
          <a:p>
            <a:pPr algn="ctr" indent="0" marL="0">
              <a:buNone/>
            </a:pPr>
            <a:r>
              <a:rPr lang="en-US" sz="1200" b="1" dirty="0">
                <a:solidFill>
                  <a:srgbClr val="7C5C8C"/>
                </a:solidFill>
                <a:latin typeface="Calibri" pitchFamily="34" charset="0"/>
                <a:ea typeface="Calibri" pitchFamily="34" charset="-122"/>
                <a:cs typeface="Calibri" pitchFamily="34" charset="-120"/>
              </a:rPr>
              <a:t>Growing audience</a:t>
            </a:r>
            <a:endParaRPr lang="en-US" sz="1200" dirty="0"/>
          </a:p>
        </p:txBody>
      </p:sp>
      <p:sp>
        <p:nvSpPr>
          <p:cNvPr id="28" name="Text 26"/>
          <p:cNvSpPr txBox="1"/>
          <p:nvPr/>
        </p:nvSpPr>
        <p:spPr>
          <a:xfrm>
            <a:off x="8476488" y="4279392"/>
            <a:ext cx="3246120" cy="502920"/>
          </a:xfrm>
          <a:prstGeom prst="rect">
            <a:avLst/>
          </a:prstGeom>
          <a:noFill/>
          <a:ln/>
        </p:spPr>
        <p:txBody>
          <a:bodyPr wrap="square" lIns="0" tIns="0" rIns="0" bIns="0" rtlCol="0" anchor="ctr"/>
          <a:lstStyle/>
          <a:p>
            <a:pPr algn="ctr" indent="0" marL="0">
              <a:buNone/>
            </a:pPr>
            <a:r>
              <a:rPr lang="en-US" sz="1100" dirty="0">
                <a:solidFill>
                  <a:srgbClr val="4D5568"/>
                </a:solidFill>
                <a:latin typeface="Calibri" pitchFamily="34" charset="0"/>
                <a:ea typeface="Calibri" pitchFamily="34" charset="-122"/>
                <a:cs typeface="Calibri" pitchFamily="34" charset="-120"/>
              </a:rPr>
              <a:t>Linked to IG presence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394960" cy="6858000"/>
          </a:xfrm>
          <a:prstGeom prst="rect">
            <a:avLst/>
          </a:prstGeom>
          <a:solidFill>
            <a:srgbClr val="1E1B2E"/>
          </a:solidFill>
          <a:ln w="12700">
            <a:solidFill>
              <a:srgbClr val="1E1B2E"/>
            </a:solidFill>
            <a:prstDash val="solid"/>
          </a:ln>
        </p:spPr>
      </p:sp>
      <p:sp>
        <p:nvSpPr>
          <p:cNvPr id="3" name="Shape 1"/>
          <p:cNvSpPr/>
          <p:nvPr/>
        </p:nvSpPr>
        <p:spPr>
          <a:xfrm>
            <a:off x="0" y="0"/>
            <a:ext cx="5394960" cy="228600"/>
          </a:xfrm>
          <a:prstGeom prst="rect">
            <a:avLst/>
          </a:prstGeom>
          <a:solidFill>
            <a:srgbClr val="7C5C8C"/>
          </a:solidFill>
          <a:ln w="12700">
            <a:solidFill>
              <a:srgbClr val="7C5C8C"/>
            </a:solidFill>
            <a:prstDash val="solid"/>
          </a:ln>
        </p:spPr>
      </p:sp>
      <p:sp>
        <p:nvSpPr>
          <p:cNvPr id="4" name="Text 2"/>
          <p:cNvSpPr txBox="1"/>
          <p:nvPr/>
        </p:nvSpPr>
        <p:spPr>
          <a:xfrm>
            <a:off x="548640" y="777240"/>
            <a:ext cx="4389120" cy="256032"/>
          </a:xfrm>
          <a:prstGeom prst="rect">
            <a:avLst/>
          </a:prstGeom>
          <a:noFill/>
          <a:ln/>
        </p:spPr>
        <p:txBody>
          <a:bodyPr wrap="square" lIns="0" tIns="0" rIns="0" bIns="0" rtlCol="0" anchor="ctr"/>
          <a:lstStyle/>
          <a:p>
            <a:pPr indent="0" marL="0">
              <a:buNone/>
            </a:pPr>
            <a:r>
              <a:rPr lang="en-US" sz="900" b="1" spc="400" kern="0" dirty="0">
                <a:solidFill>
                  <a:srgbClr val="B8A0C8"/>
                </a:solidFill>
                <a:latin typeface="Calibri" pitchFamily="34" charset="0"/>
                <a:ea typeface="Calibri" pitchFamily="34" charset="-122"/>
                <a:cs typeface="Calibri" pitchFamily="34" charset="-120"/>
              </a:rPr>
              <a:t>ABOUT &amp; CREDENTIALS</a:t>
            </a:r>
            <a:endParaRPr lang="en-US" sz="900" dirty="0"/>
          </a:p>
        </p:txBody>
      </p:sp>
      <p:sp>
        <p:nvSpPr>
          <p:cNvPr id="5" name="Text 3"/>
          <p:cNvSpPr txBox="1"/>
          <p:nvPr/>
        </p:nvSpPr>
        <p:spPr>
          <a:xfrm>
            <a:off x="548640" y="1115568"/>
            <a:ext cx="4389120" cy="1691640"/>
          </a:xfrm>
          <a:prstGeom prst="rect">
            <a:avLst/>
          </a:prstGeom>
          <a:noFill/>
          <a:ln/>
        </p:spPr>
        <p:txBody>
          <a:bodyPr wrap="square" lIns="0" tIns="0" rIns="0" bIns="0" rtlCol="0" anchor="ctr"/>
          <a:lstStyle/>
          <a:p>
            <a:pPr indent="0" marL="0">
              <a:buNone/>
            </a:pPr>
            <a:r>
              <a:rPr lang="en-US" sz="4600" b="1" dirty="0">
                <a:solidFill>
                  <a:srgbClr val="F0EBF8"/>
                </a:solidFill>
                <a:latin typeface="Cambria" pitchFamily="34" charset="0"/>
                <a:ea typeface="Cambria" pitchFamily="34" charset="-122"/>
                <a:cs typeface="Cambria" pitchFamily="34" charset="-120"/>
              </a:rPr>
              <a:t>Steph</a:t>
            </a:r>
            <a:endParaRPr lang="en-US" sz="4600" dirty="0"/>
          </a:p>
          <a:p>
            <a:pPr indent="0" marL="0">
              <a:buNone/>
            </a:pPr>
            <a:r>
              <a:rPr lang="en-US" sz="4600" b="1" dirty="0">
                <a:solidFill>
                  <a:srgbClr val="F0EBF8"/>
                </a:solidFill>
                <a:latin typeface="Cambria" pitchFamily="34" charset="0"/>
                <a:ea typeface="Cambria" pitchFamily="34" charset="-122"/>
                <a:cs typeface="Cambria" pitchFamily="34" charset="-120"/>
              </a:rPr>
              <a:t>Brashear</a:t>
            </a:r>
            <a:endParaRPr lang="en-US" sz="4600" dirty="0"/>
          </a:p>
        </p:txBody>
      </p:sp>
      <p:sp>
        <p:nvSpPr>
          <p:cNvPr id="6" name="Text 4"/>
          <p:cNvSpPr txBox="1"/>
          <p:nvPr/>
        </p:nvSpPr>
        <p:spPr>
          <a:xfrm>
            <a:off x="548640" y="2907792"/>
            <a:ext cx="4389120" cy="292608"/>
          </a:xfrm>
          <a:prstGeom prst="rect">
            <a:avLst/>
          </a:prstGeom>
          <a:noFill/>
          <a:ln/>
        </p:spPr>
        <p:txBody>
          <a:bodyPr wrap="square" lIns="0" tIns="0" rIns="0" bIns="0" rtlCol="0" anchor="ctr"/>
          <a:lstStyle/>
          <a:p>
            <a:pPr indent="0" marL="0">
              <a:buNone/>
            </a:pPr>
            <a:r>
              <a:rPr lang="en-US" sz="1200" dirty="0">
                <a:solidFill>
                  <a:srgbClr val="B8A0C8"/>
                </a:solidFill>
                <a:latin typeface="Calibri" pitchFamily="34" charset="0"/>
                <a:ea typeface="Calibri" pitchFamily="34" charset="-122"/>
                <a:cs typeface="Calibri" pitchFamily="34" charset="-120"/>
              </a:rPr>
              <a:t>@steph.goes.with.that</a:t>
            </a:r>
            <a:endParaRPr lang="en-US" sz="1200" dirty="0"/>
          </a:p>
        </p:txBody>
      </p:sp>
      <p:sp>
        <p:nvSpPr>
          <p:cNvPr id="7" name="Text 5"/>
          <p:cNvSpPr txBox="1"/>
          <p:nvPr/>
        </p:nvSpPr>
        <p:spPr>
          <a:xfrm>
            <a:off x="548640" y="3364992"/>
            <a:ext cx="4297680" cy="1554480"/>
          </a:xfrm>
          <a:prstGeom prst="rect">
            <a:avLst/>
          </a:prstGeom>
          <a:noFill/>
          <a:ln/>
        </p:spPr>
        <p:txBody>
          <a:bodyPr wrap="square" lIns="0" tIns="0" rIns="0" bIns="0" rtlCol="0" anchor="ctr"/>
          <a:lstStyle/>
          <a:p>
            <a:pPr indent="0" marL="0">
              <a:buNone/>
            </a:pPr>
            <a:r>
              <a:rPr lang="en-US" sz="1400" i="1" dirty="0">
                <a:solidFill>
                  <a:srgbClr val="A090C0"/>
                </a:solidFill>
                <a:latin typeface="Cambria" pitchFamily="34" charset="0"/>
                <a:ea typeface="Cambria" pitchFamily="34" charset="-122"/>
                <a:cs typeface="Cambria" pitchFamily="34" charset="-120"/>
              </a:rPr>
              <a:t>"A popular mental health creator and EMDR consultant known for sharing relatable insights on therapy and emotional healing."</a:t>
            </a:r>
            <a:endParaRPr lang="en-US" sz="1400" dirty="0"/>
          </a:p>
        </p:txBody>
      </p:sp>
      <p:sp>
        <p:nvSpPr>
          <p:cNvPr id="8" name="Text 6"/>
          <p:cNvSpPr txBox="1"/>
          <p:nvPr/>
        </p:nvSpPr>
        <p:spPr>
          <a:xfrm>
            <a:off x="548640" y="4983480"/>
            <a:ext cx="4389120" cy="256032"/>
          </a:xfrm>
          <a:prstGeom prst="rect">
            <a:avLst/>
          </a:prstGeom>
          <a:noFill/>
          <a:ln/>
        </p:spPr>
        <p:txBody>
          <a:bodyPr wrap="square" lIns="0" tIns="0" rIns="0" bIns="0" rtlCol="0" anchor="ctr"/>
          <a:lstStyle/>
          <a:p>
            <a:pPr indent="0" marL="0">
              <a:buNone/>
            </a:pPr>
            <a:r>
              <a:rPr lang="en-US" sz="1000" dirty="0">
                <a:solidFill>
                  <a:srgbClr val="8A9BAE"/>
                </a:solidFill>
                <a:latin typeface="Calibri" pitchFamily="34" charset="0"/>
                <a:ea typeface="Calibri" pitchFamily="34" charset="-122"/>
                <a:cs typeface="Calibri" pitchFamily="34" charset="-120"/>
              </a:rPr>
              <a:t>— Google AI Overview</a:t>
            </a:r>
            <a:endParaRPr lang="en-US" sz="1000" dirty="0"/>
          </a:p>
        </p:txBody>
      </p:sp>
      <p:sp>
        <p:nvSpPr>
          <p:cNvPr id="9" name="Text 7"/>
          <p:cNvSpPr txBox="1"/>
          <p:nvPr/>
        </p:nvSpPr>
        <p:spPr>
          <a:xfrm>
            <a:off x="5852160" y="685800"/>
            <a:ext cx="5806440" cy="731520"/>
          </a:xfrm>
          <a:prstGeom prst="rect">
            <a:avLst/>
          </a:prstGeom>
          <a:noFill/>
          <a:ln/>
        </p:spPr>
        <p:txBody>
          <a:bodyPr wrap="square" lIns="0" tIns="0" rIns="0" bIns="0" rtlCol="0" anchor="ctr"/>
          <a:lstStyle/>
          <a:p>
            <a:pPr indent="0" marL="0">
              <a:buNone/>
            </a:pPr>
            <a:r>
              <a:rPr lang="en-US" sz="1800" b="1" dirty="0">
                <a:solidFill>
                  <a:srgbClr val="1E1B2E"/>
                </a:solidFill>
                <a:latin typeface="Cambria" pitchFamily="34" charset="0"/>
                <a:ea typeface="Cambria" pitchFamily="34" charset="-122"/>
                <a:cs typeface="Cambria" pitchFamily="34" charset="-120"/>
              </a:rPr>
              <a:t>Licensed EMDR Therapist &amp; EMDRIA Approved Consultant</a:t>
            </a:r>
            <a:endParaRPr lang="en-US" sz="1800" dirty="0"/>
          </a:p>
        </p:txBody>
      </p:sp>
      <p:sp>
        <p:nvSpPr>
          <p:cNvPr id="10" name="Text 8"/>
          <p:cNvSpPr txBox="1"/>
          <p:nvPr/>
        </p:nvSpPr>
        <p:spPr>
          <a:xfrm>
            <a:off x="5852160" y="1536192"/>
            <a:ext cx="5806440" cy="3246120"/>
          </a:xfrm>
          <a:prstGeom prst="rect">
            <a:avLst/>
          </a:prstGeom>
          <a:noFill/>
          <a:ln/>
        </p:spPr>
        <p:txBody>
          <a:bodyPr wrap="square" lIns="0" tIns="0" rIns="0" bIns="0" rtlCol="0" anchor="ctr"/>
          <a:lstStyle/>
          <a:p>
            <a:pPr indent="0" marL="0">
              <a:lnSpc>
                <a:spcPct val="130000"/>
              </a:lnSpc>
              <a:buNone/>
            </a:pPr>
            <a:r>
              <a:rPr lang="en-US" sz="1300" dirty="0">
                <a:solidFill>
                  <a:srgbClr val="4D5568"/>
                </a:solidFill>
                <a:latin typeface="Calibri" pitchFamily="34" charset="0"/>
                <a:ea typeface="Calibri" pitchFamily="34" charset="-122"/>
                <a:cs typeface="Calibri" pitchFamily="34" charset="-120"/>
              </a:rPr>
              <a:t>Stephanie Brashear is a licensed EMDR Therapist and EMDRIA Approved Consultant — one of a smaller number of clinicians certified to train and supervise other therapists in EMDR, the evidence-based trauma treatment recognized by the WHO and APA.</a:t>
            </a:r>
            <a:endParaRPr lang="en-US" sz="1300" dirty="0"/>
          </a:p>
          <a:p>
            <a:pPr indent="0" marL="0">
              <a:lnSpc>
                <a:spcPct val="130000"/>
              </a:lnSpc>
              <a:buNone/>
            </a:pPr>
            <a:endParaRPr lang="en-US" sz="1300" dirty="0"/>
          </a:p>
          <a:p>
            <a:pPr indent="0" marL="0">
              <a:lnSpc>
                <a:spcPct val="130000"/>
              </a:lnSpc>
              <a:buNone/>
            </a:pPr>
            <a:r>
              <a:rPr lang="en-US" sz="1300" dirty="0">
                <a:solidFill>
                  <a:srgbClr val="4D5568"/>
                </a:solidFill>
                <a:latin typeface="Calibri" pitchFamily="34" charset="0"/>
                <a:ea typeface="Calibri" pitchFamily="34" charset="-122"/>
                <a:cs typeface="Calibri" pitchFamily="34" charset="-120"/>
              </a:rPr>
              <a:t>She specializes in CPTSD, religious trauma, and IFS — and has built an audience of clinicians and clients who trust her to explain complex therapeutic concepts clearly.</a:t>
            </a:r>
            <a:endParaRPr lang="en-US" sz="1300" dirty="0"/>
          </a:p>
          <a:p>
            <a:pPr indent="0" marL="0">
              <a:lnSpc>
                <a:spcPct val="130000"/>
              </a:lnSpc>
              <a:buNone/>
            </a:pPr>
            <a:endParaRPr lang="en-US" sz="1300" dirty="0"/>
          </a:p>
          <a:p>
            <a:pPr indent="0" marL="0">
              <a:lnSpc>
                <a:spcPct val="130000"/>
              </a:lnSpc>
              <a:buNone/>
            </a:pPr>
            <a:r>
              <a:rPr lang="en-US" sz="1300" dirty="0">
                <a:solidFill>
                  <a:srgbClr val="4D5568"/>
                </a:solidFill>
                <a:latin typeface="Calibri" pitchFamily="34" charset="0"/>
                <a:ea typeface="Calibri" pitchFamily="34" charset="-122"/>
                <a:cs typeface="Calibri" pitchFamily="34" charset="-120"/>
              </a:rPr>
              <a:t>Her content reaches licensed therapists making active decisions about practice tools, software, and continuing education — as well as their clients, who often influence those choices.</a:t>
            </a:r>
            <a:endParaRPr lang="en-US" sz="1300" dirty="0"/>
          </a:p>
        </p:txBody>
      </p:sp>
      <p:sp>
        <p:nvSpPr>
          <p:cNvPr id="11" name="Shape 9"/>
          <p:cNvSpPr/>
          <p:nvPr/>
        </p:nvSpPr>
        <p:spPr>
          <a:xfrm>
            <a:off x="5852160" y="4937760"/>
            <a:ext cx="2532888" cy="329184"/>
          </a:xfrm>
          <a:prstGeom prst="rect">
            <a:avLst/>
          </a:prstGeom>
          <a:solidFill>
            <a:srgbClr val="EDE8F4"/>
          </a:solidFill>
          <a:ln w="9525">
            <a:solidFill>
              <a:srgbClr val="DDD5EA"/>
            </a:solidFill>
            <a:prstDash val="solid"/>
          </a:ln>
        </p:spPr>
      </p:sp>
      <p:sp>
        <p:nvSpPr>
          <p:cNvPr id="12" name="Text 10"/>
          <p:cNvSpPr txBox="1"/>
          <p:nvPr/>
        </p:nvSpPr>
        <p:spPr>
          <a:xfrm>
            <a:off x="5852160" y="4937760"/>
            <a:ext cx="2532888" cy="329184"/>
          </a:xfrm>
          <a:prstGeom prst="rect">
            <a:avLst/>
          </a:prstGeom>
          <a:noFill/>
          <a:ln/>
        </p:spPr>
        <p:txBody>
          <a:bodyPr wrap="square" rtlCol="0" anchor="ctr"/>
          <a:lstStyle/>
          <a:p>
            <a:pPr algn="ctr" indent="0" marL="0">
              <a:buNone/>
            </a:pPr>
            <a:r>
              <a:rPr lang="en-US" sz="1050" dirty="0">
                <a:solidFill>
                  <a:srgbClr val="4A4060"/>
                </a:solidFill>
                <a:latin typeface="Calibri" pitchFamily="34" charset="0"/>
                <a:ea typeface="Calibri" pitchFamily="34" charset="-122"/>
                <a:cs typeface="Calibri" pitchFamily="34" charset="-120"/>
              </a:rPr>
              <a:t>EMDRIA Approved Consultant</a:t>
            </a:r>
            <a:endParaRPr lang="en-US" sz="1050" dirty="0"/>
          </a:p>
        </p:txBody>
      </p:sp>
      <p:sp>
        <p:nvSpPr>
          <p:cNvPr id="13" name="Shape 11"/>
          <p:cNvSpPr/>
          <p:nvPr/>
        </p:nvSpPr>
        <p:spPr>
          <a:xfrm>
            <a:off x="8513064" y="4937760"/>
            <a:ext cx="2532888" cy="329184"/>
          </a:xfrm>
          <a:prstGeom prst="rect">
            <a:avLst/>
          </a:prstGeom>
          <a:solidFill>
            <a:srgbClr val="EDE8F4"/>
          </a:solidFill>
          <a:ln w="9525">
            <a:solidFill>
              <a:srgbClr val="DDD5EA"/>
            </a:solidFill>
            <a:prstDash val="solid"/>
          </a:ln>
        </p:spPr>
      </p:sp>
      <p:sp>
        <p:nvSpPr>
          <p:cNvPr id="14" name="Text 12"/>
          <p:cNvSpPr txBox="1"/>
          <p:nvPr/>
        </p:nvSpPr>
        <p:spPr>
          <a:xfrm>
            <a:off x="8513064" y="4937760"/>
            <a:ext cx="2532888" cy="329184"/>
          </a:xfrm>
          <a:prstGeom prst="rect">
            <a:avLst/>
          </a:prstGeom>
          <a:noFill/>
          <a:ln/>
        </p:spPr>
        <p:txBody>
          <a:bodyPr wrap="square" rtlCol="0" anchor="ctr"/>
          <a:lstStyle/>
          <a:p>
            <a:pPr algn="ctr" indent="0" marL="0">
              <a:buNone/>
            </a:pPr>
            <a:r>
              <a:rPr lang="en-US" sz="1050" dirty="0">
                <a:solidFill>
                  <a:srgbClr val="4A4060"/>
                </a:solidFill>
                <a:latin typeface="Calibri" pitchFamily="34" charset="0"/>
                <a:ea typeface="Calibri" pitchFamily="34" charset="-122"/>
                <a:cs typeface="Calibri" pitchFamily="34" charset="-120"/>
              </a:rPr>
              <a:t>Licensed RI · SC · ID · OH</a:t>
            </a:r>
            <a:endParaRPr lang="en-US" sz="1050" dirty="0"/>
          </a:p>
        </p:txBody>
      </p:sp>
      <p:sp>
        <p:nvSpPr>
          <p:cNvPr id="15" name="Shape 13"/>
          <p:cNvSpPr/>
          <p:nvPr/>
        </p:nvSpPr>
        <p:spPr>
          <a:xfrm>
            <a:off x="5852160" y="5394960"/>
            <a:ext cx="1664208" cy="329184"/>
          </a:xfrm>
          <a:prstGeom prst="rect">
            <a:avLst/>
          </a:prstGeom>
          <a:solidFill>
            <a:srgbClr val="EDE8F4"/>
          </a:solidFill>
          <a:ln w="9525">
            <a:solidFill>
              <a:srgbClr val="DDD5EA"/>
            </a:solidFill>
            <a:prstDash val="solid"/>
          </a:ln>
        </p:spPr>
      </p:sp>
      <p:sp>
        <p:nvSpPr>
          <p:cNvPr id="16" name="Text 14"/>
          <p:cNvSpPr txBox="1"/>
          <p:nvPr/>
        </p:nvSpPr>
        <p:spPr>
          <a:xfrm>
            <a:off x="5852160" y="5394960"/>
            <a:ext cx="1664208" cy="329184"/>
          </a:xfrm>
          <a:prstGeom prst="rect">
            <a:avLst/>
          </a:prstGeom>
          <a:noFill/>
          <a:ln/>
        </p:spPr>
        <p:txBody>
          <a:bodyPr wrap="square" rtlCol="0" anchor="ctr"/>
          <a:lstStyle/>
          <a:p>
            <a:pPr algn="ctr" indent="0" marL="0">
              <a:buNone/>
            </a:pPr>
            <a:r>
              <a:rPr lang="en-US" sz="1050" dirty="0">
                <a:solidFill>
                  <a:srgbClr val="4A4060"/>
                </a:solidFill>
                <a:latin typeface="Calibri" pitchFamily="34" charset="0"/>
                <a:ea typeface="Calibri" pitchFamily="34" charset="-122"/>
                <a:cs typeface="Calibri" pitchFamily="34" charset="-120"/>
              </a:rPr>
              <a:t>CPTSD Specialist</a:t>
            </a:r>
            <a:endParaRPr lang="en-US" sz="1050" dirty="0"/>
          </a:p>
        </p:txBody>
      </p:sp>
      <p:sp>
        <p:nvSpPr>
          <p:cNvPr id="17" name="Shape 15"/>
          <p:cNvSpPr/>
          <p:nvPr/>
        </p:nvSpPr>
        <p:spPr>
          <a:xfrm>
            <a:off x="7644384" y="5394960"/>
            <a:ext cx="1664208" cy="329184"/>
          </a:xfrm>
          <a:prstGeom prst="rect">
            <a:avLst/>
          </a:prstGeom>
          <a:solidFill>
            <a:srgbClr val="EDE8F4"/>
          </a:solidFill>
          <a:ln w="9525">
            <a:solidFill>
              <a:srgbClr val="DDD5EA"/>
            </a:solidFill>
            <a:prstDash val="solid"/>
          </a:ln>
        </p:spPr>
      </p:sp>
      <p:sp>
        <p:nvSpPr>
          <p:cNvPr id="18" name="Text 16"/>
          <p:cNvSpPr txBox="1"/>
          <p:nvPr/>
        </p:nvSpPr>
        <p:spPr>
          <a:xfrm>
            <a:off x="7644384" y="5394960"/>
            <a:ext cx="1664208" cy="329184"/>
          </a:xfrm>
          <a:prstGeom prst="rect">
            <a:avLst/>
          </a:prstGeom>
          <a:noFill/>
          <a:ln/>
        </p:spPr>
        <p:txBody>
          <a:bodyPr wrap="square" rtlCol="0" anchor="ctr"/>
          <a:lstStyle/>
          <a:p>
            <a:pPr algn="ctr" indent="0" marL="0">
              <a:buNone/>
            </a:pPr>
            <a:r>
              <a:rPr lang="en-US" sz="1050" dirty="0">
                <a:solidFill>
                  <a:srgbClr val="4A4060"/>
                </a:solidFill>
                <a:latin typeface="Calibri" pitchFamily="34" charset="0"/>
                <a:ea typeface="Calibri" pitchFamily="34" charset="-122"/>
                <a:cs typeface="Calibri" pitchFamily="34" charset="-120"/>
              </a:rPr>
              <a:t>Religious Trauma</a:t>
            </a:r>
            <a:endParaRPr lang="en-US" sz="1050" dirty="0"/>
          </a:p>
        </p:txBody>
      </p:sp>
      <p:sp>
        <p:nvSpPr>
          <p:cNvPr id="19" name="Shape 17"/>
          <p:cNvSpPr/>
          <p:nvPr/>
        </p:nvSpPr>
        <p:spPr>
          <a:xfrm>
            <a:off x="9436608" y="5394960"/>
            <a:ext cx="1664208" cy="329184"/>
          </a:xfrm>
          <a:prstGeom prst="rect">
            <a:avLst/>
          </a:prstGeom>
          <a:solidFill>
            <a:srgbClr val="EDE8F4"/>
          </a:solidFill>
          <a:ln w="9525">
            <a:solidFill>
              <a:srgbClr val="DDD5EA"/>
            </a:solidFill>
            <a:prstDash val="solid"/>
          </a:ln>
        </p:spPr>
      </p:sp>
      <p:sp>
        <p:nvSpPr>
          <p:cNvPr id="20" name="Text 18"/>
          <p:cNvSpPr txBox="1"/>
          <p:nvPr/>
        </p:nvSpPr>
        <p:spPr>
          <a:xfrm>
            <a:off x="9436608" y="5394960"/>
            <a:ext cx="1664208" cy="329184"/>
          </a:xfrm>
          <a:prstGeom prst="rect">
            <a:avLst/>
          </a:prstGeom>
          <a:noFill/>
          <a:ln/>
        </p:spPr>
        <p:txBody>
          <a:bodyPr wrap="square" rtlCol="0" anchor="ctr"/>
          <a:lstStyle/>
          <a:p>
            <a:pPr algn="ctr" indent="0" marL="0">
              <a:buNone/>
            </a:pPr>
            <a:r>
              <a:rPr lang="en-US" sz="1050" dirty="0">
                <a:solidFill>
                  <a:srgbClr val="4A4060"/>
                </a:solidFill>
                <a:latin typeface="Calibri" pitchFamily="34" charset="0"/>
                <a:ea typeface="Calibri" pitchFamily="34" charset="-122"/>
                <a:cs typeface="Calibri" pitchFamily="34" charset="-120"/>
              </a:rPr>
              <a:t>IFS Practitioner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F9"/>
        </a:solidFill>
      </p:bgPr>
    </p:bg>
    <p:spTree>
      <p:nvGrpSpPr>
        <p:cNvPr id="1" name=""/>
        <p:cNvGrpSpPr/>
        <p:nvPr/>
      </p:nvGrpSpPr>
      <p:grpSpPr>
        <a:xfrm>
          <a:off x="0" y="0"/>
          <a:ext cx="0" cy="0"/>
          <a:chOff x="0" y="0"/>
          <a:chExt cx="0" cy="0"/>
        </a:xfrm>
      </p:grpSpPr>
      <p:sp>
        <p:nvSpPr>
          <p:cNvPr id="2" name="Shape 0"/>
          <p:cNvSpPr/>
          <p:nvPr/>
        </p:nvSpPr>
        <p:spPr>
          <a:xfrm>
            <a:off x="0" y="0"/>
            <a:ext cx="12161520" cy="1463040"/>
          </a:xfrm>
          <a:prstGeom prst="rect">
            <a:avLst/>
          </a:prstGeom>
          <a:solidFill>
            <a:srgbClr val="1E1B2E"/>
          </a:solidFill>
          <a:ln w="12700">
            <a:solidFill>
              <a:srgbClr val="1E1B2E"/>
            </a:solidFill>
            <a:prstDash val="solid"/>
          </a:ln>
        </p:spPr>
      </p:sp>
      <p:sp>
        <p:nvSpPr>
          <p:cNvPr id="3" name="Text 1"/>
          <p:cNvSpPr txBox="1"/>
          <p:nvPr/>
        </p:nvSpPr>
        <p:spPr>
          <a:xfrm>
            <a:off x="640080" y="274320"/>
            <a:ext cx="7315200" cy="274320"/>
          </a:xfrm>
          <a:prstGeom prst="rect">
            <a:avLst/>
          </a:prstGeom>
          <a:noFill/>
          <a:ln/>
        </p:spPr>
        <p:txBody>
          <a:bodyPr wrap="square" lIns="0" tIns="0" rIns="0" bIns="0" rtlCol="0" anchor="ctr"/>
          <a:lstStyle/>
          <a:p>
            <a:pPr indent="0" marL="0">
              <a:buNone/>
            </a:pPr>
            <a:r>
              <a:rPr lang="en-US" sz="900" b="1" spc="400" kern="0" dirty="0">
                <a:solidFill>
                  <a:srgbClr val="B8A0C8"/>
                </a:solidFill>
                <a:latin typeface="Calibri" pitchFamily="34" charset="0"/>
                <a:ea typeface="Calibri" pitchFamily="34" charset="-122"/>
                <a:cs typeface="Calibri" pitchFamily="34" charset="-120"/>
              </a:rPr>
              <a:t>SAMPLE CONTENT</a:t>
            </a:r>
            <a:endParaRPr lang="en-US" sz="900" dirty="0"/>
          </a:p>
        </p:txBody>
      </p:sp>
      <p:sp>
        <p:nvSpPr>
          <p:cNvPr id="4" name="Text 2"/>
          <p:cNvSpPr txBox="1"/>
          <p:nvPr/>
        </p:nvSpPr>
        <p:spPr>
          <a:xfrm>
            <a:off x="640080" y="603504"/>
            <a:ext cx="9144000" cy="594360"/>
          </a:xfrm>
          <a:prstGeom prst="rect">
            <a:avLst/>
          </a:prstGeom>
          <a:noFill/>
          <a:ln/>
        </p:spPr>
        <p:txBody>
          <a:bodyPr wrap="square" lIns="0" tIns="0" rIns="0" bIns="0" rtlCol="0" anchor="ctr"/>
          <a:lstStyle/>
          <a:p>
            <a:pPr indent="0" marL="0">
              <a:buNone/>
            </a:pPr>
            <a:r>
              <a:rPr lang="en-US" sz="3000" b="1" dirty="0">
                <a:solidFill>
                  <a:srgbClr val="F0EBF8"/>
                </a:solidFill>
                <a:latin typeface="Cambria" pitchFamily="34" charset="0"/>
                <a:ea typeface="Cambria" pitchFamily="34" charset="-122"/>
                <a:cs typeface="Cambria" pitchFamily="34" charset="-120"/>
              </a:rPr>
              <a:t>Content in Action</a:t>
            </a:r>
            <a:endParaRPr lang="en-US" sz="3000" dirty="0"/>
          </a:p>
        </p:txBody>
      </p:sp>
      <p:sp>
        <p:nvSpPr>
          <p:cNvPr id="5" name="Text 3"/>
          <p:cNvSpPr txBox="1"/>
          <p:nvPr/>
        </p:nvSpPr>
        <p:spPr>
          <a:xfrm>
            <a:off x="502920" y="1664208"/>
            <a:ext cx="3611880" cy="256032"/>
          </a:xfrm>
          <a:prstGeom prst="rect">
            <a:avLst/>
          </a:prstGeom>
          <a:noFill/>
          <a:ln/>
        </p:spPr>
        <p:txBody>
          <a:bodyPr wrap="square" lIns="0" tIns="0" rIns="0" bIns="0" rtlCol="0" anchor="ctr"/>
          <a:lstStyle/>
          <a:p>
            <a:pPr algn="ctr" indent="0" marL="0">
              <a:buNone/>
            </a:pPr>
            <a:r>
              <a:rPr lang="en-US" sz="900" b="1" spc="300" kern="0" dirty="0">
                <a:solidFill>
                  <a:srgbClr val="8A9BAE"/>
                </a:solidFill>
                <a:latin typeface="Calibri" pitchFamily="34" charset="0"/>
                <a:ea typeface="Calibri" pitchFamily="34" charset="-122"/>
                <a:cs typeface="Calibri" pitchFamily="34" charset="-120"/>
              </a:rPr>
              <a:t>TIKTOK</a:t>
            </a:r>
            <a:endParaRPr lang="en-US" sz="900" dirty="0"/>
          </a:p>
        </p:txBody>
      </p:sp>
      <p:sp>
        <p:nvSpPr>
          <p:cNvPr id="6" name="Shape 4"/>
          <p:cNvSpPr/>
          <p:nvPr/>
        </p:nvSpPr>
        <p:spPr>
          <a:xfrm>
            <a:off x="640080" y="1993392"/>
            <a:ext cx="3337560" cy="3291840"/>
          </a:xfrm>
          <a:prstGeom prst="rect">
            <a:avLst/>
          </a:prstGeom>
          <a:solidFill>
            <a:srgbClr val="EDE8F4"/>
          </a:solidFill>
          <a:ln w="12700">
            <a:solidFill>
              <a:srgbClr val="7C5C8C">
                <a:alpha val="60000"/>
              </a:srgbClr>
            </a:solidFill>
            <a:prstDash val="solid"/>
          </a:ln>
        </p:spPr>
      </p:sp>
      <p:sp>
        <p:nvSpPr>
          <p:cNvPr id="7" name="Shape 5"/>
          <p:cNvSpPr/>
          <p:nvPr/>
        </p:nvSpPr>
        <p:spPr>
          <a:xfrm>
            <a:off x="2107692" y="3383280"/>
            <a:ext cx="402336" cy="310896"/>
          </a:xfrm>
          <a:prstGeom prst="rect">
            <a:avLst/>
          </a:prstGeom>
          <a:solidFill>
            <a:srgbClr val="D8CFF0"/>
          </a:solidFill>
          <a:ln w="9525">
            <a:solidFill>
              <a:srgbClr val="7C5C8C">
                <a:alpha val="70000"/>
              </a:srgbClr>
            </a:solidFill>
            <a:prstDash val="solid"/>
          </a:ln>
        </p:spPr>
      </p:sp>
      <p:sp>
        <p:nvSpPr>
          <p:cNvPr id="8" name="Shape 6"/>
          <p:cNvSpPr/>
          <p:nvPr/>
        </p:nvSpPr>
        <p:spPr>
          <a:xfrm>
            <a:off x="2199132" y="3438144"/>
            <a:ext cx="219456" cy="201168"/>
          </a:xfrm>
          <a:prstGeom prst="ellipse">
            <a:avLst/>
          </a:prstGeom>
          <a:solidFill>
            <a:srgbClr val="B8A0C8">
              <a:alpha val="70000"/>
            </a:srgbClr>
          </a:solidFill>
          <a:ln w="6350">
            <a:solidFill>
              <a:srgbClr val="7C5C8C">
                <a:alpha val="70000"/>
              </a:srgbClr>
            </a:solidFill>
            <a:prstDash val="solid"/>
          </a:ln>
        </p:spPr>
      </p:sp>
      <p:sp>
        <p:nvSpPr>
          <p:cNvPr id="9" name="Text 7"/>
          <p:cNvSpPr txBox="1"/>
          <p:nvPr/>
        </p:nvSpPr>
        <p:spPr>
          <a:xfrm>
            <a:off x="640080" y="3776472"/>
            <a:ext cx="3337560" cy="640080"/>
          </a:xfrm>
          <a:prstGeom prst="rect">
            <a:avLst/>
          </a:prstGeom>
          <a:noFill/>
          <a:ln/>
        </p:spPr>
        <p:txBody>
          <a:bodyPr wrap="square" lIns="0" tIns="0" rIns="0" bIns="0" rtlCol="0" anchor="ctr"/>
          <a:lstStyle/>
          <a:p>
            <a:pPr algn="ctr" indent="0" marL="0">
              <a:buNone/>
            </a:pPr>
            <a:r>
              <a:rPr lang="en-US" sz="1000" b="1" spc="100" kern="0" dirty="0">
                <a:solidFill>
                  <a:srgbClr val="4A4060"/>
                </a:solidFill>
                <a:latin typeface="Calibri" pitchFamily="34" charset="0"/>
                <a:ea typeface="Calibri" pitchFamily="34" charset="-122"/>
                <a:cs typeface="Calibri" pitchFamily="34" charset="-120"/>
              </a:rPr>
              <a:t>ADD SCREENSHOT</a:t>
            </a:r>
            <a:endParaRPr lang="en-US" sz="1000" dirty="0"/>
          </a:p>
          <a:p>
            <a:pPr algn="ctr" indent="0" marL="0">
              <a:buNone/>
            </a:pPr>
            <a:r>
              <a:rPr lang="en-US" sz="1000" b="1" spc="100" kern="0" dirty="0">
                <a:solidFill>
                  <a:srgbClr val="4A4060"/>
                </a:solidFill>
                <a:latin typeface="Calibri" pitchFamily="34" charset="0"/>
                <a:ea typeface="Calibri" pitchFamily="34" charset="-122"/>
                <a:cs typeface="Calibri" pitchFamily="34" charset="-120"/>
              </a:rPr>
              <a:t>HERE</a:t>
            </a:r>
            <a:endParaRPr lang="en-US" sz="1000" dirty="0"/>
          </a:p>
        </p:txBody>
      </p:sp>
      <p:sp>
        <p:nvSpPr>
          <p:cNvPr id="10" name="Shape 8"/>
          <p:cNvSpPr/>
          <p:nvPr/>
        </p:nvSpPr>
        <p:spPr>
          <a:xfrm>
            <a:off x="640080" y="4919472"/>
            <a:ext cx="3337560" cy="329184"/>
          </a:xfrm>
          <a:prstGeom prst="rect">
            <a:avLst/>
          </a:prstGeom>
          <a:solidFill>
            <a:srgbClr val="1E1B2E">
              <a:alpha val="85000"/>
            </a:srgbClr>
          </a:solidFill>
          <a:ln w="12700">
            <a:solidFill>
              <a:srgbClr val="1E1B2E">
                <a:alpha val="85000"/>
              </a:srgbClr>
            </a:solidFill>
            <a:prstDash val="solid"/>
          </a:ln>
        </p:spPr>
      </p:sp>
      <p:sp>
        <p:nvSpPr>
          <p:cNvPr id="11" name="Text 9"/>
          <p:cNvSpPr txBox="1"/>
          <p:nvPr/>
        </p:nvSpPr>
        <p:spPr>
          <a:xfrm>
            <a:off x="640080" y="4919472"/>
            <a:ext cx="3337560" cy="329184"/>
          </a:xfrm>
          <a:prstGeom prst="rect">
            <a:avLst/>
          </a:prstGeom>
          <a:noFill/>
          <a:ln/>
        </p:spPr>
        <p:txBody>
          <a:bodyPr wrap="square" rtlCol="0" anchor="ctr"/>
          <a:lstStyle/>
          <a:p>
            <a:pPr algn="ctr" indent="0" marL="0">
              <a:buNone/>
            </a:pPr>
            <a:r>
              <a:rPr lang="en-US" sz="1100" b="1" dirty="0">
                <a:solidFill>
                  <a:srgbClr val="F0EBF8"/>
                </a:solidFill>
                <a:latin typeface="Calibri" pitchFamily="34" charset="0"/>
                <a:ea typeface="Calibri" pitchFamily="34" charset="-122"/>
                <a:cs typeface="Calibri" pitchFamily="34" charset="-120"/>
              </a:rPr>
              <a:t>122K views</a:t>
            </a:r>
            <a:endParaRPr lang="en-US" sz="1100" dirty="0"/>
          </a:p>
        </p:txBody>
      </p:sp>
      <p:sp>
        <p:nvSpPr>
          <p:cNvPr id="12" name="Text 10"/>
          <p:cNvSpPr txBox="1"/>
          <p:nvPr/>
        </p:nvSpPr>
        <p:spPr>
          <a:xfrm>
            <a:off x="502920" y="5413248"/>
            <a:ext cx="3611880" cy="402336"/>
          </a:xfrm>
          <a:prstGeom prst="rect">
            <a:avLst/>
          </a:prstGeom>
          <a:noFill/>
          <a:ln/>
        </p:spPr>
        <p:txBody>
          <a:bodyPr wrap="square" lIns="0" tIns="0" rIns="0" bIns="0" rtlCol="0" anchor="ctr"/>
          <a:lstStyle/>
          <a:p>
            <a:pPr algn="ctr" indent="0" marL="0">
              <a:buNone/>
            </a:pPr>
            <a:r>
              <a:rPr lang="en-US" sz="1050" i="1" dirty="0">
                <a:solidFill>
                  <a:srgbClr val="4D5568"/>
                </a:solidFill>
                <a:latin typeface="Calibri" pitchFamily="34" charset="0"/>
                <a:ea typeface="Calibri" pitchFamily="34" charset="-122"/>
                <a:cs typeface="Calibri" pitchFamily="34" charset="-120"/>
              </a:rPr>
              <a:t>Replace with your best-performing TikTok screenshot</a:t>
            </a:r>
            <a:endParaRPr lang="en-US" sz="1050" dirty="0"/>
          </a:p>
        </p:txBody>
      </p:sp>
      <p:sp>
        <p:nvSpPr>
          <p:cNvPr id="13" name="Text 11"/>
          <p:cNvSpPr txBox="1"/>
          <p:nvPr/>
        </p:nvSpPr>
        <p:spPr>
          <a:xfrm>
            <a:off x="502920" y="5870448"/>
            <a:ext cx="3611880" cy="274320"/>
          </a:xfrm>
          <a:prstGeom prst="rect">
            <a:avLst/>
          </a:prstGeom>
          <a:noFill/>
          <a:ln/>
        </p:spPr>
        <p:txBody>
          <a:bodyPr wrap="square" lIns="0" tIns="0" rIns="0" bIns="0" rtlCol="0" anchor="ctr"/>
          <a:lstStyle/>
          <a:p>
            <a:pPr algn="ctr" indent="0" marL="0">
              <a:buNone/>
            </a:pPr>
            <a:r>
              <a:rPr lang="en-US" sz="900" dirty="0">
                <a:solidFill>
                  <a:srgbClr val="7C5C8C"/>
                </a:solidFill>
                <a:latin typeface="Calibri" pitchFamily="34" charset="0"/>
                <a:ea typeface="Calibri" pitchFamily="34" charset="-122"/>
                <a:cs typeface="Calibri" pitchFamily="34" charset="-120"/>
              </a:rPr>
              <a:t>Right-click image → Replace Image</a:t>
            </a:r>
            <a:endParaRPr lang="en-US" sz="900" dirty="0"/>
          </a:p>
        </p:txBody>
      </p:sp>
      <p:sp>
        <p:nvSpPr>
          <p:cNvPr id="14" name="Text 12"/>
          <p:cNvSpPr txBox="1"/>
          <p:nvPr/>
        </p:nvSpPr>
        <p:spPr>
          <a:xfrm>
            <a:off x="4398264" y="1664208"/>
            <a:ext cx="3611880" cy="256032"/>
          </a:xfrm>
          <a:prstGeom prst="rect">
            <a:avLst/>
          </a:prstGeom>
          <a:noFill/>
          <a:ln/>
        </p:spPr>
        <p:txBody>
          <a:bodyPr wrap="square" lIns="0" tIns="0" rIns="0" bIns="0" rtlCol="0" anchor="ctr"/>
          <a:lstStyle/>
          <a:p>
            <a:pPr algn="ctr" indent="0" marL="0">
              <a:buNone/>
            </a:pPr>
            <a:r>
              <a:rPr lang="en-US" sz="900" b="1" spc="300" kern="0" dirty="0">
                <a:solidFill>
                  <a:srgbClr val="8A9BAE"/>
                </a:solidFill>
                <a:latin typeface="Calibri" pitchFamily="34" charset="0"/>
                <a:ea typeface="Calibri" pitchFamily="34" charset="-122"/>
                <a:cs typeface="Calibri" pitchFamily="34" charset="-120"/>
              </a:rPr>
              <a:t>INSTAGRAM REEL</a:t>
            </a:r>
            <a:endParaRPr lang="en-US" sz="900" dirty="0"/>
          </a:p>
        </p:txBody>
      </p:sp>
      <p:sp>
        <p:nvSpPr>
          <p:cNvPr id="15" name="Shape 13"/>
          <p:cNvSpPr/>
          <p:nvPr/>
        </p:nvSpPr>
        <p:spPr>
          <a:xfrm>
            <a:off x="4535424" y="1993392"/>
            <a:ext cx="3337560" cy="3291840"/>
          </a:xfrm>
          <a:prstGeom prst="rect">
            <a:avLst/>
          </a:prstGeom>
          <a:solidFill>
            <a:srgbClr val="EDE8F4"/>
          </a:solidFill>
          <a:ln w="12700">
            <a:solidFill>
              <a:srgbClr val="7C5C8C">
                <a:alpha val="60000"/>
              </a:srgbClr>
            </a:solidFill>
            <a:prstDash val="solid"/>
          </a:ln>
        </p:spPr>
      </p:sp>
      <p:sp>
        <p:nvSpPr>
          <p:cNvPr id="16" name="Shape 14"/>
          <p:cNvSpPr/>
          <p:nvPr/>
        </p:nvSpPr>
        <p:spPr>
          <a:xfrm>
            <a:off x="6003036" y="3383280"/>
            <a:ext cx="402336" cy="310896"/>
          </a:xfrm>
          <a:prstGeom prst="rect">
            <a:avLst/>
          </a:prstGeom>
          <a:solidFill>
            <a:srgbClr val="D8CFF0"/>
          </a:solidFill>
          <a:ln w="9525">
            <a:solidFill>
              <a:srgbClr val="7C5C8C">
                <a:alpha val="70000"/>
              </a:srgbClr>
            </a:solidFill>
            <a:prstDash val="solid"/>
          </a:ln>
        </p:spPr>
      </p:sp>
      <p:sp>
        <p:nvSpPr>
          <p:cNvPr id="17" name="Shape 15"/>
          <p:cNvSpPr/>
          <p:nvPr/>
        </p:nvSpPr>
        <p:spPr>
          <a:xfrm>
            <a:off x="6094476" y="3438144"/>
            <a:ext cx="219456" cy="201168"/>
          </a:xfrm>
          <a:prstGeom prst="ellipse">
            <a:avLst/>
          </a:prstGeom>
          <a:solidFill>
            <a:srgbClr val="B8A0C8">
              <a:alpha val="70000"/>
            </a:srgbClr>
          </a:solidFill>
          <a:ln w="6350">
            <a:solidFill>
              <a:srgbClr val="7C5C8C">
                <a:alpha val="70000"/>
              </a:srgbClr>
            </a:solidFill>
            <a:prstDash val="solid"/>
          </a:ln>
        </p:spPr>
      </p:sp>
      <p:sp>
        <p:nvSpPr>
          <p:cNvPr id="18" name="Text 16"/>
          <p:cNvSpPr txBox="1"/>
          <p:nvPr/>
        </p:nvSpPr>
        <p:spPr>
          <a:xfrm>
            <a:off x="4535424" y="3776472"/>
            <a:ext cx="3337560" cy="640080"/>
          </a:xfrm>
          <a:prstGeom prst="rect">
            <a:avLst/>
          </a:prstGeom>
          <a:noFill/>
          <a:ln/>
        </p:spPr>
        <p:txBody>
          <a:bodyPr wrap="square" lIns="0" tIns="0" rIns="0" bIns="0" rtlCol="0" anchor="ctr"/>
          <a:lstStyle/>
          <a:p>
            <a:pPr algn="ctr" indent="0" marL="0">
              <a:buNone/>
            </a:pPr>
            <a:r>
              <a:rPr lang="en-US" sz="1000" b="1" spc="100" kern="0" dirty="0">
                <a:solidFill>
                  <a:srgbClr val="4A4060"/>
                </a:solidFill>
                <a:latin typeface="Calibri" pitchFamily="34" charset="0"/>
                <a:ea typeface="Calibri" pitchFamily="34" charset="-122"/>
                <a:cs typeface="Calibri" pitchFamily="34" charset="-120"/>
              </a:rPr>
              <a:t>ADD SCREENSHOT</a:t>
            </a:r>
            <a:endParaRPr lang="en-US" sz="1000" dirty="0"/>
          </a:p>
          <a:p>
            <a:pPr algn="ctr" indent="0" marL="0">
              <a:buNone/>
            </a:pPr>
            <a:r>
              <a:rPr lang="en-US" sz="1000" b="1" spc="100" kern="0" dirty="0">
                <a:solidFill>
                  <a:srgbClr val="4A4060"/>
                </a:solidFill>
                <a:latin typeface="Calibri" pitchFamily="34" charset="0"/>
                <a:ea typeface="Calibri" pitchFamily="34" charset="-122"/>
                <a:cs typeface="Calibri" pitchFamily="34" charset="-120"/>
              </a:rPr>
              <a:t>HERE</a:t>
            </a:r>
            <a:endParaRPr lang="en-US" sz="1000" dirty="0"/>
          </a:p>
        </p:txBody>
      </p:sp>
      <p:sp>
        <p:nvSpPr>
          <p:cNvPr id="19" name="Shape 17"/>
          <p:cNvSpPr/>
          <p:nvPr/>
        </p:nvSpPr>
        <p:spPr>
          <a:xfrm>
            <a:off x="4535424" y="4919472"/>
            <a:ext cx="3337560" cy="329184"/>
          </a:xfrm>
          <a:prstGeom prst="rect">
            <a:avLst/>
          </a:prstGeom>
          <a:solidFill>
            <a:srgbClr val="1E1B2E">
              <a:alpha val="85000"/>
            </a:srgbClr>
          </a:solidFill>
          <a:ln w="12700">
            <a:solidFill>
              <a:srgbClr val="1E1B2E">
                <a:alpha val="85000"/>
              </a:srgbClr>
            </a:solidFill>
            <a:prstDash val="solid"/>
          </a:ln>
        </p:spPr>
      </p:sp>
      <p:sp>
        <p:nvSpPr>
          <p:cNvPr id="20" name="Text 18"/>
          <p:cNvSpPr txBox="1"/>
          <p:nvPr/>
        </p:nvSpPr>
        <p:spPr>
          <a:xfrm>
            <a:off x="4535424" y="4919472"/>
            <a:ext cx="3337560" cy="329184"/>
          </a:xfrm>
          <a:prstGeom prst="rect">
            <a:avLst/>
          </a:prstGeom>
          <a:noFill/>
          <a:ln/>
        </p:spPr>
        <p:txBody>
          <a:bodyPr wrap="square" rtlCol="0" anchor="ctr"/>
          <a:lstStyle/>
          <a:p>
            <a:pPr algn="ctr" indent="0" marL="0">
              <a:buNone/>
            </a:pPr>
            <a:r>
              <a:rPr lang="en-US" sz="1100" b="1" dirty="0">
                <a:solidFill>
                  <a:srgbClr val="F0EBF8"/>
                </a:solidFill>
                <a:latin typeface="Calibri" pitchFamily="34" charset="0"/>
                <a:ea typeface="Calibri" pitchFamily="34" charset="-122"/>
                <a:cs typeface="Calibri" pitchFamily="34" charset="-120"/>
              </a:rPr>
              <a:t>8.8K followers</a:t>
            </a:r>
            <a:endParaRPr lang="en-US" sz="1100" dirty="0"/>
          </a:p>
        </p:txBody>
      </p:sp>
      <p:sp>
        <p:nvSpPr>
          <p:cNvPr id="21" name="Text 19"/>
          <p:cNvSpPr txBox="1"/>
          <p:nvPr/>
        </p:nvSpPr>
        <p:spPr>
          <a:xfrm>
            <a:off x="4398264" y="5413248"/>
            <a:ext cx="3611880" cy="402336"/>
          </a:xfrm>
          <a:prstGeom prst="rect">
            <a:avLst/>
          </a:prstGeom>
          <a:noFill/>
          <a:ln/>
        </p:spPr>
        <p:txBody>
          <a:bodyPr wrap="square" lIns="0" tIns="0" rIns="0" bIns="0" rtlCol="0" anchor="ctr"/>
          <a:lstStyle/>
          <a:p>
            <a:pPr algn="ctr" indent="0" marL="0">
              <a:buNone/>
            </a:pPr>
            <a:r>
              <a:rPr lang="en-US" sz="1050" i="1" dirty="0">
                <a:solidFill>
                  <a:srgbClr val="4D5568"/>
                </a:solidFill>
                <a:latin typeface="Calibri" pitchFamily="34" charset="0"/>
                <a:ea typeface="Calibri" pitchFamily="34" charset="-122"/>
                <a:cs typeface="Calibri" pitchFamily="34" charset="-120"/>
              </a:rPr>
              <a:t>Replace with a strong Reel screenshot or thumbnail</a:t>
            </a:r>
            <a:endParaRPr lang="en-US" sz="1050" dirty="0"/>
          </a:p>
        </p:txBody>
      </p:sp>
      <p:sp>
        <p:nvSpPr>
          <p:cNvPr id="22" name="Text 20"/>
          <p:cNvSpPr txBox="1"/>
          <p:nvPr/>
        </p:nvSpPr>
        <p:spPr>
          <a:xfrm>
            <a:off x="4398264" y="5870448"/>
            <a:ext cx="3611880" cy="274320"/>
          </a:xfrm>
          <a:prstGeom prst="rect">
            <a:avLst/>
          </a:prstGeom>
          <a:noFill/>
          <a:ln/>
        </p:spPr>
        <p:txBody>
          <a:bodyPr wrap="square" lIns="0" tIns="0" rIns="0" bIns="0" rtlCol="0" anchor="ctr"/>
          <a:lstStyle/>
          <a:p>
            <a:pPr algn="ctr" indent="0" marL="0">
              <a:buNone/>
            </a:pPr>
            <a:r>
              <a:rPr lang="en-US" sz="900" dirty="0">
                <a:solidFill>
                  <a:srgbClr val="7C5C8C"/>
                </a:solidFill>
                <a:latin typeface="Calibri" pitchFamily="34" charset="0"/>
                <a:ea typeface="Calibri" pitchFamily="34" charset="-122"/>
                <a:cs typeface="Calibri" pitchFamily="34" charset="-120"/>
              </a:rPr>
              <a:t>Right-click image → Replace Image</a:t>
            </a:r>
            <a:endParaRPr lang="en-US" sz="900" dirty="0"/>
          </a:p>
        </p:txBody>
      </p:sp>
      <p:sp>
        <p:nvSpPr>
          <p:cNvPr id="23" name="Text 21"/>
          <p:cNvSpPr txBox="1"/>
          <p:nvPr/>
        </p:nvSpPr>
        <p:spPr>
          <a:xfrm>
            <a:off x="8293608" y="1664208"/>
            <a:ext cx="3611880" cy="256032"/>
          </a:xfrm>
          <a:prstGeom prst="rect">
            <a:avLst/>
          </a:prstGeom>
          <a:noFill/>
          <a:ln/>
        </p:spPr>
        <p:txBody>
          <a:bodyPr wrap="square" lIns="0" tIns="0" rIns="0" bIns="0" rtlCol="0" anchor="ctr"/>
          <a:lstStyle/>
          <a:p>
            <a:pPr algn="ctr" indent="0" marL="0">
              <a:buNone/>
            </a:pPr>
            <a:r>
              <a:rPr lang="en-US" sz="900" b="1" spc="300" kern="0" dirty="0">
                <a:solidFill>
                  <a:srgbClr val="8A9BAE"/>
                </a:solidFill>
                <a:latin typeface="Calibri" pitchFamily="34" charset="0"/>
                <a:ea typeface="Calibri" pitchFamily="34" charset="-122"/>
                <a:cs typeface="Calibri" pitchFamily="34" charset="-120"/>
              </a:rPr>
              <a:t>INSTAGRAM POST</a:t>
            </a:r>
            <a:endParaRPr lang="en-US" sz="900" dirty="0"/>
          </a:p>
        </p:txBody>
      </p:sp>
      <p:sp>
        <p:nvSpPr>
          <p:cNvPr id="24" name="Shape 22"/>
          <p:cNvSpPr/>
          <p:nvPr/>
        </p:nvSpPr>
        <p:spPr>
          <a:xfrm>
            <a:off x="8430768" y="1993392"/>
            <a:ext cx="3337560" cy="3291840"/>
          </a:xfrm>
          <a:prstGeom prst="rect">
            <a:avLst/>
          </a:prstGeom>
          <a:solidFill>
            <a:srgbClr val="EDE8F4"/>
          </a:solidFill>
          <a:ln w="12700">
            <a:solidFill>
              <a:srgbClr val="7C5C8C">
                <a:alpha val="60000"/>
              </a:srgbClr>
            </a:solidFill>
            <a:prstDash val="solid"/>
          </a:ln>
        </p:spPr>
      </p:sp>
      <p:sp>
        <p:nvSpPr>
          <p:cNvPr id="25" name="Shape 23"/>
          <p:cNvSpPr/>
          <p:nvPr/>
        </p:nvSpPr>
        <p:spPr>
          <a:xfrm>
            <a:off x="9898380" y="3383280"/>
            <a:ext cx="402336" cy="310896"/>
          </a:xfrm>
          <a:prstGeom prst="rect">
            <a:avLst/>
          </a:prstGeom>
          <a:solidFill>
            <a:srgbClr val="D8CFF0"/>
          </a:solidFill>
          <a:ln w="9525">
            <a:solidFill>
              <a:srgbClr val="7C5C8C">
                <a:alpha val="70000"/>
              </a:srgbClr>
            </a:solidFill>
            <a:prstDash val="solid"/>
          </a:ln>
        </p:spPr>
      </p:sp>
      <p:sp>
        <p:nvSpPr>
          <p:cNvPr id="26" name="Shape 24"/>
          <p:cNvSpPr/>
          <p:nvPr/>
        </p:nvSpPr>
        <p:spPr>
          <a:xfrm>
            <a:off x="9989820" y="3438144"/>
            <a:ext cx="219456" cy="201168"/>
          </a:xfrm>
          <a:prstGeom prst="ellipse">
            <a:avLst/>
          </a:prstGeom>
          <a:solidFill>
            <a:srgbClr val="B8A0C8">
              <a:alpha val="70000"/>
            </a:srgbClr>
          </a:solidFill>
          <a:ln w="6350">
            <a:solidFill>
              <a:srgbClr val="7C5C8C">
                <a:alpha val="70000"/>
              </a:srgbClr>
            </a:solidFill>
            <a:prstDash val="solid"/>
          </a:ln>
        </p:spPr>
      </p:sp>
      <p:sp>
        <p:nvSpPr>
          <p:cNvPr id="27" name="Text 25"/>
          <p:cNvSpPr txBox="1"/>
          <p:nvPr/>
        </p:nvSpPr>
        <p:spPr>
          <a:xfrm>
            <a:off x="8430768" y="3776472"/>
            <a:ext cx="3337560" cy="640080"/>
          </a:xfrm>
          <a:prstGeom prst="rect">
            <a:avLst/>
          </a:prstGeom>
          <a:noFill/>
          <a:ln/>
        </p:spPr>
        <p:txBody>
          <a:bodyPr wrap="square" lIns="0" tIns="0" rIns="0" bIns="0" rtlCol="0" anchor="ctr"/>
          <a:lstStyle/>
          <a:p>
            <a:pPr algn="ctr" indent="0" marL="0">
              <a:buNone/>
            </a:pPr>
            <a:r>
              <a:rPr lang="en-US" sz="1000" b="1" spc="100" kern="0" dirty="0">
                <a:solidFill>
                  <a:srgbClr val="4A4060"/>
                </a:solidFill>
                <a:latin typeface="Calibri" pitchFamily="34" charset="0"/>
                <a:ea typeface="Calibri" pitchFamily="34" charset="-122"/>
                <a:cs typeface="Calibri" pitchFamily="34" charset="-120"/>
              </a:rPr>
              <a:t>ADD SCREENSHOT</a:t>
            </a:r>
            <a:endParaRPr lang="en-US" sz="1000" dirty="0"/>
          </a:p>
          <a:p>
            <a:pPr algn="ctr" indent="0" marL="0">
              <a:buNone/>
            </a:pPr>
            <a:r>
              <a:rPr lang="en-US" sz="1000" b="1" spc="100" kern="0" dirty="0">
                <a:solidFill>
                  <a:srgbClr val="4A4060"/>
                </a:solidFill>
                <a:latin typeface="Calibri" pitchFamily="34" charset="0"/>
                <a:ea typeface="Calibri" pitchFamily="34" charset="-122"/>
                <a:cs typeface="Calibri" pitchFamily="34" charset="-120"/>
              </a:rPr>
              <a:t>HERE</a:t>
            </a:r>
            <a:endParaRPr lang="en-US" sz="1000" dirty="0"/>
          </a:p>
        </p:txBody>
      </p:sp>
      <p:sp>
        <p:nvSpPr>
          <p:cNvPr id="28" name="Shape 26"/>
          <p:cNvSpPr/>
          <p:nvPr/>
        </p:nvSpPr>
        <p:spPr>
          <a:xfrm>
            <a:off x="8430768" y="4919472"/>
            <a:ext cx="3337560" cy="329184"/>
          </a:xfrm>
          <a:prstGeom prst="rect">
            <a:avLst/>
          </a:prstGeom>
          <a:solidFill>
            <a:srgbClr val="1E1B2E">
              <a:alpha val="85000"/>
            </a:srgbClr>
          </a:solidFill>
          <a:ln w="12700">
            <a:solidFill>
              <a:srgbClr val="1E1B2E">
                <a:alpha val="85000"/>
              </a:srgbClr>
            </a:solidFill>
            <a:prstDash val="solid"/>
          </a:ln>
        </p:spPr>
      </p:sp>
      <p:sp>
        <p:nvSpPr>
          <p:cNvPr id="29" name="Text 27"/>
          <p:cNvSpPr txBox="1"/>
          <p:nvPr/>
        </p:nvSpPr>
        <p:spPr>
          <a:xfrm>
            <a:off x="8430768" y="4919472"/>
            <a:ext cx="3337560" cy="329184"/>
          </a:xfrm>
          <a:prstGeom prst="rect">
            <a:avLst/>
          </a:prstGeom>
          <a:noFill/>
          <a:ln/>
        </p:spPr>
        <p:txBody>
          <a:bodyPr wrap="square" rtlCol="0" anchor="ctr"/>
          <a:lstStyle/>
          <a:p>
            <a:pPr algn="ctr" indent="0" marL="0">
              <a:buNone/>
            </a:pPr>
            <a:r>
              <a:rPr lang="en-US" sz="1100" b="1" dirty="0">
                <a:solidFill>
                  <a:srgbClr val="F0EBF8"/>
                </a:solidFill>
                <a:latin typeface="Calibri" pitchFamily="34" charset="0"/>
                <a:ea typeface="Calibri" pitchFamily="34" charset="-122"/>
                <a:cs typeface="Calibri" pitchFamily="34" charset="-120"/>
              </a:rPr>
              <a:t>Carousel example</a:t>
            </a:r>
            <a:endParaRPr lang="en-US" sz="1100" dirty="0"/>
          </a:p>
        </p:txBody>
      </p:sp>
      <p:sp>
        <p:nvSpPr>
          <p:cNvPr id="30" name="Text 28"/>
          <p:cNvSpPr txBox="1"/>
          <p:nvPr/>
        </p:nvSpPr>
        <p:spPr>
          <a:xfrm>
            <a:off x="8293608" y="5413248"/>
            <a:ext cx="3611880" cy="402336"/>
          </a:xfrm>
          <a:prstGeom prst="rect">
            <a:avLst/>
          </a:prstGeom>
          <a:noFill/>
          <a:ln/>
        </p:spPr>
        <p:txBody>
          <a:bodyPr wrap="square" lIns="0" tIns="0" rIns="0" bIns="0" rtlCol="0" anchor="ctr"/>
          <a:lstStyle/>
          <a:p>
            <a:pPr algn="ctr" indent="0" marL="0">
              <a:buNone/>
            </a:pPr>
            <a:r>
              <a:rPr lang="en-US" sz="1050" i="1" dirty="0">
                <a:solidFill>
                  <a:srgbClr val="4D5568"/>
                </a:solidFill>
                <a:latin typeface="Calibri" pitchFamily="34" charset="0"/>
                <a:ea typeface="Calibri" pitchFamily="34" charset="-122"/>
                <a:cs typeface="Calibri" pitchFamily="34" charset="-120"/>
              </a:rPr>
              <a:t>Replace with a high-engagement carousel or static post</a:t>
            </a:r>
            <a:endParaRPr lang="en-US" sz="1050" dirty="0"/>
          </a:p>
        </p:txBody>
      </p:sp>
      <p:sp>
        <p:nvSpPr>
          <p:cNvPr id="31" name="Text 29"/>
          <p:cNvSpPr txBox="1"/>
          <p:nvPr/>
        </p:nvSpPr>
        <p:spPr>
          <a:xfrm>
            <a:off x="8293608" y="5870448"/>
            <a:ext cx="3611880" cy="274320"/>
          </a:xfrm>
          <a:prstGeom prst="rect">
            <a:avLst/>
          </a:prstGeom>
          <a:noFill/>
          <a:ln/>
        </p:spPr>
        <p:txBody>
          <a:bodyPr wrap="square" lIns="0" tIns="0" rIns="0" bIns="0" rtlCol="0" anchor="ctr"/>
          <a:lstStyle/>
          <a:p>
            <a:pPr algn="ctr" indent="0" marL="0">
              <a:buNone/>
            </a:pPr>
            <a:r>
              <a:rPr lang="en-US" sz="900" dirty="0">
                <a:solidFill>
                  <a:srgbClr val="7C5C8C"/>
                </a:solidFill>
                <a:latin typeface="Calibri" pitchFamily="34" charset="0"/>
                <a:ea typeface="Calibri" pitchFamily="34" charset="-122"/>
                <a:cs typeface="Calibri" pitchFamily="34" charset="-120"/>
              </a:rPr>
              <a:t>Right-click image → Replace Image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8F4"/>
        </a:solidFill>
      </p:bgPr>
    </p:bg>
    <p:spTree>
      <p:nvGrpSpPr>
        <p:cNvPr id="1" name=""/>
        <p:cNvGrpSpPr/>
        <p:nvPr/>
      </p:nvGrpSpPr>
      <p:grpSpPr>
        <a:xfrm>
          <a:off x="0" y="0"/>
          <a:ext cx="0" cy="0"/>
          <a:chOff x="0" y="0"/>
          <a:chExt cx="0" cy="0"/>
        </a:xfrm>
      </p:grpSpPr>
      <p:sp>
        <p:nvSpPr>
          <p:cNvPr id="2" name="Text 0"/>
          <p:cNvSpPr txBox="1"/>
          <p:nvPr/>
        </p:nvSpPr>
        <p:spPr>
          <a:xfrm>
            <a:off x="640080" y="566928"/>
            <a:ext cx="9144000" cy="256032"/>
          </a:xfrm>
          <a:prstGeom prst="rect">
            <a:avLst/>
          </a:prstGeom>
          <a:noFill/>
          <a:ln/>
        </p:spPr>
        <p:txBody>
          <a:bodyPr wrap="square" lIns="0" tIns="0" rIns="0" bIns="0" rtlCol="0" anchor="ctr"/>
          <a:lstStyle/>
          <a:p>
            <a:pPr indent="0" marL="0">
              <a:buNone/>
            </a:pPr>
            <a:r>
              <a:rPr lang="en-US" sz="900" b="1" spc="400" kern="0" dirty="0">
                <a:solidFill>
                  <a:srgbClr val="7C5C8C"/>
                </a:solidFill>
                <a:latin typeface="Calibri" pitchFamily="34" charset="0"/>
                <a:ea typeface="Calibri" pitchFamily="34" charset="-122"/>
                <a:cs typeface="Calibri" pitchFamily="34" charset="-120"/>
              </a:rPr>
              <a:t>CONTENT FOCUS</a:t>
            </a:r>
            <a:endParaRPr lang="en-US" sz="900" dirty="0"/>
          </a:p>
        </p:txBody>
      </p:sp>
      <p:sp>
        <p:nvSpPr>
          <p:cNvPr id="3" name="Text 1"/>
          <p:cNvSpPr txBox="1"/>
          <p:nvPr/>
        </p:nvSpPr>
        <p:spPr>
          <a:xfrm>
            <a:off x="640080" y="886968"/>
            <a:ext cx="9144000" cy="621792"/>
          </a:xfrm>
          <a:prstGeom prst="rect">
            <a:avLst/>
          </a:prstGeom>
          <a:noFill/>
          <a:ln/>
        </p:spPr>
        <p:txBody>
          <a:bodyPr wrap="square" lIns="0" tIns="0" rIns="0" bIns="0" rtlCol="0" anchor="ctr"/>
          <a:lstStyle/>
          <a:p>
            <a:pPr indent="0" marL="0">
              <a:buNone/>
            </a:pPr>
            <a:r>
              <a:rPr lang="en-US" sz="3200" b="1" dirty="0">
                <a:solidFill>
                  <a:srgbClr val="1E1B2E"/>
                </a:solidFill>
                <a:latin typeface="Cambria" pitchFamily="34" charset="0"/>
                <a:ea typeface="Cambria" pitchFamily="34" charset="-122"/>
                <a:cs typeface="Cambria" pitchFamily="34" charset="-120"/>
              </a:rPr>
              <a:t>What Her Audience Comes For</a:t>
            </a:r>
            <a:endParaRPr lang="en-US" sz="3200" dirty="0"/>
          </a:p>
        </p:txBody>
      </p:sp>
      <p:sp>
        <p:nvSpPr>
          <p:cNvPr id="4" name="Shape 2"/>
          <p:cNvSpPr/>
          <p:nvPr/>
        </p:nvSpPr>
        <p:spPr>
          <a:xfrm>
            <a:off x="502920" y="1828800"/>
            <a:ext cx="3611880" cy="2057400"/>
          </a:xfrm>
          <a:prstGeom prst="rect">
            <a:avLst/>
          </a:prstGeom>
          <a:solidFill>
            <a:srgbClr val="FFFFFF"/>
          </a:solidFill>
          <a:ln w="9525">
            <a:solidFill>
              <a:srgbClr val="DDD5EA"/>
            </a:solidFill>
            <a:prstDash val="solid"/>
          </a:ln>
        </p:spPr>
      </p:sp>
      <p:sp>
        <p:nvSpPr>
          <p:cNvPr id="5" name="Shape 3"/>
          <p:cNvSpPr/>
          <p:nvPr/>
        </p:nvSpPr>
        <p:spPr>
          <a:xfrm>
            <a:off x="502920" y="1828800"/>
            <a:ext cx="3611880" cy="91440"/>
          </a:xfrm>
          <a:prstGeom prst="rect">
            <a:avLst/>
          </a:prstGeom>
          <a:solidFill>
            <a:srgbClr val="7C5C8C"/>
          </a:solidFill>
          <a:ln w="12700">
            <a:solidFill>
              <a:srgbClr val="7C5C8C"/>
            </a:solidFill>
            <a:prstDash val="solid"/>
          </a:ln>
        </p:spPr>
      </p:sp>
      <p:sp>
        <p:nvSpPr>
          <p:cNvPr id="6" name="Text 4"/>
          <p:cNvSpPr txBox="1"/>
          <p:nvPr/>
        </p:nvSpPr>
        <p:spPr>
          <a:xfrm>
            <a:off x="667512" y="2029968"/>
            <a:ext cx="3282696" cy="402336"/>
          </a:xfrm>
          <a:prstGeom prst="rect">
            <a:avLst/>
          </a:prstGeom>
          <a:noFill/>
          <a:ln/>
        </p:spPr>
        <p:txBody>
          <a:bodyPr wrap="square" lIns="0" tIns="0" rIns="0" bIns="0" rtlCol="0" anchor="ctr"/>
          <a:lstStyle/>
          <a:p>
            <a:pPr indent="0" marL="0">
              <a:buNone/>
            </a:pPr>
            <a:r>
              <a:rPr lang="en-US" sz="1300" b="1" dirty="0">
                <a:solidFill>
                  <a:srgbClr val="1E1B2E"/>
                </a:solidFill>
                <a:latin typeface="Calibri" pitchFamily="34" charset="0"/>
                <a:ea typeface="Calibri" pitchFamily="34" charset="-122"/>
                <a:cs typeface="Calibri" pitchFamily="34" charset="-120"/>
              </a:rPr>
              <a:t>EMDR Therapy</a:t>
            </a:r>
            <a:endParaRPr lang="en-US" sz="1300" dirty="0"/>
          </a:p>
        </p:txBody>
      </p:sp>
      <p:sp>
        <p:nvSpPr>
          <p:cNvPr id="7" name="Text 5"/>
          <p:cNvSpPr txBox="1"/>
          <p:nvPr/>
        </p:nvSpPr>
        <p:spPr>
          <a:xfrm>
            <a:off x="667512" y="2487168"/>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Eye Movement Desensitization &amp; Reprocessing — science and lived experience for clients AND clinicians</a:t>
            </a:r>
            <a:endParaRPr lang="en-US" sz="1150" dirty="0"/>
          </a:p>
        </p:txBody>
      </p:sp>
      <p:sp>
        <p:nvSpPr>
          <p:cNvPr id="8" name="Shape 6"/>
          <p:cNvSpPr/>
          <p:nvPr/>
        </p:nvSpPr>
        <p:spPr>
          <a:xfrm>
            <a:off x="4398264" y="1828800"/>
            <a:ext cx="3611880" cy="2057400"/>
          </a:xfrm>
          <a:prstGeom prst="rect">
            <a:avLst/>
          </a:prstGeom>
          <a:solidFill>
            <a:srgbClr val="FFFFFF"/>
          </a:solidFill>
          <a:ln w="9525">
            <a:solidFill>
              <a:srgbClr val="DDD5EA"/>
            </a:solidFill>
            <a:prstDash val="solid"/>
          </a:ln>
        </p:spPr>
      </p:sp>
      <p:sp>
        <p:nvSpPr>
          <p:cNvPr id="9" name="Shape 7"/>
          <p:cNvSpPr/>
          <p:nvPr/>
        </p:nvSpPr>
        <p:spPr>
          <a:xfrm>
            <a:off x="4398264" y="1828800"/>
            <a:ext cx="3611880" cy="91440"/>
          </a:xfrm>
          <a:prstGeom prst="rect">
            <a:avLst/>
          </a:prstGeom>
          <a:solidFill>
            <a:srgbClr val="7C5C8C"/>
          </a:solidFill>
          <a:ln w="12700">
            <a:solidFill>
              <a:srgbClr val="7C5C8C"/>
            </a:solidFill>
            <a:prstDash val="solid"/>
          </a:ln>
        </p:spPr>
      </p:sp>
      <p:sp>
        <p:nvSpPr>
          <p:cNvPr id="10" name="Text 8"/>
          <p:cNvSpPr txBox="1"/>
          <p:nvPr/>
        </p:nvSpPr>
        <p:spPr>
          <a:xfrm>
            <a:off x="4562856" y="2029968"/>
            <a:ext cx="3282696" cy="402336"/>
          </a:xfrm>
          <a:prstGeom prst="rect">
            <a:avLst/>
          </a:prstGeom>
          <a:noFill/>
          <a:ln/>
        </p:spPr>
        <p:txBody>
          <a:bodyPr wrap="square" lIns="0" tIns="0" rIns="0" bIns="0" rtlCol="0" anchor="ctr"/>
          <a:lstStyle/>
          <a:p>
            <a:pPr indent="0" marL="0">
              <a:buNone/>
            </a:pPr>
            <a:r>
              <a:rPr lang="en-US" sz="1300" b="1" dirty="0">
                <a:solidFill>
                  <a:srgbClr val="1E1B2E"/>
                </a:solidFill>
                <a:latin typeface="Calibri" pitchFamily="34" charset="0"/>
                <a:ea typeface="Calibri" pitchFamily="34" charset="-122"/>
                <a:cs typeface="Calibri" pitchFamily="34" charset="-120"/>
              </a:rPr>
              <a:t>IFS — Internal Family Systems</a:t>
            </a:r>
            <a:endParaRPr lang="en-US" sz="1300" dirty="0"/>
          </a:p>
        </p:txBody>
      </p:sp>
      <p:sp>
        <p:nvSpPr>
          <p:cNvPr id="11" name="Text 9"/>
          <p:cNvSpPr txBox="1"/>
          <p:nvPr/>
        </p:nvSpPr>
        <p:spPr>
          <a:xfrm>
            <a:off x="4562856" y="2487168"/>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Parts work and self-leadership explained in a way therapy clients and trainees actually understand</a:t>
            </a:r>
            <a:endParaRPr lang="en-US" sz="1150" dirty="0"/>
          </a:p>
        </p:txBody>
      </p:sp>
      <p:sp>
        <p:nvSpPr>
          <p:cNvPr id="12" name="Shape 10"/>
          <p:cNvSpPr/>
          <p:nvPr/>
        </p:nvSpPr>
        <p:spPr>
          <a:xfrm>
            <a:off x="8293608" y="1828800"/>
            <a:ext cx="3611880" cy="2057400"/>
          </a:xfrm>
          <a:prstGeom prst="rect">
            <a:avLst/>
          </a:prstGeom>
          <a:solidFill>
            <a:srgbClr val="FFFFFF"/>
          </a:solidFill>
          <a:ln w="9525">
            <a:solidFill>
              <a:srgbClr val="DDD5EA"/>
            </a:solidFill>
            <a:prstDash val="solid"/>
          </a:ln>
        </p:spPr>
      </p:sp>
      <p:sp>
        <p:nvSpPr>
          <p:cNvPr id="13" name="Shape 11"/>
          <p:cNvSpPr/>
          <p:nvPr/>
        </p:nvSpPr>
        <p:spPr>
          <a:xfrm>
            <a:off x="8293608" y="1828800"/>
            <a:ext cx="3611880" cy="91440"/>
          </a:xfrm>
          <a:prstGeom prst="rect">
            <a:avLst/>
          </a:prstGeom>
          <a:solidFill>
            <a:srgbClr val="7C5C8C"/>
          </a:solidFill>
          <a:ln w="12700">
            <a:solidFill>
              <a:srgbClr val="7C5C8C"/>
            </a:solidFill>
            <a:prstDash val="solid"/>
          </a:ln>
        </p:spPr>
      </p:sp>
      <p:sp>
        <p:nvSpPr>
          <p:cNvPr id="14" name="Text 12"/>
          <p:cNvSpPr txBox="1"/>
          <p:nvPr/>
        </p:nvSpPr>
        <p:spPr>
          <a:xfrm>
            <a:off x="8458200" y="2029968"/>
            <a:ext cx="3282696" cy="402336"/>
          </a:xfrm>
          <a:prstGeom prst="rect">
            <a:avLst/>
          </a:prstGeom>
          <a:noFill/>
          <a:ln/>
        </p:spPr>
        <p:txBody>
          <a:bodyPr wrap="square" lIns="0" tIns="0" rIns="0" bIns="0" rtlCol="0" anchor="ctr"/>
          <a:lstStyle/>
          <a:p>
            <a:pPr indent="0" marL="0">
              <a:buNone/>
            </a:pPr>
            <a:r>
              <a:rPr lang="en-US" sz="1300" b="1" dirty="0">
                <a:solidFill>
                  <a:srgbClr val="1E1B2E"/>
                </a:solidFill>
                <a:latin typeface="Calibri" pitchFamily="34" charset="0"/>
                <a:ea typeface="Calibri" pitchFamily="34" charset="-122"/>
                <a:cs typeface="Calibri" pitchFamily="34" charset="-120"/>
              </a:rPr>
              <a:t>CPTSD &amp; Complex Trauma</a:t>
            </a:r>
            <a:endParaRPr lang="en-US" sz="1300" dirty="0"/>
          </a:p>
        </p:txBody>
      </p:sp>
      <p:sp>
        <p:nvSpPr>
          <p:cNvPr id="15" name="Text 13"/>
          <p:cNvSpPr txBox="1"/>
          <p:nvPr/>
        </p:nvSpPr>
        <p:spPr>
          <a:xfrm>
            <a:off x="8458200" y="2487168"/>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Symptoms, patterns, and healing pathways for survivors and the therapists supporting them</a:t>
            </a:r>
            <a:endParaRPr lang="en-US" sz="1150" dirty="0"/>
          </a:p>
        </p:txBody>
      </p:sp>
      <p:sp>
        <p:nvSpPr>
          <p:cNvPr id="16" name="Shape 14"/>
          <p:cNvSpPr/>
          <p:nvPr/>
        </p:nvSpPr>
        <p:spPr>
          <a:xfrm>
            <a:off x="502920" y="4041648"/>
            <a:ext cx="3611880" cy="2057400"/>
          </a:xfrm>
          <a:prstGeom prst="rect">
            <a:avLst/>
          </a:prstGeom>
          <a:solidFill>
            <a:srgbClr val="FFFFFF"/>
          </a:solidFill>
          <a:ln w="9525">
            <a:solidFill>
              <a:srgbClr val="DDD5EA"/>
            </a:solidFill>
            <a:prstDash val="solid"/>
          </a:ln>
        </p:spPr>
      </p:sp>
      <p:sp>
        <p:nvSpPr>
          <p:cNvPr id="17" name="Shape 15"/>
          <p:cNvSpPr/>
          <p:nvPr/>
        </p:nvSpPr>
        <p:spPr>
          <a:xfrm>
            <a:off x="502920" y="4041648"/>
            <a:ext cx="3611880" cy="91440"/>
          </a:xfrm>
          <a:prstGeom prst="rect">
            <a:avLst/>
          </a:prstGeom>
          <a:solidFill>
            <a:srgbClr val="7C5C8C"/>
          </a:solidFill>
          <a:ln w="12700">
            <a:solidFill>
              <a:srgbClr val="7C5C8C"/>
            </a:solidFill>
            <a:prstDash val="solid"/>
          </a:ln>
        </p:spPr>
      </p:sp>
      <p:sp>
        <p:nvSpPr>
          <p:cNvPr id="18" name="Text 16"/>
          <p:cNvSpPr txBox="1"/>
          <p:nvPr/>
        </p:nvSpPr>
        <p:spPr>
          <a:xfrm>
            <a:off x="667512" y="4242816"/>
            <a:ext cx="3282696" cy="402336"/>
          </a:xfrm>
          <a:prstGeom prst="rect">
            <a:avLst/>
          </a:prstGeom>
          <a:noFill/>
          <a:ln/>
        </p:spPr>
        <p:txBody>
          <a:bodyPr wrap="square" lIns="0" tIns="0" rIns="0" bIns="0" rtlCol="0" anchor="ctr"/>
          <a:lstStyle/>
          <a:p>
            <a:pPr indent="0" marL="0">
              <a:buNone/>
            </a:pPr>
            <a:r>
              <a:rPr lang="en-US" sz="1300" b="1" dirty="0">
                <a:solidFill>
                  <a:srgbClr val="1E1B2E"/>
                </a:solidFill>
                <a:latin typeface="Calibri" pitchFamily="34" charset="0"/>
                <a:ea typeface="Calibri" pitchFamily="34" charset="-122"/>
                <a:cs typeface="Calibri" pitchFamily="34" charset="-120"/>
              </a:rPr>
              <a:t>Religious Trauma</a:t>
            </a:r>
            <a:endParaRPr lang="en-US" sz="1300" dirty="0"/>
          </a:p>
        </p:txBody>
      </p:sp>
      <p:sp>
        <p:nvSpPr>
          <p:cNvPr id="19" name="Text 17"/>
          <p:cNvSpPr txBox="1"/>
          <p:nvPr/>
        </p:nvSpPr>
        <p:spPr>
          <a:xfrm>
            <a:off x="667512" y="4700016"/>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A niche with massive engagement and very few other credentialed clinician voices addressing it</a:t>
            </a:r>
            <a:endParaRPr lang="en-US" sz="1150" dirty="0"/>
          </a:p>
        </p:txBody>
      </p:sp>
      <p:sp>
        <p:nvSpPr>
          <p:cNvPr id="20" name="Shape 18"/>
          <p:cNvSpPr/>
          <p:nvPr/>
        </p:nvSpPr>
        <p:spPr>
          <a:xfrm>
            <a:off x="4398264" y="4041648"/>
            <a:ext cx="3611880" cy="2057400"/>
          </a:xfrm>
          <a:prstGeom prst="rect">
            <a:avLst/>
          </a:prstGeom>
          <a:solidFill>
            <a:srgbClr val="FFFFFF"/>
          </a:solidFill>
          <a:ln w="9525">
            <a:solidFill>
              <a:srgbClr val="DDD5EA"/>
            </a:solidFill>
            <a:prstDash val="solid"/>
          </a:ln>
        </p:spPr>
      </p:sp>
      <p:sp>
        <p:nvSpPr>
          <p:cNvPr id="21" name="Shape 19"/>
          <p:cNvSpPr/>
          <p:nvPr/>
        </p:nvSpPr>
        <p:spPr>
          <a:xfrm>
            <a:off x="4398264" y="4041648"/>
            <a:ext cx="3611880" cy="91440"/>
          </a:xfrm>
          <a:prstGeom prst="rect">
            <a:avLst/>
          </a:prstGeom>
          <a:solidFill>
            <a:srgbClr val="7C5C8C"/>
          </a:solidFill>
          <a:ln w="12700">
            <a:solidFill>
              <a:srgbClr val="7C5C8C"/>
            </a:solidFill>
            <a:prstDash val="solid"/>
          </a:ln>
        </p:spPr>
      </p:sp>
      <p:sp>
        <p:nvSpPr>
          <p:cNvPr id="22" name="Text 20"/>
          <p:cNvSpPr txBox="1"/>
          <p:nvPr/>
        </p:nvSpPr>
        <p:spPr>
          <a:xfrm>
            <a:off x="4562856" y="4242816"/>
            <a:ext cx="3282696" cy="402336"/>
          </a:xfrm>
          <a:prstGeom prst="rect">
            <a:avLst/>
          </a:prstGeom>
          <a:noFill/>
          <a:ln/>
        </p:spPr>
        <p:txBody>
          <a:bodyPr wrap="square" lIns="0" tIns="0" rIns="0" bIns="0" rtlCol="0" anchor="ctr"/>
          <a:lstStyle/>
          <a:p>
            <a:pPr indent="0" marL="0">
              <a:buNone/>
            </a:pPr>
            <a:r>
              <a:rPr lang="en-US" sz="1300" b="1" dirty="0">
                <a:solidFill>
                  <a:srgbClr val="1E1B2E"/>
                </a:solidFill>
                <a:latin typeface="Calibri" pitchFamily="34" charset="0"/>
                <a:ea typeface="Calibri" pitchFamily="34" charset="-122"/>
                <a:cs typeface="Calibri" pitchFamily="34" charset="-120"/>
              </a:rPr>
              <a:t>Clinician Education</a:t>
            </a:r>
            <a:endParaRPr lang="en-US" sz="1300" dirty="0"/>
          </a:p>
        </p:txBody>
      </p:sp>
      <p:sp>
        <p:nvSpPr>
          <p:cNvPr id="23" name="Text 21"/>
          <p:cNvSpPr txBox="1"/>
          <p:nvPr/>
        </p:nvSpPr>
        <p:spPr>
          <a:xfrm>
            <a:off x="4562856" y="4700016"/>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Content for therapists in training, EMDR consultation, and private practice-building decisions</a:t>
            </a:r>
            <a:endParaRPr lang="en-US" sz="1150" dirty="0"/>
          </a:p>
        </p:txBody>
      </p:sp>
      <p:sp>
        <p:nvSpPr>
          <p:cNvPr id="24" name="Shape 22"/>
          <p:cNvSpPr/>
          <p:nvPr/>
        </p:nvSpPr>
        <p:spPr>
          <a:xfrm>
            <a:off x="8293608" y="4041648"/>
            <a:ext cx="3611880" cy="2057400"/>
          </a:xfrm>
          <a:prstGeom prst="rect">
            <a:avLst/>
          </a:prstGeom>
          <a:solidFill>
            <a:srgbClr val="FFFFFF"/>
          </a:solidFill>
          <a:ln w="9525">
            <a:solidFill>
              <a:srgbClr val="DDD5EA"/>
            </a:solidFill>
            <a:prstDash val="solid"/>
          </a:ln>
        </p:spPr>
      </p:sp>
      <p:sp>
        <p:nvSpPr>
          <p:cNvPr id="25" name="Shape 23"/>
          <p:cNvSpPr/>
          <p:nvPr/>
        </p:nvSpPr>
        <p:spPr>
          <a:xfrm>
            <a:off x="8293608" y="4041648"/>
            <a:ext cx="3611880" cy="91440"/>
          </a:xfrm>
          <a:prstGeom prst="rect">
            <a:avLst/>
          </a:prstGeom>
          <a:solidFill>
            <a:srgbClr val="7C5C8C"/>
          </a:solidFill>
          <a:ln w="12700">
            <a:solidFill>
              <a:srgbClr val="7C5C8C"/>
            </a:solidFill>
            <a:prstDash val="solid"/>
          </a:ln>
        </p:spPr>
      </p:sp>
      <p:sp>
        <p:nvSpPr>
          <p:cNvPr id="26" name="Text 24"/>
          <p:cNvSpPr txBox="1"/>
          <p:nvPr/>
        </p:nvSpPr>
        <p:spPr>
          <a:xfrm>
            <a:off x="8458200" y="4242816"/>
            <a:ext cx="3282696" cy="402336"/>
          </a:xfrm>
          <a:prstGeom prst="rect">
            <a:avLst/>
          </a:prstGeom>
          <a:noFill/>
          <a:ln/>
        </p:spPr>
        <p:txBody>
          <a:bodyPr wrap="square" lIns="0" tIns="0" rIns="0" bIns="0" rtlCol="0" anchor="ctr"/>
          <a:lstStyle/>
          <a:p>
            <a:pPr indent="0" marL="0">
              <a:buNone/>
            </a:pPr>
            <a:r>
              <a:rPr lang="en-US" sz="1300" b="1" dirty="0">
                <a:solidFill>
                  <a:srgbClr val="1E1B2E"/>
                </a:solidFill>
                <a:latin typeface="Calibri" pitchFamily="34" charset="0"/>
                <a:ea typeface="Calibri" pitchFamily="34" charset="-122"/>
                <a:cs typeface="Calibri" pitchFamily="34" charset="-120"/>
              </a:rPr>
              <a:t>Therapy Demystified</a:t>
            </a:r>
            <a:endParaRPr lang="en-US" sz="1300" dirty="0"/>
          </a:p>
        </p:txBody>
      </p:sp>
      <p:sp>
        <p:nvSpPr>
          <p:cNvPr id="27" name="Text 25"/>
          <p:cNvSpPr txBox="1"/>
          <p:nvPr/>
        </p:nvSpPr>
        <p:spPr>
          <a:xfrm>
            <a:off x="8458200" y="4700016"/>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What therapy actually looks like, how to find a therapist, and what to expect — for the general public</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F9"/>
        </a:solidFill>
      </p:bgPr>
    </p:bg>
    <p:spTree>
      <p:nvGrpSpPr>
        <p:cNvPr id="1" name=""/>
        <p:cNvGrpSpPr/>
        <p:nvPr/>
      </p:nvGrpSpPr>
      <p:grpSpPr>
        <a:xfrm>
          <a:off x="0" y="0"/>
          <a:ext cx="0" cy="0"/>
          <a:chOff x="0" y="0"/>
          <a:chExt cx="0" cy="0"/>
        </a:xfrm>
      </p:grpSpPr>
      <p:sp>
        <p:nvSpPr>
          <p:cNvPr id="2" name="Text 0"/>
          <p:cNvSpPr txBox="1"/>
          <p:nvPr/>
        </p:nvSpPr>
        <p:spPr>
          <a:xfrm>
            <a:off x="640080" y="475488"/>
            <a:ext cx="9144000" cy="256032"/>
          </a:xfrm>
          <a:prstGeom prst="rect">
            <a:avLst/>
          </a:prstGeom>
          <a:noFill/>
          <a:ln/>
        </p:spPr>
        <p:txBody>
          <a:bodyPr wrap="square" lIns="0" tIns="0" rIns="0" bIns="0" rtlCol="0" anchor="ctr"/>
          <a:lstStyle/>
          <a:p>
            <a:pPr indent="0" marL="0">
              <a:buNone/>
            </a:pPr>
            <a:r>
              <a:rPr lang="en-US" sz="900" b="1" spc="400" kern="0" dirty="0">
                <a:solidFill>
                  <a:srgbClr val="7C5C8C"/>
                </a:solidFill>
                <a:latin typeface="Calibri" pitchFamily="34" charset="0"/>
                <a:ea typeface="Calibri" pitchFamily="34" charset="-122"/>
                <a:cs typeface="Calibri" pitchFamily="34" charset="-120"/>
              </a:rPr>
              <a:t>PARTNERSHIP OPPORTUNITIES</a:t>
            </a:r>
            <a:endParaRPr lang="en-US" sz="900" dirty="0"/>
          </a:p>
        </p:txBody>
      </p:sp>
      <p:sp>
        <p:nvSpPr>
          <p:cNvPr id="3" name="Text 1"/>
          <p:cNvSpPr txBox="1"/>
          <p:nvPr/>
        </p:nvSpPr>
        <p:spPr>
          <a:xfrm>
            <a:off x="640080" y="786384"/>
            <a:ext cx="9144000" cy="566928"/>
          </a:xfrm>
          <a:prstGeom prst="rect">
            <a:avLst/>
          </a:prstGeom>
          <a:noFill/>
          <a:ln/>
        </p:spPr>
        <p:txBody>
          <a:bodyPr wrap="square" lIns="0" tIns="0" rIns="0" bIns="0" rtlCol="0" anchor="ctr"/>
          <a:lstStyle/>
          <a:p>
            <a:pPr indent="0" marL="0">
              <a:buNone/>
            </a:pPr>
            <a:r>
              <a:rPr lang="en-US" sz="3200" b="1" dirty="0">
                <a:solidFill>
                  <a:srgbClr val="1E1B2E"/>
                </a:solidFill>
                <a:latin typeface="Cambria" pitchFamily="34" charset="0"/>
                <a:ea typeface="Cambria" pitchFamily="34" charset="-122"/>
                <a:cs typeface="Cambria" pitchFamily="34" charset="-120"/>
              </a:rPr>
              <a:t>Rates &amp; Deliverables</a:t>
            </a:r>
            <a:endParaRPr lang="en-US" sz="3200" dirty="0"/>
          </a:p>
        </p:txBody>
      </p:sp>
      <p:sp>
        <p:nvSpPr>
          <p:cNvPr id="4" name="Shape 2"/>
          <p:cNvSpPr/>
          <p:nvPr/>
        </p:nvSpPr>
        <p:spPr>
          <a:xfrm>
            <a:off x="502920" y="1508760"/>
            <a:ext cx="11155680" cy="365760"/>
          </a:xfrm>
          <a:prstGeom prst="rect">
            <a:avLst/>
          </a:prstGeom>
          <a:solidFill>
            <a:srgbClr val="1E1B2E"/>
          </a:solidFill>
          <a:ln w="12700">
            <a:solidFill>
              <a:srgbClr val="1E1B2E"/>
            </a:solidFill>
            <a:prstDash val="solid"/>
          </a:ln>
        </p:spPr>
      </p:sp>
      <p:sp>
        <p:nvSpPr>
          <p:cNvPr id="5" name="Text 3"/>
          <p:cNvSpPr txBox="1"/>
          <p:nvPr/>
        </p:nvSpPr>
        <p:spPr>
          <a:xfrm>
            <a:off x="685800" y="1536192"/>
            <a:ext cx="3017520" cy="274320"/>
          </a:xfrm>
          <a:prstGeom prst="rect">
            <a:avLst/>
          </a:prstGeom>
          <a:noFill/>
          <a:ln/>
        </p:spPr>
        <p:txBody>
          <a:bodyPr wrap="square" lIns="0" tIns="0" rIns="0" bIns="0" rtlCol="0" anchor="ctr"/>
          <a:lstStyle/>
          <a:p>
            <a:pPr algn="l" indent="0" marL="0">
              <a:buNone/>
            </a:pPr>
            <a:r>
              <a:rPr lang="en-US" sz="850" b="1" spc="200" kern="0" dirty="0">
                <a:solidFill>
                  <a:srgbClr val="B8A0C8"/>
                </a:solidFill>
                <a:latin typeface="Calibri" pitchFamily="34" charset="0"/>
                <a:ea typeface="Calibri" pitchFamily="34" charset="-122"/>
                <a:cs typeface="Calibri" pitchFamily="34" charset="-120"/>
              </a:rPr>
              <a:t>DELIVERABLE</a:t>
            </a:r>
            <a:endParaRPr lang="en-US" sz="850" dirty="0"/>
          </a:p>
        </p:txBody>
      </p:sp>
      <p:sp>
        <p:nvSpPr>
          <p:cNvPr id="6" name="Text 4"/>
          <p:cNvSpPr txBox="1"/>
          <p:nvPr/>
        </p:nvSpPr>
        <p:spPr>
          <a:xfrm>
            <a:off x="3977640" y="1536192"/>
            <a:ext cx="3017520" cy="274320"/>
          </a:xfrm>
          <a:prstGeom prst="rect">
            <a:avLst/>
          </a:prstGeom>
          <a:noFill/>
          <a:ln/>
        </p:spPr>
        <p:txBody>
          <a:bodyPr wrap="square" lIns="0" tIns="0" rIns="0" bIns="0" rtlCol="0" anchor="ctr"/>
          <a:lstStyle/>
          <a:p>
            <a:pPr algn="l" indent="0" marL="0">
              <a:buNone/>
            </a:pPr>
            <a:r>
              <a:rPr lang="en-US" sz="850" b="1" spc="200" kern="0" dirty="0">
                <a:solidFill>
                  <a:srgbClr val="B8A0C8"/>
                </a:solidFill>
                <a:latin typeface="Calibri" pitchFamily="34" charset="0"/>
                <a:ea typeface="Calibri" pitchFamily="34" charset="-122"/>
                <a:cs typeface="Calibri" pitchFamily="34" charset="-120"/>
              </a:rPr>
              <a:t>DESCRIPTION</a:t>
            </a:r>
            <a:endParaRPr lang="en-US" sz="850" dirty="0"/>
          </a:p>
        </p:txBody>
      </p:sp>
      <p:sp>
        <p:nvSpPr>
          <p:cNvPr id="7" name="Text 5"/>
          <p:cNvSpPr txBox="1"/>
          <p:nvPr/>
        </p:nvSpPr>
        <p:spPr>
          <a:xfrm>
            <a:off x="10149840" y="1536192"/>
            <a:ext cx="1371600" cy="274320"/>
          </a:xfrm>
          <a:prstGeom prst="rect">
            <a:avLst/>
          </a:prstGeom>
          <a:noFill/>
          <a:ln/>
        </p:spPr>
        <p:txBody>
          <a:bodyPr wrap="square" lIns="0" tIns="0" rIns="0" bIns="0" rtlCol="0" anchor="ctr"/>
          <a:lstStyle/>
          <a:p>
            <a:pPr algn="r" indent="0" marL="0">
              <a:buNone/>
            </a:pPr>
            <a:r>
              <a:rPr lang="en-US" sz="850" b="1" spc="200" kern="0" dirty="0">
                <a:solidFill>
                  <a:srgbClr val="B8A0C8"/>
                </a:solidFill>
                <a:latin typeface="Calibri" pitchFamily="34" charset="0"/>
                <a:ea typeface="Calibri" pitchFamily="34" charset="-122"/>
                <a:cs typeface="Calibri" pitchFamily="34" charset="-120"/>
              </a:rPr>
              <a:t>RATE</a:t>
            </a:r>
            <a:endParaRPr lang="en-US" sz="850" dirty="0"/>
          </a:p>
        </p:txBody>
      </p:sp>
      <p:sp>
        <p:nvSpPr>
          <p:cNvPr id="8" name="Shape 6"/>
          <p:cNvSpPr/>
          <p:nvPr/>
        </p:nvSpPr>
        <p:spPr>
          <a:xfrm>
            <a:off x="502920" y="1911096"/>
            <a:ext cx="11155680" cy="585216"/>
          </a:xfrm>
          <a:prstGeom prst="rect">
            <a:avLst/>
          </a:prstGeom>
          <a:solidFill>
            <a:srgbClr val="FFFFFF"/>
          </a:solidFill>
          <a:ln w="6350">
            <a:solidFill>
              <a:srgbClr val="DDD5EA"/>
            </a:solidFill>
            <a:prstDash val="solid"/>
          </a:ln>
        </p:spPr>
      </p:sp>
      <p:sp>
        <p:nvSpPr>
          <p:cNvPr id="9" name="Text 7"/>
          <p:cNvSpPr txBox="1"/>
          <p:nvPr/>
        </p:nvSpPr>
        <p:spPr>
          <a:xfrm>
            <a:off x="685800" y="2002536"/>
            <a:ext cx="3154680" cy="438912"/>
          </a:xfrm>
          <a:prstGeom prst="rect">
            <a:avLst/>
          </a:prstGeom>
          <a:noFill/>
          <a:ln/>
        </p:spPr>
        <p:txBody>
          <a:bodyPr wrap="square" lIns="0" tIns="0" rIns="0" bIns="0" rtlCol="0" anchor="ctr"/>
          <a:lstStyle/>
          <a:p>
            <a:pPr indent="0" marL="0">
              <a:buNone/>
            </a:pPr>
            <a:r>
              <a:rPr lang="en-US" sz="1200" b="1" dirty="0">
                <a:solidFill>
                  <a:srgbClr val="1E1B2E"/>
                </a:solidFill>
                <a:latin typeface="Calibri" pitchFamily="34" charset="0"/>
                <a:ea typeface="Calibri" pitchFamily="34" charset="-122"/>
                <a:cs typeface="Calibri" pitchFamily="34" charset="-120"/>
              </a:rPr>
              <a:t>TikTok Sponsored Video</a:t>
            </a:r>
            <a:endParaRPr lang="en-US" sz="1200" dirty="0"/>
          </a:p>
        </p:txBody>
      </p:sp>
      <p:sp>
        <p:nvSpPr>
          <p:cNvPr id="10" name="Text 8"/>
          <p:cNvSpPr txBox="1"/>
          <p:nvPr/>
        </p:nvSpPr>
        <p:spPr>
          <a:xfrm>
            <a:off x="3977640" y="2020824"/>
            <a:ext cx="6035040" cy="402336"/>
          </a:xfrm>
          <a:prstGeom prst="rect">
            <a:avLst/>
          </a:prstGeom>
          <a:noFill/>
          <a:ln/>
        </p:spPr>
        <p:txBody>
          <a:bodyPr wrap="square" lIns="0" tIns="0" rIns="0" bIns="0" rtlCol="0" anchor="ctr"/>
          <a:lstStyle/>
          <a:p>
            <a:pPr indent="0" marL="0">
              <a:buNone/>
            </a:pPr>
            <a:r>
              <a:rPr lang="en-US" sz="1100" dirty="0">
                <a:solidFill>
                  <a:srgbClr val="4D5568"/>
                </a:solidFill>
                <a:latin typeface="Calibri" pitchFamily="34" charset="0"/>
                <a:ea typeface="Calibri" pitchFamily="34" charset="-122"/>
                <a:cs typeface="Calibri" pitchFamily="34" charset="-120"/>
              </a:rPr>
              <a:t>Dedicated 60–90 sec. authentic integration — story-driven, not scripted</a:t>
            </a:r>
            <a:endParaRPr lang="en-US" sz="1100" dirty="0"/>
          </a:p>
        </p:txBody>
      </p:sp>
      <p:sp>
        <p:nvSpPr>
          <p:cNvPr id="11" name="Text 9"/>
          <p:cNvSpPr txBox="1"/>
          <p:nvPr/>
        </p:nvSpPr>
        <p:spPr>
          <a:xfrm>
            <a:off x="10149840" y="1993392"/>
            <a:ext cx="1371600" cy="438912"/>
          </a:xfrm>
          <a:prstGeom prst="rect">
            <a:avLst/>
          </a:prstGeom>
          <a:noFill/>
          <a:ln/>
        </p:spPr>
        <p:txBody>
          <a:bodyPr wrap="square" lIns="0" tIns="0" rIns="0" bIns="0" rtlCol="0" anchor="ctr"/>
          <a:lstStyle/>
          <a:p>
            <a:pPr algn="r" indent="0" marL="0">
              <a:buNone/>
            </a:pPr>
            <a:r>
              <a:rPr lang="en-US" sz="1500" b="1" dirty="0">
                <a:solidFill>
                  <a:srgbClr val="1E1B2E"/>
                </a:solidFill>
                <a:latin typeface="Cambria" pitchFamily="34" charset="0"/>
                <a:ea typeface="Cambria" pitchFamily="34" charset="-122"/>
                <a:cs typeface="Cambria" pitchFamily="34" charset="-120"/>
              </a:rPr>
              <a:t>$200</a:t>
            </a:r>
            <a:endParaRPr lang="en-US" sz="1500" dirty="0"/>
          </a:p>
        </p:txBody>
      </p:sp>
      <p:sp>
        <p:nvSpPr>
          <p:cNvPr id="12" name="Shape 10"/>
          <p:cNvSpPr/>
          <p:nvPr/>
        </p:nvSpPr>
        <p:spPr>
          <a:xfrm>
            <a:off x="502920" y="2514600"/>
            <a:ext cx="11155680" cy="585216"/>
          </a:xfrm>
          <a:prstGeom prst="rect">
            <a:avLst/>
          </a:prstGeom>
          <a:solidFill>
            <a:srgbClr val="F0EBF8"/>
          </a:solidFill>
          <a:ln w="6350">
            <a:solidFill>
              <a:srgbClr val="DDD5EA"/>
            </a:solidFill>
            <a:prstDash val="solid"/>
          </a:ln>
        </p:spPr>
      </p:sp>
      <p:sp>
        <p:nvSpPr>
          <p:cNvPr id="13" name="Text 11"/>
          <p:cNvSpPr txBox="1"/>
          <p:nvPr/>
        </p:nvSpPr>
        <p:spPr>
          <a:xfrm>
            <a:off x="685800" y="2606040"/>
            <a:ext cx="3154680" cy="438912"/>
          </a:xfrm>
          <a:prstGeom prst="rect">
            <a:avLst/>
          </a:prstGeom>
          <a:noFill/>
          <a:ln/>
        </p:spPr>
        <p:txBody>
          <a:bodyPr wrap="square" lIns="0" tIns="0" rIns="0" bIns="0" rtlCol="0" anchor="ctr"/>
          <a:lstStyle/>
          <a:p>
            <a:pPr indent="0" marL="0">
              <a:buNone/>
            </a:pPr>
            <a:r>
              <a:rPr lang="en-US" sz="1200" b="1" dirty="0">
                <a:solidFill>
                  <a:srgbClr val="1E1B2E"/>
                </a:solidFill>
                <a:latin typeface="Calibri" pitchFamily="34" charset="0"/>
                <a:ea typeface="Calibri" pitchFamily="34" charset="-122"/>
                <a:cs typeface="Calibri" pitchFamily="34" charset="-120"/>
              </a:rPr>
              <a:t>Instagram Reel</a:t>
            </a:r>
            <a:endParaRPr lang="en-US" sz="1200" dirty="0"/>
          </a:p>
        </p:txBody>
      </p:sp>
      <p:sp>
        <p:nvSpPr>
          <p:cNvPr id="14" name="Text 12"/>
          <p:cNvSpPr txBox="1"/>
          <p:nvPr/>
        </p:nvSpPr>
        <p:spPr>
          <a:xfrm>
            <a:off x="3977640" y="2624328"/>
            <a:ext cx="6035040" cy="402336"/>
          </a:xfrm>
          <a:prstGeom prst="rect">
            <a:avLst/>
          </a:prstGeom>
          <a:noFill/>
          <a:ln/>
        </p:spPr>
        <p:txBody>
          <a:bodyPr wrap="square" lIns="0" tIns="0" rIns="0" bIns="0" rtlCol="0" anchor="ctr"/>
          <a:lstStyle/>
          <a:p>
            <a:pPr indent="0" marL="0">
              <a:buNone/>
            </a:pPr>
            <a:r>
              <a:rPr lang="en-US" sz="1100" dirty="0">
                <a:solidFill>
                  <a:srgbClr val="4D5568"/>
                </a:solidFill>
                <a:latin typeface="Calibri" pitchFamily="34" charset="0"/>
                <a:ea typeface="Calibri" pitchFamily="34" charset="-122"/>
                <a:cs typeface="Calibri" pitchFamily="34" charset="-120"/>
              </a:rPr>
              <a:t>30–60 sec. Reel with caption, tags, and Story share</a:t>
            </a:r>
            <a:endParaRPr lang="en-US" sz="1100" dirty="0"/>
          </a:p>
        </p:txBody>
      </p:sp>
      <p:sp>
        <p:nvSpPr>
          <p:cNvPr id="15" name="Text 13"/>
          <p:cNvSpPr txBox="1"/>
          <p:nvPr/>
        </p:nvSpPr>
        <p:spPr>
          <a:xfrm>
            <a:off x="10149840" y="2596896"/>
            <a:ext cx="1371600" cy="438912"/>
          </a:xfrm>
          <a:prstGeom prst="rect">
            <a:avLst/>
          </a:prstGeom>
          <a:noFill/>
          <a:ln/>
        </p:spPr>
        <p:txBody>
          <a:bodyPr wrap="square" lIns="0" tIns="0" rIns="0" bIns="0" rtlCol="0" anchor="ctr"/>
          <a:lstStyle/>
          <a:p>
            <a:pPr algn="r" indent="0" marL="0">
              <a:buNone/>
            </a:pPr>
            <a:r>
              <a:rPr lang="en-US" sz="1500" b="1" dirty="0">
                <a:solidFill>
                  <a:srgbClr val="1E1B2E"/>
                </a:solidFill>
                <a:latin typeface="Cambria" pitchFamily="34" charset="0"/>
                <a:ea typeface="Cambria" pitchFamily="34" charset="-122"/>
                <a:cs typeface="Cambria" pitchFamily="34" charset="-120"/>
              </a:rPr>
              <a:t>$125</a:t>
            </a:r>
            <a:endParaRPr lang="en-US" sz="1500" dirty="0"/>
          </a:p>
        </p:txBody>
      </p:sp>
      <p:sp>
        <p:nvSpPr>
          <p:cNvPr id="16" name="Shape 14"/>
          <p:cNvSpPr/>
          <p:nvPr/>
        </p:nvSpPr>
        <p:spPr>
          <a:xfrm>
            <a:off x="502920" y="3118104"/>
            <a:ext cx="11155680" cy="585216"/>
          </a:xfrm>
          <a:prstGeom prst="rect">
            <a:avLst/>
          </a:prstGeom>
          <a:solidFill>
            <a:srgbClr val="FFFFFF"/>
          </a:solidFill>
          <a:ln w="6350">
            <a:solidFill>
              <a:srgbClr val="DDD5EA"/>
            </a:solidFill>
            <a:prstDash val="solid"/>
          </a:ln>
        </p:spPr>
      </p:sp>
      <p:sp>
        <p:nvSpPr>
          <p:cNvPr id="17" name="Text 15"/>
          <p:cNvSpPr txBox="1"/>
          <p:nvPr/>
        </p:nvSpPr>
        <p:spPr>
          <a:xfrm>
            <a:off x="685800" y="3209544"/>
            <a:ext cx="3154680" cy="438912"/>
          </a:xfrm>
          <a:prstGeom prst="rect">
            <a:avLst/>
          </a:prstGeom>
          <a:noFill/>
          <a:ln/>
        </p:spPr>
        <p:txBody>
          <a:bodyPr wrap="square" lIns="0" tIns="0" rIns="0" bIns="0" rtlCol="0" anchor="ctr"/>
          <a:lstStyle/>
          <a:p>
            <a:pPr indent="0" marL="0">
              <a:buNone/>
            </a:pPr>
            <a:r>
              <a:rPr lang="en-US" sz="1200" b="1" dirty="0">
                <a:solidFill>
                  <a:srgbClr val="1E1B2E"/>
                </a:solidFill>
                <a:latin typeface="Calibri" pitchFamily="34" charset="0"/>
                <a:ea typeface="Calibri" pitchFamily="34" charset="-122"/>
                <a:cs typeface="Calibri" pitchFamily="34" charset="-120"/>
              </a:rPr>
              <a:t>Instagram Carousel Post</a:t>
            </a:r>
            <a:endParaRPr lang="en-US" sz="1200" dirty="0"/>
          </a:p>
        </p:txBody>
      </p:sp>
      <p:sp>
        <p:nvSpPr>
          <p:cNvPr id="18" name="Text 16"/>
          <p:cNvSpPr txBox="1"/>
          <p:nvPr/>
        </p:nvSpPr>
        <p:spPr>
          <a:xfrm>
            <a:off x="3977640" y="3227832"/>
            <a:ext cx="6035040" cy="402336"/>
          </a:xfrm>
          <a:prstGeom prst="rect">
            <a:avLst/>
          </a:prstGeom>
          <a:noFill/>
          <a:ln/>
        </p:spPr>
        <p:txBody>
          <a:bodyPr wrap="square" lIns="0" tIns="0" rIns="0" bIns="0" rtlCol="0" anchor="ctr"/>
          <a:lstStyle/>
          <a:p>
            <a:pPr indent="0" marL="0">
              <a:buNone/>
            </a:pPr>
            <a:r>
              <a:rPr lang="en-US" sz="1100" dirty="0">
                <a:solidFill>
                  <a:srgbClr val="4D5568"/>
                </a:solidFill>
                <a:latin typeface="Calibri" pitchFamily="34" charset="0"/>
                <a:ea typeface="Calibri" pitchFamily="34" charset="-122"/>
                <a:cs typeface="Calibri" pitchFamily="34" charset="-120"/>
              </a:rPr>
              <a:t>Educational slide post — ideal for therapy tools, apps, or books</a:t>
            </a:r>
            <a:endParaRPr lang="en-US" sz="1100" dirty="0"/>
          </a:p>
        </p:txBody>
      </p:sp>
      <p:sp>
        <p:nvSpPr>
          <p:cNvPr id="19" name="Text 17"/>
          <p:cNvSpPr txBox="1"/>
          <p:nvPr/>
        </p:nvSpPr>
        <p:spPr>
          <a:xfrm>
            <a:off x="10149840" y="3200400"/>
            <a:ext cx="1371600" cy="438912"/>
          </a:xfrm>
          <a:prstGeom prst="rect">
            <a:avLst/>
          </a:prstGeom>
          <a:noFill/>
          <a:ln/>
        </p:spPr>
        <p:txBody>
          <a:bodyPr wrap="square" lIns="0" tIns="0" rIns="0" bIns="0" rtlCol="0" anchor="ctr"/>
          <a:lstStyle/>
          <a:p>
            <a:pPr algn="r" indent="0" marL="0">
              <a:buNone/>
            </a:pPr>
            <a:r>
              <a:rPr lang="en-US" sz="1500" b="1" dirty="0">
                <a:solidFill>
                  <a:srgbClr val="1E1B2E"/>
                </a:solidFill>
                <a:latin typeface="Cambria" pitchFamily="34" charset="0"/>
                <a:ea typeface="Cambria" pitchFamily="34" charset="-122"/>
                <a:cs typeface="Cambria" pitchFamily="34" charset="-120"/>
              </a:rPr>
              <a:t>$100</a:t>
            </a:r>
            <a:endParaRPr lang="en-US" sz="1500" dirty="0"/>
          </a:p>
        </p:txBody>
      </p:sp>
      <p:sp>
        <p:nvSpPr>
          <p:cNvPr id="20" name="Shape 18"/>
          <p:cNvSpPr/>
          <p:nvPr/>
        </p:nvSpPr>
        <p:spPr>
          <a:xfrm>
            <a:off x="502920" y="3721608"/>
            <a:ext cx="11155680" cy="585216"/>
          </a:xfrm>
          <a:prstGeom prst="rect">
            <a:avLst/>
          </a:prstGeom>
          <a:solidFill>
            <a:srgbClr val="F0EBF8"/>
          </a:solidFill>
          <a:ln w="6350">
            <a:solidFill>
              <a:srgbClr val="DDD5EA"/>
            </a:solidFill>
            <a:prstDash val="solid"/>
          </a:ln>
        </p:spPr>
      </p:sp>
      <p:sp>
        <p:nvSpPr>
          <p:cNvPr id="21" name="Text 19"/>
          <p:cNvSpPr txBox="1"/>
          <p:nvPr/>
        </p:nvSpPr>
        <p:spPr>
          <a:xfrm>
            <a:off x="685800" y="3813048"/>
            <a:ext cx="3154680" cy="438912"/>
          </a:xfrm>
          <a:prstGeom prst="rect">
            <a:avLst/>
          </a:prstGeom>
          <a:noFill/>
          <a:ln/>
        </p:spPr>
        <p:txBody>
          <a:bodyPr wrap="square" lIns="0" tIns="0" rIns="0" bIns="0" rtlCol="0" anchor="ctr"/>
          <a:lstStyle/>
          <a:p>
            <a:pPr indent="0" marL="0">
              <a:buNone/>
            </a:pPr>
            <a:r>
              <a:rPr lang="en-US" sz="1200" b="1" dirty="0">
                <a:solidFill>
                  <a:srgbClr val="1E1B2E"/>
                </a:solidFill>
                <a:latin typeface="Calibri" pitchFamily="34" charset="0"/>
                <a:ea typeface="Calibri" pitchFamily="34" charset="-122"/>
                <a:cs typeface="Calibri" pitchFamily="34" charset="-120"/>
              </a:rPr>
              <a:t>Instagram Story Set (3 slides)</a:t>
            </a:r>
            <a:endParaRPr lang="en-US" sz="1200" dirty="0"/>
          </a:p>
        </p:txBody>
      </p:sp>
      <p:sp>
        <p:nvSpPr>
          <p:cNvPr id="22" name="Text 20"/>
          <p:cNvSpPr txBox="1"/>
          <p:nvPr/>
        </p:nvSpPr>
        <p:spPr>
          <a:xfrm>
            <a:off x="3977640" y="3831336"/>
            <a:ext cx="6035040" cy="402336"/>
          </a:xfrm>
          <a:prstGeom prst="rect">
            <a:avLst/>
          </a:prstGeom>
          <a:noFill/>
          <a:ln/>
        </p:spPr>
        <p:txBody>
          <a:bodyPr wrap="square" lIns="0" tIns="0" rIns="0" bIns="0" rtlCol="0" anchor="ctr"/>
          <a:lstStyle/>
          <a:p>
            <a:pPr indent="0" marL="0">
              <a:buNone/>
            </a:pPr>
            <a:r>
              <a:rPr lang="en-US" sz="1100" dirty="0">
                <a:solidFill>
                  <a:srgbClr val="4D5568"/>
                </a:solidFill>
                <a:latin typeface="Calibri" pitchFamily="34" charset="0"/>
                <a:ea typeface="Calibri" pitchFamily="34" charset="-122"/>
                <a:cs typeface="Calibri" pitchFamily="34" charset="-120"/>
              </a:rPr>
              <a:t>3-slide swipe sequence with link sticker — strong click-through rate</a:t>
            </a:r>
            <a:endParaRPr lang="en-US" sz="1100" dirty="0"/>
          </a:p>
        </p:txBody>
      </p:sp>
      <p:sp>
        <p:nvSpPr>
          <p:cNvPr id="23" name="Text 21"/>
          <p:cNvSpPr txBox="1"/>
          <p:nvPr/>
        </p:nvSpPr>
        <p:spPr>
          <a:xfrm>
            <a:off x="10149840" y="3803904"/>
            <a:ext cx="1371600" cy="438912"/>
          </a:xfrm>
          <a:prstGeom prst="rect">
            <a:avLst/>
          </a:prstGeom>
          <a:noFill/>
          <a:ln/>
        </p:spPr>
        <p:txBody>
          <a:bodyPr wrap="square" lIns="0" tIns="0" rIns="0" bIns="0" rtlCol="0" anchor="ctr"/>
          <a:lstStyle/>
          <a:p>
            <a:pPr algn="r" indent="0" marL="0">
              <a:buNone/>
            </a:pPr>
            <a:r>
              <a:rPr lang="en-US" sz="1500" b="1" dirty="0">
                <a:solidFill>
                  <a:srgbClr val="1E1B2E"/>
                </a:solidFill>
                <a:latin typeface="Cambria" pitchFamily="34" charset="0"/>
                <a:ea typeface="Cambria" pitchFamily="34" charset="-122"/>
                <a:cs typeface="Cambria" pitchFamily="34" charset="-120"/>
              </a:rPr>
              <a:t>$60</a:t>
            </a:r>
            <a:endParaRPr lang="en-US" sz="1500" dirty="0"/>
          </a:p>
        </p:txBody>
      </p:sp>
      <p:sp>
        <p:nvSpPr>
          <p:cNvPr id="24" name="Shape 22"/>
          <p:cNvSpPr/>
          <p:nvPr/>
        </p:nvSpPr>
        <p:spPr>
          <a:xfrm>
            <a:off x="502920" y="4325112"/>
            <a:ext cx="11155680" cy="585216"/>
          </a:xfrm>
          <a:prstGeom prst="rect">
            <a:avLst/>
          </a:prstGeom>
          <a:solidFill>
            <a:srgbClr val="FFFFFF"/>
          </a:solidFill>
          <a:ln w="6350">
            <a:solidFill>
              <a:srgbClr val="DDD5EA"/>
            </a:solidFill>
            <a:prstDash val="solid"/>
          </a:ln>
        </p:spPr>
      </p:sp>
      <p:sp>
        <p:nvSpPr>
          <p:cNvPr id="25" name="Text 23"/>
          <p:cNvSpPr txBox="1"/>
          <p:nvPr/>
        </p:nvSpPr>
        <p:spPr>
          <a:xfrm>
            <a:off x="685800" y="4416552"/>
            <a:ext cx="3154680" cy="438912"/>
          </a:xfrm>
          <a:prstGeom prst="rect">
            <a:avLst/>
          </a:prstGeom>
          <a:noFill/>
          <a:ln/>
        </p:spPr>
        <p:txBody>
          <a:bodyPr wrap="square" lIns="0" tIns="0" rIns="0" bIns="0" rtlCol="0" anchor="ctr"/>
          <a:lstStyle/>
          <a:p>
            <a:pPr indent="0" marL="0">
              <a:buNone/>
            </a:pPr>
            <a:r>
              <a:rPr lang="en-US" sz="1200" b="1" dirty="0">
                <a:solidFill>
                  <a:srgbClr val="1E1B2E"/>
                </a:solidFill>
                <a:latin typeface="Calibri" pitchFamily="34" charset="0"/>
                <a:ea typeface="Calibri" pitchFamily="34" charset="-122"/>
                <a:cs typeface="Calibri" pitchFamily="34" charset="-120"/>
              </a:rPr>
              <a:t>Facebook Post</a:t>
            </a:r>
            <a:endParaRPr lang="en-US" sz="1200" dirty="0"/>
          </a:p>
        </p:txBody>
      </p:sp>
      <p:sp>
        <p:nvSpPr>
          <p:cNvPr id="26" name="Text 24"/>
          <p:cNvSpPr txBox="1"/>
          <p:nvPr/>
        </p:nvSpPr>
        <p:spPr>
          <a:xfrm>
            <a:off x="3977640" y="4434840"/>
            <a:ext cx="6035040" cy="402336"/>
          </a:xfrm>
          <a:prstGeom prst="rect">
            <a:avLst/>
          </a:prstGeom>
          <a:noFill/>
          <a:ln/>
        </p:spPr>
        <p:txBody>
          <a:bodyPr wrap="square" lIns="0" tIns="0" rIns="0" bIns="0" rtlCol="0" anchor="ctr"/>
          <a:lstStyle/>
          <a:p>
            <a:pPr indent="0" marL="0">
              <a:buNone/>
            </a:pPr>
            <a:r>
              <a:rPr lang="en-US" sz="1100" dirty="0">
                <a:solidFill>
                  <a:srgbClr val="4D5568"/>
                </a:solidFill>
                <a:latin typeface="Calibri" pitchFamily="34" charset="0"/>
                <a:ea typeface="Calibri" pitchFamily="34" charset="-122"/>
                <a:cs typeface="Calibri" pitchFamily="34" charset="-120"/>
              </a:rPr>
              <a:t>Sponsored post with organic engagement</a:t>
            </a:r>
            <a:endParaRPr lang="en-US" sz="1100" dirty="0"/>
          </a:p>
        </p:txBody>
      </p:sp>
      <p:sp>
        <p:nvSpPr>
          <p:cNvPr id="27" name="Text 25"/>
          <p:cNvSpPr txBox="1"/>
          <p:nvPr/>
        </p:nvSpPr>
        <p:spPr>
          <a:xfrm>
            <a:off x="10149840" y="4407408"/>
            <a:ext cx="1371600" cy="438912"/>
          </a:xfrm>
          <a:prstGeom prst="rect">
            <a:avLst/>
          </a:prstGeom>
          <a:noFill/>
          <a:ln/>
        </p:spPr>
        <p:txBody>
          <a:bodyPr wrap="square" lIns="0" tIns="0" rIns="0" bIns="0" rtlCol="0" anchor="ctr"/>
          <a:lstStyle/>
          <a:p>
            <a:pPr algn="r" indent="0" marL="0">
              <a:buNone/>
            </a:pPr>
            <a:r>
              <a:rPr lang="en-US" sz="1500" b="1" dirty="0">
                <a:solidFill>
                  <a:srgbClr val="1E1B2E"/>
                </a:solidFill>
                <a:latin typeface="Cambria" pitchFamily="34" charset="0"/>
                <a:ea typeface="Cambria" pitchFamily="34" charset="-122"/>
                <a:cs typeface="Cambria" pitchFamily="34" charset="-120"/>
              </a:rPr>
              <a:t>$40</a:t>
            </a:r>
            <a:endParaRPr lang="en-US" sz="1500" dirty="0"/>
          </a:p>
        </p:txBody>
      </p:sp>
      <p:sp>
        <p:nvSpPr>
          <p:cNvPr id="28" name="Shape 26"/>
          <p:cNvSpPr/>
          <p:nvPr/>
        </p:nvSpPr>
        <p:spPr>
          <a:xfrm>
            <a:off x="502920" y="4928616"/>
            <a:ext cx="11155680" cy="585216"/>
          </a:xfrm>
          <a:prstGeom prst="rect">
            <a:avLst/>
          </a:prstGeom>
          <a:solidFill>
            <a:srgbClr val="EDE8F4"/>
          </a:solidFill>
          <a:ln w="6350">
            <a:solidFill>
              <a:srgbClr val="DDD5EA"/>
            </a:solidFill>
            <a:prstDash val="solid"/>
          </a:ln>
        </p:spPr>
      </p:sp>
      <p:sp>
        <p:nvSpPr>
          <p:cNvPr id="29" name="Text 27"/>
          <p:cNvSpPr txBox="1"/>
          <p:nvPr/>
        </p:nvSpPr>
        <p:spPr>
          <a:xfrm>
            <a:off x="685800" y="5020056"/>
            <a:ext cx="3154680" cy="438912"/>
          </a:xfrm>
          <a:prstGeom prst="rect">
            <a:avLst/>
          </a:prstGeom>
          <a:noFill/>
          <a:ln/>
        </p:spPr>
        <p:txBody>
          <a:bodyPr wrap="square" lIns="0" tIns="0" rIns="0" bIns="0" rtlCol="0" anchor="ctr"/>
          <a:lstStyle/>
          <a:p>
            <a:pPr indent="0" marL="0">
              <a:buNone/>
            </a:pPr>
            <a:r>
              <a:rPr lang="en-US" sz="1200" b="1" dirty="0">
                <a:solidFill>
                  <a:srgbClr val="1E1B2E"/>
                </a:solidFill>
                <a:latin typeface="Calibri" pitchFamily="34" charset="0"/>
                <a:ea typeface="Calibri" pitchFamily="34" charset="-122"/>
                <a:cs typeface="Calibri" pitchFamily="34" charset="-120"/>
              </a:rPr>
              <a:t>Bundle — TikTok + IG Reel + Stories</a:t>
            </a:r>
            <a:endParaRPr lang="en-US" sz="1200" dirty="0"/>
          </a:p>
        </p:txBody>
      </p:sp>
      <p:sp>
        <p:nvSpPr>
          <p:cNvPr id="30" name="Text 28"/>
          <p:cNvSpPr txBox="1"/>
          <p:nvPr/>
        </p:nvSpPr>
        <p:spPr>
          <a:xfrm>
            <a:off x="3977640" y="5038344"/>
            <a:ext cx="6035040" cy="402336"/>
          </a:xfrm>
          <a:prstGeom prst="rect">
            <a:avLst/>
          </a:prstGeom>
          <a:noFill/>
          <a:ln/>
        </p:spPr>
        <p:txBody>
          <a:bodyPr wrap="square" lIns="0" tIns="0" rIns="0" bIns="0" rtlCol="0" anchor="ctr"/>
          <a:lstStyle/>
          <a:p>
            <a:pPr indent="0" marL="0">
              <a:buNone/>
            </a:pPr>
            <a:r>
              <a:rPr lang="en-US" sz="1100" dirty="0">
                <a:solidFill>
                  <a:srgbClr val="4D5568"/>
                </a:solidFill>
                <a:latin typeface="Calibri" pitchFamily="34" charset="0"/>
                <a:ea typeface="Calibri" pitchFamily="34" charset="-122"/>
                <a:cs typeface="Calibri" pitchFamily="34" charset="-120"/>
              </a:rPr>
              <a:t>Full cross-platform launch — best value for software or product rollouts</a:t>
            </a:r>
            <a:endParaRPr lang="en-US" sz="1100" dirty="0"/>
          </a:p>
        </p:txBody>
      </p:sp>
      <p:sp>
        <p:nvSpPr>
          <p:cNvPr id="31" name="Text 29"/>
          <p:cNvSpPr txBox="1"/>
          <p:nvPr/>
        </p:nvSpPr>
        <p:spPr>
          <a:xfrm>
            <a:off x="10149840" y="5010912"/>
            <a:ext cx="1371600" cy="438912"/>
          </a:xfrm>
          <a:prstGeom prst="rect">
            <a:avLst/>
          </a:prstGeom>
          <a:noFill/>
          <a:ln/>
        </p:spPr>
        <p:txBody>
          <a:bodyPr wrap="square" lIns="0" tIns="0" rIns="0" bIns="0" rtlCol="0" anchor="ctr"/>
          <a:lstStyle/>
          <a:p>
            <a:pPr algn="r" indent="0" marL="0">
              <a:buNone/>
            </a:pPr>
            <a:r>
              <a:rPr lang="en-US" sz="1500" b="1" dirty="0">
                <a:solidFill>
                  <a:srgbClr val="1E1B2E"/>
                </a:solidFill>
                <a:latin typeface="Cambria" pitchFamily="34" charset="0"/>
                <a:ea typeface="Cambria" pitchFamily="34" charset="-122"/>
                <a:cs typeface="Cambria" pitchFamily="34" charset="-120"/>
              </a:rPr>
              <a:t>$350</a:t>
            </a:r>
            <a:endParaRPr lang="en-US" sz="1500" dirty="0"/>
          </a:p>
        </p:txBody>
      </p:sp>
      <p:sp>
        <p:nvSpPr>
          <p:cNvPr id="32" name="Shape 30"/>
          <p:cNvSpPr/>
          <p:nvPr/>
        </p:nvSpPr>
        <p:spPr>
          <a:xfrm>
            <a:off x="502920" y="5532120"/>
            <a:ext cx="11155680" cy="585216"/>
          </a:xfrm>
          <a:prstGeom prst="rect">
            <a:avLst/>
          </a:prstGeom>
          <a:solidFill>
            <a:srgbClr val="EDE8F4"/>
          </a:solidFill>
          <a:ln w="6350">
            <a:solidFill>
              <a:srgbClr val="DDD5EA"/>
            </a:solidFill>
            <a:prstDash val="solid"/>
          </a:ln>
        </p:spPr>
      </p:sp>
      <p:sp>
        <p:nvSpPr>
          <p:cNvPr id="33" name="Text 31"/>
          <p:cNvSpPr txBox="1"/>
          <p:nvPr/>
        </p:nvSpPr>
        <p:spPr>
          <a:xfrm>
            <a:off x="685800" y="5623560"/>
            <a:ext cx="3154680" cy="438912"/>
          </a:xfrm>
          <a:prstGeom prst="rect">
            <a:avLst/>
          </a:prstGeom>
          <a:noFill/>
          <a:ln/>
        </p:spPr>
        <p:txBody>
          <a:bodyPr wrap="square" lIns="0" tIns="0" rIns="0" bIns="0" rtlCol="0" anchor="ctr"/>
          <a:lstStyle/>
          <a:p>
            <a:pPr indent="0" marL="0">
              <a:buNone/>
            </a:pPr>
            <a:r>
              <a:rPr lang="en-US" sz="1200" b="1" dirty="0">
                <a:solidFill>
                  <a:srgbClr val="1E1B2E"/>
                </a:solidFill>
                <a:latin typeface="Calibri" pitchFamily="34" charset="0"/>
                <a:ea typeface="Calibri" pitchFamily="34" charset="-122"/>
                <a:cs typeface="Calibri" pitchFamily="34" charset="-120"/>
              </a:rPr>
              <a:t>Monthly Partnership</a:t>
            </a:r>
            <a:endParaRPr lang="en-US" sz="1200" dirty="0"/>
          </a:p>
        </p:txBody>
      </p:sp>
      <p:sp>
        <p:nvSpPr>
          <p:cNvPr id="34" name="Text 32"/>
          <p:cNvSpPr txBox="1"/>
          <p:nvPr/>
        </p:nvSpPr>
        <p:spPr>
          <a:xfrm>
            <a:off x="3977640" y="5641848"/>
            <a:ext cx="6035040" cy="402336"/>
          </a:xfrm>
          <a:prstGeom prst="rect">
            <a:avLst/>
          </a:prstGeom>
          <a:noFill/>
          <a:ln/>
        </p:spPr>
        <p:txBody>
          <a:bodyPr wrap="square" lIns="0" tIns="0" rIns="0" bIns="0" rtlCol="0" anchor="ctr"/>
          <a:lstStyle/>
          <a:p>
            <a:pPr indent="0" marL="0">
              <a:buNone/>
            </a:pPr>
            <a:r>
              <a:rPr lang="en-US" sz="1100" dirty="0">
                <a:solidFill>
                  <a:srgbClr val="4D5568"/>
                </a:solidFill>
                <a:latin typeface="Calibri" pitchFamily="34" charset="0"/>
                <a:ea typeface="Calibri" pitchFamily="34" charset="-122"/>
                <a:cs typeface="Calibri" pitchFamily="34" charset="-120"/>
              </a:rPr>
              <a:t>4 TikToks + 4 IG posts + weekly Stories — ongoing ambassador relationship</a:t>
            </a:r>
            <a:endParaRPr lang="en-US" sz="1100" dirty="0"/>
          </a:p>
        </p:txBody>
      </p:sp>
      <p:sp>
        <p:nvSpPr>
          <p:cNvPr id="35" name="Text 33"/>
          <p:cNvSpPr txBox="1"/>
          <p:nvPr/>
        </p:nvSpPr>
        <p:spPr>
          <a:xfrm>
            <a:off x="10149840" y="5614416"/>
            <a:ext cx="1371600" cy="438912"/>
          </a:xfrm>
          <a:prstGeom prst="rect">
            <a:avLst/>
          </a:prstGeom>
          <a:noFill/>
          <a:ln/>
        </p:spPr>
        <p:txBody>
          <a:bodyPr wrap="square" lIns="0" tIns="0" rIns="0" bIns="0" rtlCol="0" anchor="ctr"/>
          <a:lstStyle/>
          <a:p>
            <a:pPr algn="r" indent="0" marL="0">
              <a:buNone/>
            </a:pPr>
            <a:r>
              <a:rPr lang="en-US" sz="1500" b="1" dirty="0">
                <a:solidFill>
                  <a:srgbClr val="1E1B2E"/>
                </a:solidFill>
                <a:latin typeface="Cambria" pitchFamily="34" charset="0"/>
                <a:ea typeface="Cambria" pitchFamily="34" charset="-122"/>
                <a:cs typeface="Cambria" pitchFamily="34" charset="-120"/>
              </a:rPr>
              <a:t>$800/mo</a:t>
            </a:r>
            <a:endParaRPr lang="en-US" sz="1500" dirty="0"/>
          </a:p>
        </p:txBody>
      </p:sp>
      <p:sp>
        <p:nvSpPr>
          <p:cNvPr id="36" name="Text 34"/>
          <p:cNvSpPr txBox="1"/>
          <p:nvPr/>
        </p:nvSpPr>
        <p:spPr>
          <a:xfrm>
            <a:off x="640080" y="6336792"/>
            <a:ext cx="10881360" cy="310896"/>
          </a:xfrm>
          <a:prstGeom prst="rect">
            <a:avLst/>
          </a:prstGeom>
          <a:noFill/>
          <a:ln/>
        </p:spPr>
        <p:txBody>
          <a:bodyPr wrap="square" lIns="0" tIns="0" rIns="0" bIns="0" rtlCol="0" anchor="ctr"/>
          <a:lstStyle/>
          <a:p>
            <a:pPr indent="0" marL="0">
              <a:buNone/>
            </a:pPr>
            <a:r>
              <a:rPr lang="en-US" sz="1000" i="1" dirty="0">
                <a:solidFill>
                  <a:srgbClr val="8A9BAE"/>
                </a:solidFill>
                <a:latin typeface="Calibri" pitchFamily="34" charset="0"/>
                <a:ea typeface="Calibri" pitchFamily="34" charset="-122"/>
                <a:cs typeface="Calibri" pitchFamily="34" charset="-120"/>
              </a:rPr>
              <a:t>Custom packages available. All content is authentic and story-driven. Rates include 1 revision round. Affiliate arrangements considered case by case.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1B2E"/>
        </a:solidFill>
      </p:bgPr>
    </p:bg>
    <p:spTree>
      <p:nvGrpSpPr>
        <p:cNvPr id="1" name=""/>
        <p:cNvGrpSpPr/>
        <p:nvPr/>
      </p:nvGrpSpPr>
      <p:grpSpPr>
        <a:xfrm>
          <a:off x="0" y="0"/>
          <a:ext cx="0" cy="0"/>
          <a:chOff x="0" y="0"/>
          <a:chExt cx="0" cy="0"/>
        </a:xfrm>
      </p:grpSpPr>
      <p:sp>
        <p:nvSpPr>
          <p:cNvPr id="2" name="Shape 0"/>
          <p:cNvSpPr/>
          <p:nvPr/>
        </p:nvSpPr>
        <p:spPr>
          <a:xfrm>
            <a:off x="8229600" y="-914400"/>
            <a:ext cx="5669280" cy="5669280"/>
          </a:xfrm>
          <a:prstGeom prst="ellipse">
            <a:avLst/>
          </a:prstGeom>
          <a:solidFill>
            <a:srgbClr val="7C5C8C">
              <a:alpha val="15000"/>
            </a:srgbClr>
          </a:solidFill>
          <a:ln w="12700">
            <a:solidFill>
              <a:srgbClr val="7C5C8C">
                <a:alpha val="15000"/>
              </a:srgbClr>
            </a:solidFill>
            <a:prstDash val="solid"/>
          </a:ln>
        </p:spPr>
      </p:sp>
      <p:sp>
        <p:nvSpPr>
          <p:cNvPr id="3" name="Shape 1"/>
          <p:cNvSpPr/>
          <p:nvPr/>
        </p:nvSpPr>
        <p:spPr>
          <a:xfrm>
            <a:off x="-1645920" y="4572000"/>
            <a:ext cx="3840480" cy="3840480"/>
          </a:xfrm>
          <a:prstGeom prst="ellipse">
            <a:avLst/>
          </a:prstGeom>
          <a:solidFill>
            <a:srgbClr val="B8A0C8">
              <a:alpha val="10000"/>
            </a:srgbClr>
          </a:solidFill>
          <a:ln w="12700">
            <a:solidFill>
              <a:srgbClr val="B8A0C8">
                <a:alpha val="10000"/>
              </a:srgbClr>
            </a:solidFill>
            <a:prstDash val="solid"/>
          </a:ln>
        </p:spPr>
      </p:sp>
      <p:sp>
        <p:nvSpPr>
          <p:cNvPr id="4" name="Text 2"/>
          <p:cNvSpPr txBox="1"/>
          <p:nvPr/>
        </p:nvSpPr>
        <p:spPr>
          <a:xfrm>
            <a:off x="731520" y="1371600"/>
            <a:ext cx="9144000" cy="274320"/>
          </a:xfrm>
          <a:prstGeom prst="rect">
            <a:avLst/>
          </a:prstGeom>
          <a:noFill/>
          <a:ln/>
        </p:spPr>
        <p:txBody>
          <a:bodyPr wrap="square" lIns="0" tIns="0" rIns="0" bIns="0" rtlCol="0" anchor="ctr"/>
          <a:lstStyle/>
          <a:p>
            <a:pPr indent="0" marL="0">
              <a:buNone/>
            </a:pPr>
            <a:r>
              <a:rPr lang="en-US" sz="900" b="1" spc="400" kern="0" dirty="0">
                <a:solidFill>
                  <a:srgbClr val="B8A0C8"/>
                </a:solidFill>
                <a:latin typeface="Calibri" pitchFamily="34" charset="0"/>
                <a:ea typeface="Calibri" pitchFamily="34" charset="-122"/>
                <a:cs typeface="Calibri" pitchFamily="34" charset="-120"/>
              </a:rPr>
              <a:t>LET'S PARTNER</a:t>
            </a:r>
            <a:endParaRPr lang="en-US" sz="900" dirty="0"/>
          </a:p>
        </p:txBody>
      </p:sp>
      <p:sp>
        <p:nvSpPr>
          <p:cNvPr id="5" name="Text 3"/>
          <p:cNvSpPr txBox="1"/>
          <p:nvPr/>
        </p:nvSpPr>
        <p:spPr>
          <a:xfrm>
            <a:off x="731520" y="1737360"/>
            <a:ext cx="9144000" cy="868680"/>
          </a:xfrm>
          <a:prstGeom prst="rect">
            <a:avLst/>
          </a:prstGeom>
          <a:noFill/>
          <a:ln/>
        </p:spPr>
        <p:txBody>
          <a:bodyPr wrap="square" lIns="0" tIns="0" rIns="0" bIns="0" rtlCol="0" anchor="ctr"/>
          <a:lstStyle/>
          <a:p>
            <a:pPr indent="0" marL="0">
              <a:buNone/>
            </a:pPr>
            <a:r>
              <a:rPr lang="en-US" sz="5000" b="1" dirty="0">
                <a:solidFill>
                  <a:srgbClr val="F0EBF8"/>
                </a:solidFill>
                <a:latin typeface="Cambria" pitchFamily="34" charset="0"/>
                <a:ea typeface="Cambria" pitchFamily="34" charset="-122"/>
                <a:cs typeface="Cambria" pitchFamily="34" charset="-120"/>
              </a:rPr>
              <a:t>Stephanie Brashear</a:t>
            </a:r>
            <a:endParaRPr lang="en-US" sz="5000" dirty="0"/>
          </a:p>
        </p:txBody>
      </p:sp>
      <p:sp>
        <p:nvSpPr>
          <p:cNvPr id="6" name="Text 4"/>
          <p:cNvSpPr txBox="1"/>
          <p:nvPr/>
        </p:nvSpPr>
        <p:spPr>
          <a:xfrm>
            <a:off x="731520" y="2724912"/>
            <a:ext cx="9144000" cy="320040"/>
          </a:xfrm>
          <a:prstGeom prst="rect">
            <a:avLst/>
          </a:prstGeom>
          <a:noFill/>
          <a:ln/>
        </p:spPr>
        <p:txBody>
          <a:bodyPr wrap="square" lIns="0" tIns="0" rIns="0" bIns="0" rtlCol="0" anchor="ctr"/>
          <a:lstStyle/>
          <a:p>
            <a:pPr indent="0" marL="0">
              <a:buNone/>
            </a:pPr>
            <a:r>
              <a:rPr lang="en-US" sz="1300" dirty="0">
                <a:solidFill>
                  <a:srgbClr val="B8A0C8"/>
                </a:solidFill>
                <a:latin typeface="Calibri" pitchFamily="34" charset="0"/>
                <a:ea typeface="Calibri" pitchFamily="34" charset="-122"/>
                <a:cs typeface="Calibri" pitchFamily="34" charset="-120"/>
              </a:rPr>
              <a:t>EMDR Therapist  ·  EMDRIA Approved Consultant</a:t>
            </a:r>
            <a:endParaRPr lang="en-US" sz="1300" dirty="0"/>
          </a:p>
        </p:txBody>
      </p:sp>
      <p:sp>
        <p:nvSpPr>
          <p:cNvPr id="7" name="Shape 5"/>
          <p:cNvSpPr/>
          <p:nvPr/>
        </p:nvSpPr>
        <p:spPr>
          <a:xfrm>
            <a:off x="731520" y="3200400"/>
            <a:ext cx="1645920" cy="36576"/>
          </a:xfrm>
          <a:prstGeom prst="rect">
            <a:avLst/>
          </a:prstGeom>
          <a:solidFill>
            <a:srgbClr val="7C5C8C"/>
          </a:solidFill>
          <a:ln w="12700">
            <a:solidFill>
              <a:srgbClr val="7C5C8C"/>
            </a:solidFill>
            <a:prstDash val="solid"/>
          </a:ln>
        </p:spPr>
      </p:sp>
      <p:sp>
        <p:nvSpPr>
          <p:cNvPr id="8" name="Text 6"/>
          <p:cNvSpPr txBox="1"/>
          <p:nvPr/>
        </p:nvSpPr>
        <p:spPr>
          <a:xfrm>
            <a:off x="731520" y="3429000"/>
            <a:ext cx="9144000" cy="402336"/>
          </a:xfrm>
          <a:prstGeom prst="rect">
            <a:avLst/>
          </a:prstGeom>
          <a:noFill/>
          <a:ln/>
        </p:spPr>
        <p:txBody>
          <a:bodyPr wrap="square" lIns="0" tIns="0" rIns="0" bIns="0" rtlCol="0" anchor="ctr"/>
          <a:lstStyle/>
          <a:p>
            <a:pPr indent="0" marL="0">
              <a:buNone/>
            </a:pPr>
            <a:r>
              <a:rPr lang="en-US" sz="1400" dirty="0">
                <a:solidFill>
                  <a:srgbClr val="9A8AB8"/>
                </a:solidFill>
                <a:latin typeface="Calibri" pitchFamily="34" charset="0"/>
                <a:ea typeface="Calibri" pitchFamily="34" charset="-122"/>
                <a:cs typeface="Calibri" pitchFamily="34" charset="-120"/>
              </a:rPr>
              <a:t>TikTok: @steph.goes.with.that</a:t>
            </a:r>
            <a:endParaRPr lang="en-US" sz="1400" dirty="0"/>
          </a:p>
        </p:txBody>
      </p:sp>
      <p:sp>
        <p:nvSpPr>
          <p:cNvPr id="9" name="Text 7"/>
          <p:cNvSpPr txBox="1"/>
          <p:nvPr/>
        </p:nvSpPr>
        <p:spPr>
          <a:xfrm>
            <a:off x="731520" y="3904488"/>
            <a:ext cx="9144000" cy="402336"/>
          </a:xfrm>
          <a:prstGeom prst="rect">
            <a:avLst/>
          </a:prstGeom>
          <a:noFill/>
          <a:ln/>
        </p:spPr>
        <p:txBody>
          <a:bodyPr wrap="square" lIns="0" tIns="0" rIns="0" bIns="0" rtlCol="0" anchor="ctr"/>
          <a:lstStyle/>
          <a:p>
            <a:pPr indent="0" marL="0">
              <a:buNone/>
            </a:pPr>
            <a:r>
              <a:rPr lang="en-US" sz="1400" dirty="0">
                <a:solidFill>
                  <a:srgbClr val="9A8AB8"/>
                </a:solidFill>
                <a:latin typeface="Calibri" pitchFamily="34" charset="0"/>
                <a:ea typeface="Calibri" pitchFamily="34" charset="-122"/>
                <a:cs typeface="Calibri" pitchFamily="34" charset="-120"/>
              </a:rPr>
              <a:t>Instagram: @steph.goes.with.that</a:t>
            </a:r>
            <a:endParaRPr lang="en-US" sz="1400" dirty="0"/>
          </a:p>
        </p:txBody>
      </p:sp>
      <p:sp>
        <p:nvSpPr>
          <p:cNvPr id="10" name="Text 8"/>
          <p:cNvSpPr txBox="1"/>
          <p:nvPr/>
        </p:nvSpPr>
        <p:spPr>
          <a:xfrm>
            <a:off x="731520" y="4379976"/>
            <a:ext cx="9144000" cy="402336"/>
          </a:xfrm>
          <a:prstGeom prst="rect">
            <a:avLst/>
          </a:prstGeom>
          <a:noFill/>
          <a:ln/>
        </p:spPr>
        <p:txBody>
          <a:bodyPr wrap="square" lIns="0" tIns="0" rIns="0" bIns="0" rtlCol="0" anchor="ctr"/>
          <a:lstStyle/>
          <a:p>
            <a:pPr indent="0" marL="0">
              <a:buNone/>
            </a:pPr>
            <a:r>
              <a:rPr lang="en-US" sz="1400" dirty="0">
                <a:solidFill>
                  <a:srgbClr val="9A8AB8"/>
                </a:solidFill>
                <a:latin typeface="Calibri" pitchFamily="34" charset="0"/>
                <a:ea typeface="Calibri" pitchFamily="34" charset="-122"/>
                <a:cs typeface="Calibri" pitchFamily="34" charset="-120"/>
              </a:rPr>
              <a:t>Facebook: Steph Goes With That</a:t>
            </a:r>
            <a:endParaRPr lang="en-US" sz="1400" dirty="0"/>
          </a:p>
        </p:txBody>
      </p:sp>
      <p:sp>
        <p:nvSpPr>
          <p:cNvPr id="11" name="Text 9"/>
          <p:cNvSpPr txBox="1"/>
          <p:nvPr/>
        </p:nvSpPr>
        <p:spPr>
          <a:xfrm>
            <a:off x="731520" y="4855464"/>
            <a:ext cx="9144000" cy="402336"/>
          </a:xfrm>
          <a:prstGeom prst="rect">
            <a:avLst/>
          </a:prstGeom>
          <a:noFill/>
          <a:ln/>
        </p:spPr>
        <p:txBody>
          <a:bodyPr wrap="square" lIns="0" tIns="0" rIns="0" bIns="0" rtlCol="0" anchor="ctr"/>
          <a:lstStyle/>
          <a:p>
            <a:pPr indent="0" marL="0">
              <a:buNone/>
            </a:pPr>
            <a:r>
              <a:rPr lang="en-US" sz="1400" dirty="0">
                <a:solidFill>
                  <a:srgbClr val="B8A0C8"/>
                </a:solidFill>
                <a:latin typeface="Calibri" pitchFamily="34" charset="0"/>
                <a:ea typeface="Calibri" pitchFamily="34" charset="-122"/>
                <a:cs typeface="Calibri" pitchFamily="34" charset="-120"/>
              </a:rPr>
              <a:t>Email: [add email address]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2026-09-05T23:02:50Z</dcterms:created>
  <dcterms:modified xsi:type="dcterms:W3CDTF">2026-09-05T23:02:50Z</dcterms:modified>
</cp:coreProperties>
</file>