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6692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6327648" y="704088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01968" y="56692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6894576" y="704088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68896" y="56692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461504" y="704088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566928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PERFORMANCE  ·  SMTI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 Flow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Quote Builder to a live HubSpot pipeline — one click, one source of truth.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quotes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$1.86M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 HubSpot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take a quote from a rep's screen to live analytics.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47672" cy="269748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6988" y="1874520"/>
            <a:ext cx="768096" cy="768096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540000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693" y="20742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1746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277063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" y="3191256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builds the quote in the SMTI Quote Builder — contact, distributor, products &amp; pricing.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28281" y="2948940"/>
            <a:ext cx="99487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51176" y="1600200"/>
            <a:ext cx="1947672" cy="269748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40964" y="1874520"/>
            <a:ext cx="768096" cy="768096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88900" dist="25400" dir="5400000">
              <a:srgbClr val="0F172A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669" y="2074225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79192" y="1746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642616" y="277063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715768" y="3191256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creates or updates a HubSpot Deal and saves a local revision.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22257" y="2948940"/>
            <a:ext cx="99487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645152" y="1600200"/>
            <a:ext cx="1947672" cy="269748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34940" y="1874520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F172A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645" y="207422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73168" y="1746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736592" y="277063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4809744" y="3191256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lives in the live HubSpot pipeline — the single source of truth.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616233" y="2948940"/>
            <a:ext cx="99487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739128" y="1600200"/>
            <a:ext cx="1947672" cy="269748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28916" y="1874520"/>
            <a:ext cx="768096" cy="768096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25400" dir="5400000">
              <a:srgbClr val="0F172A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621" y="2074225"/>
            <a:ext cx="368686" cy="36868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67144" y="1746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6830568" y="277063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903720" y="3191256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KPI board &amp; AI summary read it live for insight.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 the Quote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SMTI Quote Builder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1907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453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customer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34440" y="1847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live HubSpot contacts, or add a new one on the fly.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3591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50545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34440" y="2633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catalog items by code — quantity, title &amp; unit price per line.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14553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291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18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distributor &amp; region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34440" y="3419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Distributor, rep and pricing region drive the numbers.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3931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0782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04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it out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344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Subtotal, discount, freight &amp; shipping roll up to the total.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257800" y="1481328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257800" y="1481328"/>
            <a:ext cx="3429000" cy="566928"/>
          </a:xfrm>
          <a:prstGeom prst="roundRect">
            <a:avLst>
              <a:gd name="adj" fmla="val 14516"/>
            </a:avLst>
          </a:prstGeom>
          <a:solidFill>
            <a:srgbClr val="0F172A"/>
          </a:solidFill>
          <a:ln/>
        </p:spPr>
      </p:sp>
      <p:sp>
        <p:nvSpPr>
          <p:cNvPr id="22" name="Shape 16"/>
          <p:cNvSpPr/>
          <p:nvPr/>
        </p:nvSpPr>
        <p:spPr>
          <a:xfrm>
            <a:off x="5257800" y="1764792"/>
            <a:ext cx="3429000" cy="2834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17"/>
          <p:cNvSpPr/>
          <p:nvPr/>
        </p:nvSpPr>
        <p:spPr>
          <a:xfrm>
            <a:off x="5458968" y="15910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SMTI QUOTE  ·  DRAFT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58968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08660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McGregor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58968" y="2587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950-702 Valve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086600" y="2587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$1,240.00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58968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830-550 Sensor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08660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  615.00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58968" y="3191256"/>
            <a:ext cx="3026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58968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08660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$3,095.00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58968" y="3538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086600" y="3538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   309.50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458968" y="3831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086600" y="38313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  120.00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5458968" y="4142232"/>
            <a:ext cx="3026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458968" y="4197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086600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$2,905.50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Sync to HubSpot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 a HubSpot Deal. HubSpot becomes the source of truth.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1907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45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contact &amp; company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34440" y="1847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or creates the HubSpot contact and company records.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3591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50545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331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update the Deal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34440" y="2633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name, amount, pipeline &amp; stage — line items summarized on the deal.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14553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291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181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local revision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34440" y="3419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submit is versioned, so quote history is never lost.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3931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0782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044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accurate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3444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deal in HubSpot and the app dashboard reflects it.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257800" y="1481328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257800" y="1481328"/>
            <a:ext cx="3429000" cy="566928"/>
          </a:xfrm>
          <a:prstGeom prst="roundRect">
            <a:avLst>
              <a:gd name="adj" fmla="val 14516"/>
            </a:avLst>
          </a:prstGeom>
          <a:solidFill>
            <a:srgbClr val="6366F1"/>
          </a:solidFill>
          <a:ln/>
        </p:spPr>
      </p:sp>
      <p:sp>
        <p:nvSpPr>
          <p:cNvPr id="22" name="Shape 16"/>
          <p:cNvSpPr/>
          <p:nvPr/>
        </p:nvSpPr>
        <p:spPr>
          <a:xfrm>
            <a:off x="5257800" y="1764792"/>
            <a:ext cx="3429000" cy="2834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17"/>
          <p:cNvSpPr/>
          <p:nvPr/>
        </p:nvSpPr>
        <p:spPr>
          <a:xfrm>
            <a:off x="5458968" y="15910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DEAL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58968" y="2267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name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67512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McGregor – SMTI Quote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58968" y="2633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67512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$2,905.50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58968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67512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458968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67512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Received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58968" y="3785616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/>
        </p:spPr>
      </p:sp>
      <p:sp>
        <p:nvSpPr>
          <p:cNvPr id="33" name="Text 27"/>
          <p:cNvSpPr/>
          <p:nvPr/>
        </p:nvSpPr>
        <p:spPr>
          <a:xfrm>
            <a:off x="5458968" y="37856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OPEN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766560" y="3785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pipeline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Track &amp; Analyze —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HubSpot is the source of truth, every SP surface reflects reality — instantly.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560320" cy="1078992"/>
          </a:xfrm>
          <a:prstGeom prst="roundRect">
            <a:avLst>
              <a:gd name="adj" fmla="val 7627"/>
            </a:avLst>
          </a:prstGeom>
          <a:solidFill>
            <a:srgbClr val="17233B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00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85216" y="22860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quotes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572768"/>
            <a:ext cx="2560320" cy="1078992"/>
          </a:xfrm>
          <a:prstGeom prst="roundRect">
            <a:avLst>
              <a:gd name="adj" fmla="val 7627"/>
            </a:avLst>
          </a:prstGeom>
          <a:solidFill>
            <a:srgbClr val="17233B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700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$1.86M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74136" y="22860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572768"/>
            <a:ext cx="2560320" cy="1078992"/>
          </a:xfrm>
          <a:prstGeom prst="roundRect">
            <a:avLst>
              <a:gd name="adj" fmla="val 7627"/>
            </a:avLst>
          </a:prstGeom>
          <a:solidFill>
            <a:srgbClr val="17233B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700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63056" y="22860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475488" cy="475488"/>
          </a:xfrm>
          <a:prstGeom prst="ellipse">
            <a:avLst/>
          </a:prstGeom>
          <a:solidFill>
            <a:srgbClr val="17233B"/>
          </a:solidFill>
          <a:ln w="12700">
            <a:solidFill>
              <a:srgbClr val="27364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09067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3000" y="29900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Custom Metrics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quotes &amp; pipeline value lead the home screen.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" y="3575304"/>
            <a:ext cx="475488" cy="475488"/>
          </a:xfrm>
          <a:prstGeom prst="ellipse">
            <a:avLst/>
          </a:prstGeom>
          <a:solidFill>
            <a:srgbClr val="17233B"/>
          </a:solidFill>
          <a:ln w="12700">
            <a:solidFill>
              <a:srgbClr val="27364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9417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35935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board — Top Distributors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scorecard of open pipeline by distributor.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" y="4178808"/>
            <a:ext cx="475488" cy="475488"/>
          </a:xfrm>
          <a:prstGeom prst="ellipse">
            <a:avLst/>
          </a:prstGeom>
          <a:solidFill>
            <a:srgbClr val="17233B"/>
          </a:solidFill>
          <a:ln w="12700">
            <a:solidFill>
              <a:srgbClr val="2736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97680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41970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Summary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quotes flagged by distributor as follow-up targets.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4718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once. Sync once. Trust the numbers everywhere.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SMTI Quote Flow</dc:title>
  <dc:subject>PptxGenJS Presentation</dc:subject>
  <dc:creator>Start Performance</dc:creator>
  <cp:lastModifiedBy>Start Performance</cp:lastModifiedBy>
  <cp:revision>1</cp:revision>
  <dcterms:created xsi:type="dcterms:W3CDTF">2026-07-07T09:42:50Z</dcterms:created>
  <dcterms:modified xsi:type="dcterms:W3CDTF">2026-07-07T09:42:50Z</dcterms:modified>
</cp:coreProperties>
</file>