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image" Target="../media/image-1-3.png"/><Relationship Id="rId4" Type="http://schemas.openxmlformats.org/officeDocument/2006/relationships/image" Target="../media/image-1-3.png"/><Relationship Id="rId5" Type="http://schemas.openxmlformats.org/officeDocument/2006/relationships/image" Target="../media/image-1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2834640"/>
          </a:xfrm>
          <a:prstGeom prst="rect">
            <a:avLst/>
          </a:prstGeom>
          <a:solidFill>
            <a:srgbClr val="17181C"/>
          </a:solidFill>
          <a:ln/>
        </p:spPr>
      </p:sp>
      <p:pic>
        <p:nvPicPr>
          <p:cNvPr id="3" name="Image 0" descr="assets/sp-mark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5943600" y="-274320"/>
            <a:ext cx="2286000" cy="2286000"/>
          </a:xfrm>
          <a:prstGeom prst="rect">
            <a:avLst/>
          </a:prstGeom>
        </p:spPr>
      </p:pic>
      <p:pic>
        <p:nvPicPr>
          <p:cNvPr id="4" name="Image 1" descr="assets/sp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05840" y="3291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START</a:t>
            </a:r>
            <a:endParaRPr lang="en-US" sz="2300" dirty="0"/>
          </a:p>
        </p:txBody>
      </p:sp>
      <p:sp>
        <p:nvSpPr>
          <p:cNvPr id="6" name="Text 2"/>
          <p:cNvSpPr/>
          <p:nvPr/>
        </p:nvSpPr>
        <p:spPr>
          <a:xfrm>
            <a:off x="1024128" y="6309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4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475488" y="10515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24/7 AI RECEPTIONIST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438912" y="1298448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Never miss</a:t>
            </a:r>
            <a:endParaRPr lang="en-US" sz="40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another job.</a:t>
            </a:r>
            <a:endParaRPr lang="en-US" sz="4000" dirty="0"/>
          </a:p>
        </p:txBody>
      </p:sp>
      <p:sp>
        <p:nvSpPr>
          <p:cNvPr id="9" name="Shape 5"/>
          <p:cNvSpPr/>
          <p:nvPr/>
        </p:nvSpPr>
        <p:spPr>
          <a:xfrm>
            <a:off x="475488" y="2414016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/>
        </p:spPr>
      </p:sp>
      <p:sp>
        <p:nvSpPr>
          <p:cNvPr id="10" name="Text 6"/>
          <p:cNvSpPr/>
          <p:nvPr/>
        </p:nvSpPr>
        <p:spPr>
          <a:xfrm>
            <a:off x="475488" y="241401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$29 / MONTH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2926080" y="241401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rate $9.99/mo — limited · cancel anytime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57200" y="299923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While you're under a sink, this is happening: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548640" y="3383280"/>
            <a:ext cx="2331720" cy="2743200"/>
          </a:xfrm>
          <a:prstGeom prst="roundRect">
            <a:avLst>
              <a:gd name="adj" fmla="val 10980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58368" y="3511296"/>
            <a:ext cx="2112264" cy="2487168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/>
        </p:spPr>
      </p:sp>
      <p:sp>
        <p:nvSpPr>
          <p:cNvPr id="15" name="Shape 11"/>
          <p:cNvSpPr/>
          <p:nvPr/>
        </p:nvSpPr>
        <p:spPr>
          <a:xfrm>
            <a:off x="1458468" y="3529584"/>
            <a:ext cx="512064" cy="9144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/>
        </p:spPr>
      </p:sp>
      <p:sp>
        <p:nvSpPr>
          <p:cNvPr id="16" name="Text 12"/>
          <p:cNvSpPr/>
          <p:nvPr/>
        </p:nvSpPr>
        <p:spPr>
          <a:xfrm>
            <a:off x="658368" y="3675888"/>
            <a:ext cx="2112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 ·  1:42 PM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804672" y="3931920"/>
            <a:ext cx="1554480" cy="658368"/>
          </a:xfrm>
          <a:prstGeom prst="roundRect">
            <a:avLst>
              <a:gd name="adj" fmla="val 13889"/>
            </a:avLst>
          </a:prstGeom>
          <a:solidFill>
            <a:srgbClr val="ECEEF1"/>
          </a:solidFill>
          <a:ln/>
        </p:spPr>
      </p:sp>
      <p:sp>
        <p:nvSpPr>
          <p:cNvPr id="18" name="Text 14"/>
          <p:cNvSpPr/>
          <p:nvPr/>
        </p:nvSpPr>
        <p:spPr>
          <a:xfrm>
            <a:off x="877824" y="3959352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Hi, my AC quit and it's 90° in here — can someone come today?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1024128" y="4709160"/>
            <a:ext cx="1600200" cy="658368"/>
          </a:xfrm>
          <a:prstGeom prst="roundRect">
            <a:avLst>
              <a:gd name="adj" fmla="val 13889"/>
            </a:avLst>
          </a:prstGeom>
          <a:solidFill>
            <a:srgbClr val="ED1C24"/>
          </a:solidFill>
          <a:ln/>
        </p:spPr>
      </p:sp>
      <p:sp>
        <p:nvSpPr>
          <p:cNvPr id="20" name="Text 16"/>
          <p:cNvSpPr/>
          <p:nvPr/>
        </p:nvSpPr>
        <p:spPr>
          <a:xfrm>
            <a:off x="1097280" y="4736592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 it, Dave! We've got your AC request and we'll call you within the hour.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786384" y="5504688"/>
            <a:ext cx="1828800" cy="457200"/>
          </a:xfrm>
          <a:prstGeom prst="roundRect">
            <a:avLst>
              <a:gd name="adj" fmla="val 14000"/>
            </a:avLst>
          </a:prstGeom>
          <a:solidFill>
            <a:srgbClr val="1A1A1A"/>
          </a:solidFill>
          <a:ln/>
        </p:spPr>
      </p:sp>
      <p:sp>
        <p:nvSpPr>
          <p:cNvPr id="22" name="Text 18"/>
          <p:cNvSpPr/>
          <p:nvPr/>
        </p:nvSpPr>
        <p:spPr>
          <a:xfrm>
            <a:off x="877824" y="550468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JOB  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Dave · AC · </a:t>
            </a:r>
            <a:pPr indent="0" marL="0">
              <a:buNone/>
            </a:pPr>
            <a:r>
              <a:rPr lang="en-US" sz="850" b="1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850" dirty="0"/>
          </a:p>
        </p:txBody>
      </p:sp>
      <p:pic>
        <p:nvPicPr>
          <p:cNvPr id="23" name="Image 2" descr="asset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3493008"/>
            <a:ext cx="402336" cy="40233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703320" y="341985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hear back in seconds</a:t>
            </a:r>
            <a:endParaRPr lang="en-US" sz="1850" dirty="0"/>
          </a:p>
        </p:txBody>
      </p:sp>
      <p:sp>
        <p:nvSpPr>
          <p:cNvPr id="25" name="Text 20"/>
          <p:cNvSpPr/>
          <p:nvPr/>
        </p:nvSpPr>
        <p:spPr>
          <a:xfrm>
            <a:off x="3703320" y="38039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they never dial the next guy</a:t>
            </a:r>
            <a:endParaRPr lang="en-US" sz="1250" dirty="0"/>
          </a:p>
        </p:txBody>
      </p:sp>
      <p:pic>
        <p:nvPicPr>
          <p:cNvPr id="26" name="Image 3" descr="asset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680" y="4361688"/>
            <a:ext cx="402336" cy="40233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3703320" y="428853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job lands on your phone</a:t>
            </a:r>
            <a:endParaRPr lang="en-US" sz="1850" dirty="0"/>
          </a:p>
        </p:txBody>
      </p:sp>
      <p:sp>
        <p:nvSpPr>
          <p:cNvPr id="28" name="Text 22"/>
          <p:cNvSpPr/>
          <p:nvPr/>
        </p:nvSpPr>
        <p:spPr>
          <a:xfrm>
            <a:off x="3703320" y="46725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number &amp; what's wrong</a:t>
            </a:r>
            <a:endParaRPr lang="en-US" sz="1250" dirty="0"/>
          </a:p>
        </p:txBody>
      </p:sp>
      <p:pic>
        <p:nvPicPr>
          <p:cNvPr id="29" name="Image 4" descr="asset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4680" y="5230368"/>
            <a:ext cx="402336" cy="40233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703320" y="515721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You look big &amp; professional</a:t>
            </a:r>
            <a:endParaRPr lang="en-US" sz="1850" dirty="0"/>
          </a:p>
        </p:txBody>
      </p:sp>
      <p:sp>
        <p:nvSpPr>
          <p:cNvPr id="31" name="Text 24"/>
          <p:cNvSpPr/>
          <p:nvPr/>
        </p:nvSpPr>
        <p:spPr>
          <a:xfrm>
            <a:off x="3703320" y="554126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24/7 — even at 2 a.m.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457200" y="63550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YOURS — DROP IN YOUR OWN PHOTOS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457200" y="667512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EDEEF0"/>
          </a:solidFill>
          <a:ln w="19050">
            <a:solidFill>
              <a:srgbClr val="9AA0A6"/>
            </a:solidFill>
            <a:prstDash val="dash"/>
          </a:ln>
        </p:spPr>
      </p:sp>
      <p:sp>
        <p:nvSpPr>
          <p:cNvPr id="34" name="Shape 27"/>
          <p:cNvSpPr/>
          <p:nvPr/>
        </p:nvSpPr>
        <p:spPr>
          <a:xfrm>
            <a:off x="1792224" y="7039051"/>
            <a:ext cx="621792" cy="402336"/>
          </a:xfrm>
          <a:prstGeom prst="roundRect">
            <a:avLst>
              <a:gd name="adj" fmla="val 13636"/>
            </a:avLst>
          </a:prstGeom>
          <a:solidFill>
            <a:srgbClr val="C4C9CF"/>
          </a:solidFill>
          <a:ln/>
        </p:spPr>
      </p:sp>
      <p:sp>
        <p:nvSpPr>
          <p:cNvPr id="35" name="Shape 28"/>
          <p:cNvSpPr/>
          <p:nvPr/>
        </p:nvSpPr>
        <p:spPr>
          <a:xfrm>
            <a:off x="1975104" y="6965899"/>
            <a:ext cx="256032" cy="109728"/>
          </a:xfrm>
          <a:prstGeom prst="roundRect">
            <a:avLst>
              <a:gd name="adj" fmla="val 25000"/>
            </a:avLst>
          </a:prstGeom>
          <a:solidFill>
            <a:srgbClr val="C4C9CF"/>
          </a:solidFill>
          <a:ln/>
        </p:spPr>
      </p:sp>
      <p:sp>
        <p:nvSpPr>
          <p:cNvPr id="36" name="Shape 29"/>
          <p:cNvSpPr/>
          <p:nvPr/>
        </p:nvSpPr>
        <p:spPr>
          <a:xfrm>
            <a:off x="1984248" y="7130491"/>
            <a:ext cx="237744" cy="237744"/>
          </a:xfrm>
          <a:prstGeom prst="ellipse">
            <a:avLst/>
          </a:prstGeom>
          <a:solidFill>
            <a:srgbClr val="EDEEF0"/>
          </a:solidFill>
          <a:ln/>
        </p:spPr>
      </p:sp>
      <p:sp>
        <p:nvSpPr>
          <p:cNvPr id="37" name="Shape 30"/>
          <p:cNvSpPr/>
          <p:nvPr/>
        </p:nvSpPr>
        <p:spPr>
          <a:xfrm>
            <a:off x="2039112" y="7185355"/>
            <a:ext cx="128016" cy="128016"/>
          </a:xfrm>
          <a:prstGeom prst="ellipse">
            <a:avLst/>
          </a:prstGeom>
          <a:solidFill>
            <a:srgbClr val="C4C9CF"/>
          </a:solidFill>
          <a:ln/>
        </p:spPr>
      </p:sp>
      <p:sp>
        <p:nvSpPr>
          <p:cNvPr id="38" name="Text 31"/>
          <p:cNvSpPr/>
          <p:nvPr/>
        </p:nvSpPr>
        <p:spPr>
          <a:xfrm>
            <a:off x="457200" y="755385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PHOTO</a:t>
            </a:r>
            <a:endParaRPr lang="en-US" sz="1300" dirty="0"/>
          </a:p>
        </p:txBody>
      </p:sp>
      <p:sp>
        <p:nvSpPr>
          <p:cNvPr id="39" name="Text 32"/>
          <p:cNvSpPr/>
          <p:nvPr/>
        </p:nvSpPr>
        <p:spPr>
          <a:xfrm>
            <a:off x="548640" y="780989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· your truck · your crew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4023360" y="667512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EDEEF0"/>
          </a:solidFill>
          <a:ln w="19050">
            <a:solidFill>
              <a:srgbClr val="9AA0A6"/>
            </a:solidFill>
            <a:prstDash val="dash"/>
          </a:ln>
        </p:spPr>
      </p:sp>
      <p:sp>
        <p:nvSpPr>
          <p:cNvPr id="41" name="Shape 34"/>
          <p:cNvSpPr/>
          <p:nvPr/>
        </p:nvSpPr>
        <p:spPr>
          <a:xfrm>
            <a:off x="5358384" y="7039051"/>
            <a:ext cx="621792" cy="402336"/>
          </a:xfrm>
          <a:prstGeom prst="roundRect">
            <a:avLst>
              <a:gd name="adj" fmla="val 13636"/>
            </a:avLst>
          </a:prstGeom>
          <a:solidFill>
            <a:srgbClr val="C4C9CF"/>
          </a:solidFill>
          <a:ln/>
        </p:spPr>
      </p:sp>
      <p:sp>
        <p:nvSpPr>
          <p:cNvPr id="42" name="Shape 35"/>
          <p:cNvSpPr/>
          <p:nvPr/>
        </p:nvSpPr>
        <p:spPr>
          <a:xfrm>
            <a:off x="5541264" y="6965899"/>
            <a:ext cx="256032" cy="109728"/>
          </a:xfrm>
          <a:prstGeom prst="roundRect">
            <a:avLst>
              <a:gd name="adj" fmla="val 25000"/>
            </a:avLst>
          </a:prstGeom>
          <a:solidFill>
            <a:srgbClr val="C4C9CF"/>
          </a:solidFill>
          <a:ln/>
        </p:spPr>
      </p:sp>
      <p:sp>
        <p:nvSpPr>
          <p:cNvPr id="43" name="Shape 36"/>
          <p:cNvSpPr/>
          <p:nvPr/>
        </p:nvSpPr>
        <p:spPr>
          <a:xfrm>
            <a:off x="5550408" y="7130491"/>
            <a:ext cx="237744" cy="237744"/>
          </a:xfrm>
          <a:prstGeom prst="ellipse">
            <a:avLst/>
          </a:prstGeom>
          <a:solidFill>
            <a:srgbClr val="EDEEF0"/>
          </a:solidFill>
          <a:ln/>
        </p:spPr>
      </p:sp>
      <p:sp>
        <p:nvSpPr>
          <p:cNvPr id="44" name="Shape 37"/>
          <p:cNvSpPr/>
          <p:nvPr/>
        </p:nvSpPr>
        <p:spPr>
          <a:xfrm>
            <a:off x="5605272" y="7185355"/>
            <a:ext cx="128016" cy="128016"/>
          </a:xfrm>
          <a:prstGeom prst="ellipse">
            <a:avLst/>
          </a:prstGeom>
          <a:solidFill>
            <a:srgbClr val="C4C9CF"/>
          </a:solidFill>
          <a:ln/>
        </p:spPr>
      </p:sp>
      <p:sp>
        <p:nvSpPr>
          <p:cNvPr id="45" name="Text 38"/>
          <p:cNvSpPr/>
          <p:nvPr/>
        </p:nvSpPr>
        <p:spPr>
          <a:xfrm>
            <a:off x="4023360" y="755385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PHOTO</a:t>
            </a:r>
            <a:endParaRPr lang="en-US" sz="1300" dirty="0"/>
          </a:p>
        </p:txBody>
      </p:sp>
      <p:sp>
        <p:nvSpPr>
          <p:cNvPr id="46" name="Text 39"/>
          <p:cNvSpPr/>
          <p:nvPr/>
        </p:nvSpPr>
        <p:spPr>
          <a:xfrm>
            <a:off x="4114800" y="780989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happy customer · a finished job</a:t>
            </a:r>
            <a:endParaRPr lang="en-US" sz="1000" dirty="0"/>
          </a:p>
        </p:txBody>
      </p:sp>
      <p:sp>
        <p:nvSpPr>
          <p:cNvPr id="47" name="Text 40"/>
          <p:cNvSpPr/>
          <p:nvPr/>
        </p:nvSpPr>
        <p:spPr>
          <a:xfrm>
            <a:off x="457200" y="824788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saved repair pays for it </a:t>
            </a:r>
            <a:pPr algn="ctr" indent="0" marL="0">
              <a:buNone/>
            </a:pPr>
            <a:r>
              <a:rPr lang="en-US" sz="1700" b="1" dirty="0">
                <a:solidFill>
                  <a:srgbClr val="ED1C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34× over.</a:t>
            </a:r>
            <a:endParaRPr lang="en-US" sz="1700" dirty="0"/>
          </a:p>
        </p:txBody>
      </p:sp>
      <p:sp>
        <p:nvSpPr>
          <p:cNvPr id="48" name="Shape 41"/>
          <p:cNvSpPr/>
          <p:nvPr/>
        </p:nvSpPr>
        <p:spPr>
          <a:xfrm>
            <a:off x="457200" y="8686800"/>
            <a:ext cx="6858000" cy="868680"/>
          </a:xfrm>
          <a:prstGeom prst="roundRect">
            <a:avLst>
              <a:gd name="adj" fmla="val 12632"/>
            </a:avLst>
          </a:prstGeom>
          <a:solidFill>
            <a:srgbClr val="ED1C24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49" name="Text 42"/>
          <p:cNvSpPr/>
          <p:nvPr/>
        </p:nvSpPr>
        <p:spPr>
          <a:xfrm>
            <a:off x="548640" y="877824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30 days — win back one job and it's already paid for.</a:t>
            </a:r>
            <a:endParaRPr lang="en-US" sz="1600" dirty="0"/>
          </a:p>
        </p:txBody>
      </p:sp>
      <p:sp>
        <p:nvSpPr>
          <p:cNvPr id="50" name="Text 43"/>
          <p:cNvSpPr/>
          <p:nvPr/>
        </p:nvSpPr>
        <p:spPr>
          <a:xfrm>
            <a:off x="548640" y="916228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contract  ·  No hardware  ·  Keep your number  ·  Live in a day</a:t>
            </a:r>
            <a:endParaRPr lang="en-US" sz="1200" dirty="0"/>
          </a:p>
        </p:txBody>
      </p:sp>
      <p:sp>
        <p:nvSpPr>
          <p:cNvPr id="51" name="Text 44"/>
          <p:cNvSpPr/>
          <p:nvPr/>
        </p:nvSpPr>
        <p:spPr>
          <a:xfrm>
            <a:off x="457200" y="967435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3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800-541-4938   ·   rbstart@startperformance.com   ·   startperformance.com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Never Miss Another Job — Flyer v2</dc:title>
  <dc:subject>PptxGenJS Presentation</dc:subject>
  <dc:creator>PptxGenJS</dc:creator>
  <cp:lastModifiedBy>PptxGenJS</cp:lastModifiedBy>
  <cp:revision>1</cp:revision>
  <dcterms:created xsi:type="dcterms:W3CDTF">2026-07-08T18:21:30Z</dcterms:created>
  <dcterms:modified xsi:type="dcterms:W3CDTF">2026-07-08T18:21:30Z</dcterms:modified>
</cp:coreProperties>
</file>