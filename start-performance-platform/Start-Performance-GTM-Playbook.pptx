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m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858000" y="2468880"/>
            <a:ext cx="3017520" cy="3017520"/>
          </a:xfrm>
          <a:prstGeom prst="rect">
            <a:avLst/>
          </a:prstGeom>
        </p:spPr>
      </p:pic>
      <p:pic>
        <p:nvPicPr>
          <p:cNvPr id="3" name="Image 1" descr="assets/s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466344"/>
            <a:ext cx="274320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852" dirty="0"/>
          </a:p>
        </p:txBody>
      </p:sp>
      <p:sp>
        <p:nvSpPr>
          <p:cNvPr id="5" name="Text 1"/>
          <p:cNvSpPr/>
          <p:nvPr/>
        </p:nvSpPr>
        <p:spPr>
          <a:xfrm>
            <a:off x="1243584" y="831738"/>
            <a:ext cx="27432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1" b="1" spc="24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961" dirty="0"/>
          </a:p>
        </p:txBody>
      </p:sp>
      <p:sp>
        <p:nvSpPr>
          <p:cNvPr id="6" name="Text 2"/>
          <p:cNvSpPr/>
          <p:nvPr/>
        </p:nvSpPr>
        <p:spPr>
          <a:xfrm>
            <a:off x="566928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PLAYBOOK  ·  INTERNAL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sell it — and launch it.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566928" y="3291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take the AI Receptionist from first pitch to first paying customer.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66928" y="4590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Performance  · 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you're selling, in one line.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miss another job.”  </a:t>
            </a:r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answers the calls you can't, texts the customer back, and drops the job on your phone.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CEBE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$9.99</a:t>
            </a:r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/mo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8580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customers · limited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27432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9050">
            <a:solidFill>
              <a:srgbClr val="ED1C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19272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19272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$29</a:t>
            </a:r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/mo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456432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~100 calls/mo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9904" y="27432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9904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9904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$79</a:t>
            </a:r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/mo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227064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~400 calls/mo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solo HVAC · plumbing · electrical · roofing pros who miss calls on the job.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SALES KIT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piece to use, and when.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514600"/>
            <a:ext cx="548640" cy="548640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4672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Flyer (visual)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LEAVE-BEHIND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3767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to a pro on the job, or text/email it. The phone demo sells at a glance.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19272" y="22860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5304" y="2514600"/>
            <a:ext cx="548640" cy="548640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530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575304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Pitch deck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575304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SIT-DOWN OR VIDEO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75304" y="3767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story: problem → demo → the math → close. 8 slides.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9904" y="22860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45936" y="251460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634593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345936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calculator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45936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EYES ONLY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45936" y="3767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pricing, check margins, model your customer mix before you quote.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text-forward flyer works great as a quick email attachment when you can't meet in person.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60-second pitch.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67128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1214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 </a:t>
            </a:r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ever miss calls when your hands are full on a job?”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734056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6883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caller won't leave a voicemail — they just call the next guy.”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300984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32552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 </a:t>
            </a:r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answer, text them back in seconds, and send you the job.” (show the flyer/phone)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3867912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38221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</a:t>
            </a:r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“$29 a month. One repair covers you for years.”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4389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</a:t>
            </a:r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“Want me to set you up? Founder rate locks you in at $9.99 for life.”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your first 25 customers.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3977640" cy="2606040"/>
          </a:xfrm>
          <a:prstGeom prst="roundRect">
            <a:avLst>
              <a:gd name="adj" fmla="val 3158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FOUNDER-RATE PILOT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customers at $9.99 to seed reviews &amp; word of mouth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41985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first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you already know + one trade (e.g. HVAC) in your area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07822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a founding customer — $9.99 locked for life — for a review after 30 days.”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2240280"/>
            <a:ext cx="388620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CUSTOMER</a:t>
            </a:r>
            <a:endParaRPr lang="en-US" sz="1200" dirty="0"/>
          </a:p>
        </p:txBody>
      </p:sp>
      <p:pic>
        <p:nvPicPr>
          <p:cNvPr id="13" name="Image 1" descr="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0720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2770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their phone number (Twilio)</a:t>
            </a:r>
            <a:endParaRPr lang="en-US" sz="1200" dirty="0"/>
          </a:p>
        </p:txBody>
      </p:sp>
      <p:pic>
        <p:nvPicPr>
          <p:cNvPr id="15" name="Image 2" descr="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20954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0368" y="3172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call-forwarding on their cell</a:t>
            </a:r>
            <a:endParaRPr lang="en-US" sz="1200" dirty="0"/>
          </a:p>
        </p:txBody>
      </p:sp>
      <p:pic>
        <p:nvPicPr>
          <p:cNvPr id="17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1188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0368" y="35753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their business name + greeting</a:t>
            </a:r>
            <a:endParaRPr lang="en-US" sz="1200" dirty="0"/>
          </a:p>
        </p:txBody>
      </p:sp>
      <p:pic>
        <p:nvPicPr>
          <p:cNvPr id="19" name="Image 4" descr="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1421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30368" y="3977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call → confirm job text + auto-reply</a:t>
            </a:r>
            <a:endParaRPr lang="en-US" sz="1200" dirty="0"/>
          </a:p>
        </p:txBody>
      </p:sp>
      <p:pic>
        <p:nvPicPr>
          <p:cNvPr id="21" name="Image 5" descr="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416552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30368" y="43799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billing in SwipePay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PUSHBACK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Answers to the 4 things they'll say.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 already have voicemail.”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callers won't leave one — they call the next guy. We text them back so they wait for you.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240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“Is it a real person?”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92040" y="2743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sounds professional, captures every detail, and texts you instantly — 24/7.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657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 don’t want a new number.”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" y="4023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your number. Calls just forward to us when you can't pick up.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352044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3657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“Why so cheap?”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4023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pricing to build our name. And one job pays for it 34× over.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6949440" y="2743200"/>
            <a:ext cx="2834640" cy="2834640"/>
          </a:xfrm>
          <a:prstGeom prst="rect">
            <a:avLst/>
          </a:prstGeom>
        </p:spPr>
      </p:pic>
      <p:pic>
        <p:nvPicPr>
          <p:cNvPr id="3" name="Image 1" descr="assets/s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61288" y="466344"/>
            <a:ext cx="27432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530" dirty="0"/>
          </a:p>
        </p:txBody>
      </p:sp>
      <p:sp>
        <p:nvSpPr>
          <p:cNvPr id="5" name="Text 1"/>
          <p:cNvSpPr/>
          <p:nvPr/>
        </p:nvSpPr>
        <p:spPr>
          <a:xfrm>
            <a:off x="1179576" y="794614"/>
            <a:ext cx="274320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3" b="1" spc="24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853" dirty="0"/>
          </a:p>
        </p:txBody>
      </p:sp>
      <p:sp>
        <p:nvSpPr>
          <p:cNvPr id="6" name="Shape 2"/>
          <p:cNvSpPr/>
          <p:nvPr/>
        </p:nvSpPr>
        <p:spPr>
          <a:xfrm>
            <a:off x="566928" y="162763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" name="Text 3"/>
          <p:cNvSpPr/>
          <p:nvPr/>
        </p:nvSpPr>
        <p:spPr>
          <a:xfrm>
            <a:off x="804672" y="1545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SELL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launch checklist.</a:t>
            </a:r>
            <a:endParaRPr lang="en-US" sz="3400" dirty="0"/>
          </a:p>
        </p:txBody>
      </p:sp>
      <p:sp>
        <p:nvSpPr>
          <p:cNvPr id="9" name="Shape 5"/>
          <p:cNvSpPr/>
          <p:nvPr/>
        </p:nvSpPr>
        <p:spPr>
          <a:xfrm>
            <a:off x="603504" y="2724912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" name="Text 6"/>
          <p:cNvSpPr/>
          <p:nvPr/>
        </p:nvSpPr>
        <p:spPr>
          <a:xfrm>
            <a:off x="896112" y="264261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Twilio + A2P 10DLC — start now, it takes days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03504" y="3127248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2" name="Text 8"/>
          <p:cNvSpPr/>
          <p:nvPr/>
        </p:nvSpPr>
        <p:spPr>
          <a:xfrm>
            <a:off x="896112" y="30449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service running on your own server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03504" y="3529584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4" name="Text 10"/>
          <p:cNvSpPr/>
          <p:nvPr/>
        </p:nvSpPr>
        <p:spPr>
          <a:xfrm>
            <a:off x="896112" y="34472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recurring billing in SwipePay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03504" y="3931920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6" name="Text 12"/>
          <p:cNvSpPr/>
          <p:nvPr/>
        </p:nvSpPr>
        <p:spPr>
          <a:xfrm>
            <a:off x="896112" y="38496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3–5 test calls end-to-end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03504" y="4334256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8" name="Text 14"/>
          <p:cNvSpPr/>
          <p:nvPr/>
        </p:nvSpPr>
        <p:spPr>
          <a:xfrm>
            <a:off x="896112" y="4251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first 5 pilot prospects — and go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800-541-4938   ·   rbstart@startperformance.com   ·   startperformance.com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Go-to-Market Playbook</dc:title>
  <dc:subject>PptxGenJS Presentation</dc:subject>
  <dc:creator>PptxGenJS</dc:creator>
  <cp:lastModifiedBy>PptxGenJS</cp:lastModifiedBy>
  <cp:revision>1</cp:revision>
  <dcterms:created xsi:type="dcterms:W3CDTF">2026-07-08T18:29:12Z</dcterms:created>
  <dcterms:modified xsi:type="dcterms:W3CDTF">2026-07-08T18:29:12Z</dcterms:modified>
</cp:coreProperties>
</file>