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image" Target="../media/image-5-2.png"/><Relationship Id="rId6" Type="http://schemas.openxmlformats.org/officeDocument/2006/relationships/image" Target="../media/image-5-6.png"/><Relationship Id="rId7" Type="http://schemas.openxmlformats.org/officeDocument/2006/relationships/image" Target="../media/image-5-6.png"/><Relationship Id="rId8" Type="http://schemas.openxmlformats.org/officeDocument/2006/relationships/image" Target="../media/image-5-6.png"/><Relationship Id="rId9" Type="http://schemas.openxmlformats.org/officeDocument/2006/relationships/image" Target="../media/image-5-6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2.png"/><Relationship Id="rId5" Type="http://schemas.openxmlformats.org/officeDocument/2006/relationships/image" Target="../media/image-7-2.png"/><Relationship Id="rId6" Type="http://schemas.openxmlformats.org/officeDocument/2006/relationships/image" Target="../media/image-7-2.png"/><Relationship Id="rId7" Type="http://schemas.openxmlformats.org/officeDocument/2006/relationships/image" Target="../media/image-7-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sp-mark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6858000" y="2468880"/>
            <a:ext cx="3017520" cy="3017520"/>
          </a:xfrm>
          <a:prstGeom prst="rect">
            <a:avLst/>
          </a:prstGeom>
        </p:spPr>
      </p:pic>
      <p:pic>
        <p:nvPicPr>
          <p:cNvPr id="3" name="Image 1" descr="assets/sp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566928" cy="56692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25296" y="466344"/>
            <a:ext cx="2743200" cy="35149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52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START</a:t>
            </a:r>
            <a:endParaRPr lang="en-US" sz="2852" dirty="0"/>
          </a:p>
        </p:txBody>
      </p:sp>
      <p:sp>
        <p:nvSpPr>
          <p:cNvPr id="5" name="Text 1"/>
          <p:cNvSpPr/>
          <p:nvPr/>
        </p:nvSpPr>
        <p:spPr>
          <a:xfrm>
            <a:off x="1243584" y="831738"/>
            <a:ext cx="2743200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1" b="1" spc="240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PERFORMANCE</a:t>
            </a:r>
            <a:endParaRPr lang="en-US" sz="961" dirty="0"/>
          </a:p>
        </p:txBody>
      </p:sp>
      <p:sp>
        <p:nvSpPr>
          <p:cNvPr id="6" name="Text 2"/>
          <p:cNvSpPr/>
          <p:nvPr/>
        </p:nvSpPr>
        <p:spPr>
          <a:xfrm>
            <a:off x="566928" y="1920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24/7 AI RECEPTIONIST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54864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Never miss another job.</a:t>
            </a:r>
            <a:endParaRPr lang="en-US" sz="5000" dirty="0"/>
          </a:p>
        </p:txBody>
      </p:sp>
      <p:sp>
        <p:nvSpPr>
          <p:cNvPr id="8" name="Text 4"/>
          <p:cNvSpPr/>
          <p:nvPr/>
        </p:nvSpPr>
        <p:spPr>
          <a:xfrm>
            <a:off x="566928" y="32461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6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phone, answered — even when your hands are full.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566928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call  →  answered  →  customer texted back  →  job on your phone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66928" y="45902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E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HVAC · Plumbing · Electrical · Roofing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sp-l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1144079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1261872"/>
            <a:ext cx="128016" cy="12801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4" name="Text 1"/>
          <p:cNvSpPr/>
          <p:nvPr/>
        </p:nvSpPr>
        <p:spPr>
          <a:xfrm>
            <a:off x="804672" y="11795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144475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You can't answer the phone with your hands in a furnace.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256032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2761488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D1C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in 4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731520" y="3657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to home-service pros</a:t>
            </a:r>
            <a:endParaRPr lang="en-US" sz="13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unanswered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3319272" y="256032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319272" y="2761488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85%</a:t>
            </a:r>
            <a:endParaRPr lang="en-US" sz="4600" dirty="0"/>
          </a:p>
        </p:txBody>
      </p:sp>
      <p:sp>
        <p:nvSpPr>
          <p:cNvPr id="11" name="Text 8"/>
          <p:cNvSpPr/>
          <p:nvPr/>
        </p:nvSpPr>
        <p:spPr>
          <a:xfrm>
            <a:off x="3502152" y="3657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callers won't bother</a:t>
            </a:r>
            <a:endParaRPr lang="en-US" sz="13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leaving a voicemail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089904" y="256032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089904" y="2761488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D1C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90 sec</a:t>
            </a:r>
            <a:endParaRPr lang="en-US" sz="4600" dirty="0"/>
          </a:p>
        </p:txBody>
      </p:sp>
      <p:sp>
        <p:nvSpPr>
          <p:cNvPr id="14" name="Text 11"/>
          <p:cNvSpPr/>
          <p:nvPr/>
        </p:nvSpPr>
        <p:spPr>
          <a:xfrm>
            <a:off x="6272784" y="3657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they've already called</a:t>
            </a:r>
            <a:endParaRPr lang="en-US" sz="13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competitor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4864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caller you miss doesn't wait — they hire whoever picks up first.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sp-l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1144079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1261872"/>
            <a:ext cx="128016" cy="12801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4" name="Text 1"/>
          <p:cNvSpPr/>
          <p:nvPr/>
        </p:nvSpPr>
        <p:spPr>
          <a:xfrm>
            <a:off x="804672" y="11795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1444752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receptionist that never sleeps — for about a dollar a day.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2487168" y="2871216"/>
            <a:ext cx="158496" cy="0"/>
          </a:xfrm>
          <a:prstGeom prst="line">
            <a:avLst/>
          </a:prstGeom>
          <a:noFill/>
          <a:ln w="25400">
            <a:solidFill>
              <a:srgbClr val="ED1C24"/>
            </a:solidFill>
            <a:prstDash val="dash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548640" y="2487168"/>
            <a:ext cx="1938528" cy="1965960"/>
          </a:xfrm>
          <a:prstGeom prst="roundRect">
            <a:avLst>
              <a:gd name="adj" fmla="val 4245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225296" y="2706624"/>
            <a:ext cx="585216" cy="585216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9" name="Text 6"/>
          <p:cNvSpPr/>
          <p:nvPr/>
        </p:nvSpPr>
        <p:spPr>
          <a:xfrm>
            <a:off x="1225296" y="270662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548640" y="3401568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76656" y="3730752"/>
            <a:ext cx="1682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up in your business name the moment you can't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84192" y="2871216"/>
            <a:ext cx="158496" cy="0"/>
          </a:xfrm>
          <a:prstGeom prst="line">
            <a:avLst/>
          </a:prstGeom>
          <a:noFill/>
          <a:ln w="25400">
            <a:solidFill>
              <a:srgbClr val="ED1C24"/>
            </a:solidFill>
            <a:prstDash val="dash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2645664" y="2487168"/>
            <a:ext cx="1938528" cy="1965960"/>
          </a:xfrm>
          <a:prstGeom prst="roundRect">
            <a:avLst>
              <a:gd name="adj" fmla="val 4245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322320" y="2706624"/>
            <a:ext cx="585216" cy="585216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5" name="Text 12"/>
          <p:cNvSpPr/>
          <p:nvPr/>
        </p:nvSpPr>
        <p:spPr>
          <a:xfrm>
            <a:off x="3322320" y="270662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500" dirty="0"/>
          </a:p>
        </p:txBody>
      </p:sp>
      <p:sp>
        <p:nvSpPr>
          <p:cNvPr id="16" name="Text 13"/>
          <p:cNvSpPr/>
          <p:nvPr/>
        </p:nvSpPr>
        <p:spPr>
          <a:xfrm>
            <a:off x="2645664" y="3401568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Asks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2773680" y="3730752"/>
            <a:ext cx="1682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their name, number, and exactly what they need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681216" y="2871216"/>
            <a:ext cx="158496" cy="0"/>
          </a:xfrm>
          <a:prstGeom prst="line">
            <a:avLst/>
          </a:prstGeom>
          <a:noFill/>
          <a:ln w="25400">
            <a:solidFill>
              <a:srgbClr val="ED1C24"/>
            </a:solidFill>
            <a:prstDash val="dash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4742688" y="2487168"/>
            <a:ext cx="1938528" cy="1965960"/>
          </a:xfrm>
          <a:prstGeom prst="roundRect">
            <a:avLst>
              <a:gd name="adj" fmla="val 4245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419344" y="2706624"/>
            <a:ext cx="585216" cy="58521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21" name="Text 18"/>
          <p:cNvSpPr/>
          <p:nvPr/>
        </p:nvSpPr>
        <p:spPr>
          <a:xfrm>
            <a:off x="5419344" y="270662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500" dirty="0"/>
          </a:p>
        </p:txBody>
      </p:sp>
      <p:sp>
        <p:nvSpPr>
          <p:cNvPr id="22" name="Text 19"/>
          <p:cNvSpPr/>
          <p:nvPr/>
        </p:nvSpPr>
        <p:spPr>
          <a:xfrm>
            <a:off x="4742688" y="3401568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Texts back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870704" y="3730752"/>
            <a:ext cx="1682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Replies to the customer in seconds so they don't move on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839712" y="2487168"/>
            <a:ext cx="1938528" cy="1965960"/>
          </a:xfrm>
          <a:prstGeom prst="roundRect">
            <a:avLst>
              <a:gd name="adj" fmla="val 4245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516368" y="2706624"/>
            <a:ext cx="585216" cy="585216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6" name="Text 23"/>
          <p:cNvSpPr/>
          <p:nvPr/>
        </p:nvSpPr>
        <p:spPr>
          <a:xfrm>
            <a:off x="7516368" y="270662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500" dirty="0"/>
          </a:p>
        </p:txBody>
      </p:sp>
      <p:sp>
        <p:nvSpPr>
          <p:cNvPr id="27" name="Text 24"/>
          <p:cNvSpPr/>
          <p:nvPr/>
        </p:nvSpPr>
        <p:spPr>
          <a:xfrm>
            <a:off x="6839712" y="3401568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Sends it to you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967728" y="3730752"/>
            <a:ext cx="1682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the job on your phone, ready to book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48640" y="4736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your current number. </a:t>
            </a:r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phone, no app for your customers, nothing to learn.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sp-l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1144079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1261872"/>
            <a:ext cx="128016" cy="12801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4" name="Text 1"/>
          <p:cNvSpPr/>
          <p:nvPr/>
        </p:nvSpPr>
        <p:spPr>
          <a:xfrm>
            <a:off x="804672" y="11795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IN ACTION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14447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missed call, handled in under a minute.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2331720"/>
            <a:ext cx="39776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2514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 YOU MISSED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" y="2880360"/>
            <a:ext cx="3520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i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“Hey, my AC quit last night and it's 90 degrees in here. This is Dave, 555-0192, over on Elm Street. Can someone come today?”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4800600" y="2331720"/>
            <a:ext cx="3794760" cy="1097280"/>
          </a:xfrm>
          <a:prstGeom prst="roundRect">
            <a:avLst>
              <a:gd name="adj" fmla="val 8333"/>
            </a:avLst>
          </a:prstGeom>
          <a:solidFill>
            <a:srgbClr val="17181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029200" y="24688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LANDS ON YOUR PHONE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029200" y="276148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job — Dave · AC not cooling · </a:t>
            </a:r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</a:t>
            </a:r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555-0192 · Elm St · we texted him back ✓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800600" y="3611880"/>
            <a:ext cx="3794760" cy="1097280"/>
          </a:xfrm>
          <a:prstGeom prst="roundRect">
            <a:avLst>
              <a:gd name="adj" fmla="val 8333"/>
            </a:avLst>
          </a:prstGeom>
          <a:solidFill>
            <a:srgbClr val="FCEBEC"/>
          </a:solidFill>
          <a:ln w="12700">
            <a:solidFill>
              <a:srgbClr val="F3C6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0" y="37490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YOUR CUSTOMER GETS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029200" y="40233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i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“Thanks Dave! We got your message about your AC and we'll call you within the hour.”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sp-l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1144079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1261872"/>
            <a:ext cx="128016" cy="12801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4" name="Text 1"/>
          <p:cNvSpPr/>
          <p:nvPr/>
        </p:nvSpPr>
        <p:spPr>
          <a:xfrm>
            <a:off x="804672" y="11795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DAY IN THE LIFE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14447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Same day. Two very different Fridays.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2286000"/>
            <a:ext cx="39776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2286000"/>
            <a:ext cx="3977640" cy="502920"/>
          </a:xfrm>
          <a:prstGeom prst="roundRect">
            <a:avLst>
              <a:gd name="adj" fmla="val 18182"/>
            </a:avLst>
          </a:prstGeom>
          <a:solidFill>
            <a:srgbClr val="6B6B6B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2860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</a:t>
            </a:r>
            <a:endParaRPr lang="en-US" sz="1300" dirty="0"/>
          </a:p>
        </p:txBody>
      </p:sp>
      <p:pic>
        <p:nvPicPr>
          <p:cNvPr id="9" name="Image 1" descr="assets/x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017520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2962656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7:20a  </a:t>
            </a:r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in a furnace — phone rings out.</a:t>
            </a:r>
            <a:endParaRPr lang="en-US" sz="1100" dirty="0"/>
          </a:p>
        </p:txBody>
      </p:sp>
      <p:pic>
        <p:nvPicPr>
          <p:cNvPr id="11" name="Image 2" descr="assets/xm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447288"/>
            <a:ext cx="182880" cy="182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51560" y="3392424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10:15a  </a:t>
            </a:r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Driving. Missed call, no voicemail left.</a:t>
            </a:r>
            <a:endParaRPr lang="en-US" sz="1100" dirty="0"/>
          </a:p>
        </p:txBody>
      </p:sp>
      <p:pic>
        <p:nvPicPr>
          <p:cNvPr id="13" name="Image 3" descr="assets/xm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877056"/>
            <a:ext cx="182880" cy="1828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51560" y="382219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1:40p  </a:t>
            </a:r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roof as three more calls stack up.</a:t>
            </a:r>
            <a:endParaRPr lang="en-US" sz="1100" dirty="0"/>
          </a:p>
        </p:txBody>
      </p:sp>
      <p:pic>
        <p:nvPicPr>
          <p:cNvPr id="15" name="Image 4" descr="assets/xm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306824"/>
            <a:ext cx="182880" cy="1828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51560" y="425196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6:00p  </a:t>
            </a:r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missed calls. No names. Two already hired someone else.</a:t>
            </a:r>
            <a:endParaRPr lang="en-US" sz="1100" dirty="0"/>
          </a:p>
        </p:txBody>
      </p:sp>
      <p:sp>
        <p:nvSpPr>
          <p:cNvPr id="17" name="Shape 10"/>
          <p:cNvSpPr/>
          <p:nvPr/>
        </p:nvSpPr>
        <p:spPr>
          <a:xfrm>
            <a:off x="4617720" y="2286000"/>
            <a:ext cx="39776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9050">
            <a:solidFill>
              <a:srgbClr val="BFE3C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1"/>
          <p:cNvSpPr/>
          <p:nvPr/>
        </p:nvSpPr>
        <p:spPr>
          <a:xfrm>
            <a:off x="4617720" y="2286000"/>
            <a:ext cx="3977640" cy="502920"/>
          </a:xfrm>
          <a:prstGeom prst="roundRect">
            <a:avLst>
              <a:gd name="adj" fmla="val 18182"/>
            </a:avLst>
          </a:prstGeom>
          <a:solidFill>
            <a:srgbClr val="1F9D55"/>
          </a:solidFill>
          <a:ln/>
        </p:spPr>
      </p:sp>
      <p:sp>
        <p:nvSpPr>
          <p:cNvPr id="19" name="Text 12"/>
          <p:cNvSpPr/>
          <p:nvPr/>
        </p:nvSpPr>
        <p:spPr>
          <a:xfrm>
            <a:off x="4846320" y="22860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START PERFORMANCE</a:t>
            </a:r>
            <a:endParaRPr lang="en-US" sz="1300" dirty="0"/>
          </a:p>
        </p:txBody>
      </p:sp>
      <p:pic>
        <p:nvPicPr>
          <p:cNvPr id="20" name="Image 5" descr="assets/check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017520"/>
            <a:ext cx="182880" cy="18288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120640" y="2962656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7:20a  </a:t>
            </a:r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answers, texts the customer back, logs the job.</a:t>
            </a:r>
            <a:endParaRPr lang="en-US" sz="1100" dirty="0"/>
          </a:p>
        </p:txBody>
      </p:sp>
      <p:pic>
        <p:nvPicPr>
          <p:cNvPr id="22" name="Image 6" descr="assets/check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3447288"/>
            <a:ext cx="182880" cy="18288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120640" y="3392424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10:15a  </a:t>
            </a:r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 gets a reply in seconds — they wait for you.</a:t>
            </a:r>
            <a:endParaRPr lang="en-US" sz="1100" dirty="0"/>
          </a:p>
        </p:txBody>
      </p:sp>
      <p:pic>
        <p:nvPicPr>
          <p:cNvPr id="24" name="Image 7" descr="assets/checkg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3877056"/>
            <a:ext cx="182880" cy="18288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120640" y="382219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1:40p  </a:t>
            </a:r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captured, details on your phone.</a:t>
            </a:r>
            <a:endParaRPr lang="en-US" sz="1100" dirty="0"/>
          </a:p>
        </p:txBody>
      </p:sp>
      <p:pic>
        <p:nvPicPr>
          <p:cNvPr id="26" name="Image 8" descr="assets/checkg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6320" y="4306824"/>
            <a:ext cx="182880" cy="18288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5120640" y="425196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6:00p  </a:t>
            </a:r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new jobs waiting — names, numbers, what they need.</a:t>
            </a:r>
            <a:endParaRPr lang="en-US" sz="1100" dirty="0"/>
          </a:p>
        </p:txBody>
      </p:sp>
      <p:sp>
        <p:nvSpPr>
          <p:cNvPr id="28" name="Text 17"/>
          <p:cNvSpPr/>
          <p:nvPr/>
        </p:nvSpPr>
        <p:spPr>
          <a:xfrm>
            <a:off x="548640" y="4864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Booked solid — and you call them back over dinner instead of losing them.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sp-l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1144079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1261872"/>
            <a:ext cx="128016" cy="12801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4" name="Text 1"/>
          <p:cNvSpPr/>
          <p:nvPr/>
        </p:nvSpPr>
        <p:spPr>
          <a:xfrm>
            <a:off x="804672" y="11795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14447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saved job pays for it — many times over.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2331720"/>
            <a:ext cx="2743200" cy="2331720"/>
          </a:xfrm>
          <a:prstGeom prst="roundRect">
            <a:avLst>
              <a:gd name="adj" fmla="val 3922"/>
            </a:avLst>
          </a:prstGeom>
          <a:solidFill>
            <a:srgbClr val="17181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25420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COST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" y="2889504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$29</a:t>
            </a:r>
            <a:pPr indent="0" marL="0">
              <a:buNone/>
            </a:pPr>
            <a:r>
              <a:rPr lang="en-US" sz="1800" dirty="0">
                <a:solidFill>
                  <a:srgbClr val="9AA0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/mo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777240" y="367588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9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a dollar a day —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9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the lowest price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9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market.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7240" y="43708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rate: $9.99/mo (limited)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520440" y="2331720"/>
            <a:ext cx="5074920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703320" y="2331720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service call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806440" y="2331720"/>
            <a:ext cx="1097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086600" y="2414016"/>
            <a:ext cx="1371600" cy="329184"/>
          </a:xfrm>
          <a:prstGeom prst="roundRect">
            <a:avLst>
              <a:gd name="adj" fmla="val 13889"/>
            </a:avLst>
          </a:prstGeom>
          <a:solidFill>
            <a:srgbClr val="FCEBEC"/>
          </a:solidFill>
          <a:ln/>
        </p:spPr>
      </p:sp>
      <p:sp>
        <p:nvSpPr>
          <p:cNvPr id="15" name="Text 12"/>
          <p:cNvSpPr/>
          <p:nvPr/>
        </p:nvSpPr>
        <p:spPr>
          <a:xfrm>
            <a:off x="7086600" y="241401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 paid back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520440" y="2935224"/>
            <a:ext cx="5074920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703320" y="2935224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repair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806440" y="2935224"/>
            <a:ext cx="1097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$1,000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7086600" y="3017520"/>
            <a:ext cx="1371600" cy="329184"/>
          </a:xfrm>
          <a:prstGeom prst="roundRect">
            <a:avLst>
              <a:gd name="adj" fmla="val 13889"/>
            </a:avLst>
          </a:prstGeom>
          <a:solidFill>
            <a:srgbClr val="ED1C24"/>
          </a:solidFill>
          <a:ln/>
        </p:spPr>
      </p:sp>
      <p:sp>
        <p:nvSpPr>
          <p:cNvPr id="20" name="Text 17"/>
          <p:cNvSpPr/>
          <p:nvPr/>
        </p:nvSpPr>
        <p:spPr>
          <a:xfrm>
            <a:off x="7086600" y="30175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34× paid back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3520440" y="3538728"/>
            <a:ext cx="5074920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703320" y="3538728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system install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5806440" y="3538728"/>
            <a:ext cx="1097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$6,000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7086600" y="3621024"/>
            <a:ext cx="1371600" cy="329184"/>
          </a:xfrm>
          <a:prstGeom prst="roundRect">
            <a:avLst>
              <a:gd name="adj" fmla="val 13889"/>
            </a:avLst>
          </a:prstGeom>
          <a:solidFill>
            <a:srgbClr val="FCEBEC"/>
          </a:solidFill>
          <a:ln/>
        </p:spPr>
      </p:sp>
      <p:sp>
        <p:nvSpPr>
          <p:cNvPr id="25" name="Text 22"/>
          <p:cNvSpPr/>
          <p:nvPr/>
        </p:nvSpPr>
        <p:spPr>
          <a:xfrm>
            <a:off x="7086600" y="362102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17 years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520440" y="4224528"/>
            <a:ext cx="5074920" cy="457200"/>
          </a:xfrm>
          <a:prstGeom prst="roundRect">
            <a:avLst>
              <a:gd name="adj" fmla="val 14000"/>
            </a:avLst>
          </a:prstGeom>
          <a:solidFill>
            <a:srgbClr val="1A1A1A"/>
          </a:solidFill>
          <a:ln/>
        </p:spPr>
      </p:sp>
      <p:sp>
        <p:nvSpPr>
          <p:cNvPr id="27" name="Text 24"/>
          <p:cNvSpPr/>
          <p:nvPr/>
        </p:nvSpPr>
        <p:spPr>
          <a:xfrm>
            <a:off x="3703320" y="42245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one job a week = ~$15,000/yr gone.  </a:t>
            </a:r>
            <a:pPr indent="0" marL="0">
              <a:buNone/>
            </a:pPr>
            <a:r>
              <a:rPr lang="en-US" sz="12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costs $348/yr.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54864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figures — real job values vary by trade and market.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sp-l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1144079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1261872"/>
            <a:ext cx="128016" cy="12801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4" name="Text 1"/>
          <p:cNvSpPr/>
          <p:nvPr/>
        </p:nvSpPr>
        <p:spPr>
          <a:xfrm>
            <a:off x="804672" y="11795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PAYS FOR ITSELF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14447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Win back jobs you never knew you lost.</a:t>
            </a:r>
            <a:endParaRPr lang="en-US" sz="2800" dirty="0"/>
          </a:p>
        </p:txBody>
      </p:sp>
      <p:pic>
        <p:nvPicPr>
          <p:cNvPr id="6" name="Image 1" descr="asset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77440"/>
            <a:ext cx="310896" cy="3108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5840" y="23134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Catch every call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005840" y="264261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hours, weekends, on the job — nothing rings out</a:t>
            </a:r>
            <a:endParaRPr lang="en-US" sz="1150" dirty="0"/>
          </a:p>
        </p:txBody>
      </p:sp>
      <p:pic>
        <p:nvPicPr>
          <p:cNvPr id="9" name="Image 2" descr="asset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2377440"/>
            <a:ext cx="310896" cy="3108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120640" y="23134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 in seconds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5120640" y="264261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hear back instantly, not hours later</a:t>
            </a:r>
            <a:endParaRPr lang="en-US" sz="1150" dirty="0"/>
          </a:p>
        </p:txBody>
      </p:sp>
      <p:pic>
        <p:nvPicPr>
          <p:cNvPr id="12" name="Image 3" descr="asset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00400"/>
            <a:ext cx="310896" cy="31089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05840" y="31363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Look bigger than you are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1005840" y="346557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polished front desk, running 24/7</a:t>
            </a:r>
            <a:endParaRPr lang="en-US" sz="1150" dirty="0"/>
          </a:p>
        </p:txBody>
      </p:sp>
      <p:pic>
        <p:nvPicPr>
          <p:cNvPr id="15" name="Image 4" descr="asset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3200400"/>
            <a:ext cx="310896" cy="31089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120640" y="31363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Zero setup hassle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5120640" y="346557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your number, no new phone, live in a day</a:t>
            </a:r>
            <a:endParaRPr lang="en-US" sz="1150" dirty="0"/>
          </a:p>
        </p:txBody>
      </p:sp>
      <p:pic>
        <p:nvPicPr>
          <p:cNvPr id="18" name="Image 5" descr="asset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023360"/>
            <a:ext cx="310896" cy="31089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005840" y="39593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Nothing slips</a:t>
            </a:r>
            <a:endParaRPr lang="en-US" sz="1600" dirty="0"/>
          </a:p>
        </p:txBody>
      </p:sp>
      <p:sp>
        <p:nvSpPr>
          <p:cNvPr id="20" name="Text 12"/>
          <p:cNvSpPr/>
          <p:nvPr/>
        </p:nvSpPr>
        <p:spPr>
          <a:xfrm>
            <a:off x="1005840" y="428853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lead captured and waiting on your phone</a:t>
            </a:r>
            <a:endParaRPr lang="en-US" sz="1150" dirty="0"/>
          </a:p>
        </p:txBody>
      </p:sp>
      <p:pic>
        <p:nvPicPr>
          <p:cNvPr id="21" name="Image 6" descr="assets/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3440" y="4023360"/>
            <a:ext cx="310896" cy="310896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120640" y="39593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Win the race</a:t>
            </a:r>
            <a:endParaRPr lang="en-US" sz="1600" dirty="0"/>
          </a:p>
        </p:txBody>
      </p:sp>
      <p:sp>
        <p:nvSpPr>
          <p:cNvPr id="23" name="Text 14"/>
          <p:cNvSpPr/>
          <p:nvPr/>
        </p:nvSpPr>
        <p:spPr>
          <a:xfrm>
            <a:off x="5120640" y="428853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the first to respond — and get the job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sp-mark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6858000" y="2651760"/>
            <a:ext cx="2926080" cy="2926080"/>
          </a:xfrm>
          <a:prstGeom prst="rect">
            <a:avLst/>
          </a:prstGeom>
        </p:spPr>
      </p:pic>
      <p:pic>
        <p:nvPicPr>
          <p:cNvPr id="3" name="Image 1" descr="assets/sp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502920" cy="5029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61288" y="466344"/>
            <a:ext cx="274320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3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START</a:t>
            </a:r>
            <a:endParaRPr lang="en-US" sz="2530" dirty="0"/>
          </a:p>
        </p:txBody>
      </p:sp>
      <p:sp>
        <p:nvSpPr>
          <p:cNvPr id="5" name="Text 1"/>
          <p:cNvSpPr/>
          <p:nvPr/>
        </p:nvSpPr>
        <p:spPr>
          <a:xfrm>
            <a:off x="1179576" y="794614"/>
            <a:ext cx="2743200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3" b="1" spc="240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PERFORMANCE</a:t>
            </a:r>
            <a:endParaRPr lang="en-US" sz="853" dirty="0"/>
          </a:p>
        </p:txBody>
      </p:sp>
      <p:sp>
        <p:nvSpPr>
          <p:cNvPr id="6" name="Shape 2"/>
          <p:cNvSpPr/>
          <p:nvPr/>
        </p:nvSpPr>
        <p:spPr>
          <a:xfrm>
            <a:off x="566928" y="1673352"/>
            <a:ext cx="128016" cy="12801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7" name="Text 3"/>
          <p:cNvSpPr/>
          <p:nvPr/>
        </p:nvSpPr>
        <p:spPr>
          <a:xfrm>
            <a:off x="804672" y="159105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48640" y="18745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Stop sending customers to voicemail.</a:t>
            </a:r>
            <a:endParaRPr lang="en-US" sz="3400" dirty="0"/>
          </a:p>
        </p:txBody>
      </p:sp>
      <p:sp>
        <p:nvSpPr>
          <p:cNvPr id="9" name="Text 5"/>
          <p:cNvSpPr/>
          <p:nvPr/>
        </p:nvSpPr>
        <p:spPr>
          <a:xfrm>
            <a:off x="566928" y="2761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</a:t>
            </a:r>
            <a:pPr indent="0" marL="0">
              <a:buNone/>
            </a:pPr>
            <a:r>
              <a:rPr lang="en-US" sz="1600" dirty="0">
                <a:solidFill>
                  <a:srgbClr val="D6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   ·   No contract   ·   No hardware   ·   Live in a day</a:t>
            </a:r>
            <a:endParaRPr lang="en-US" sz="3000" dirty="0"/>
          </a:p>
        </p:txBody>
      </p:sp>
      <p:sp>
        <p:nvSpPr>
          <p:cNvPr id="10" name="Text 6"/>
          <p:cNvSpPr/>
          <p:nvPr/>
        </p:nvSpPr>
        <p:spPr>
          <a:xfrm>
            <a:off x="566928" y="32186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Founder rate — </a:t>
            </a:r>
            <a:pPr indent="0" marL="0">
              <a:buNone/>
            </a:pPr>
            <a:r>
              <a:rPr lang="en-US" sz="1250" dirty="0">
                <a:solidFill>
                  <a:srgbClr val="C9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in $9.99/mo as one of the first customers.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66928" y="3611880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ED1C24"/>
          </a:solidFill>
          <a:ln/>
        </p:spPr>
      </p:sp>
      <p:sp>
        <p:nvSpPr>
          <p:cNvPr id="12" name="Text 8"/>
          <p:cNvSpPr/>
          <p:nvPr/>
        </p:nvSpPr>
        <p:spPr>
          <a:xfrm>
            <a:off x="566928" y="3611880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30 days — win back one job and it's already paid for.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66928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50" kern="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800-541-4938   ·   rbstart@startperformance.com   ·   startperformance.com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Never Miss Another Job</dc:title>
  <dc:subject>PptxGenJS Presentation</dc:subject>
  <dc:creator>Start Performance</dc:creator>
  <cp:lastModifiedBy>Start Performance</cp:lastModifiedBy>
  <cp:revision>1</cp:revision>
  <dcterms:created xsi:type="dcterms:W3CDTF">2026-07-08T18:21:29Z</dcterms:created>
  <dcterms:modified xsi:type="dcterms:W3CDTF">2026-07-08T18:21:29Z</dcterms:modified>
</cp:coreProperties>
</file>