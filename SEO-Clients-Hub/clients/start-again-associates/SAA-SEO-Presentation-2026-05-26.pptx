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lang="en-US">
          <a:latin typeface="Calibri"/>
        </a:defRPr>
      </a:lvl1pPr>
    </p:titleStyle>
    <p:bodyStyle>
      <a:lvl1pPr>
        <a:defRPr lang="en-US">
          <a:latin typeface="Calibri"/>
        </a:defRPr>
      </a:lvl1pPr>
    </p:bodyStyle>
    <p:otherStyle>
      <a:lvl1pPr>
        <a:defRPr lang="en-US">
          <a:latin typeface="Calibri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2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ox3"/>
          <p:cNvSpPr>
            <a:spLocks noGrp="1"/>
          </p:cNvSpPr>
          <p:nvPr/>
        </p:nvSpPr>
        <p:spPr>
          <a:xfrm>
            <a:off x="0" y="2286000"/>
            <a:ext cx="164592" cy="24003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411480" y="1371600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5000" b="1" dirty="0">
                <a:solidFill>
                  <a:srgbClr val="FFFFFF"/>
                </a:solidFill>
                <a:latin typeface="Calibri"/>
              </a:rPr>
              <a:t>SEO AUDIT REPORT</a:t>
            </a:r>
          </a:p>
        </p:txBody>
      </p:sp>
      <p:sp>
        <p:nvSpPr>
          <p:cNvPr id="5" name="t5"/>
          <p:cNvSpPr txBox="1"/>
          <p:nvPr/>
        </p:nvSpPr>
        <p:spPr>
          <a:xfrm>
            <a:off x="411480" y="205740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3600" b="1" dirty="0">
                <a:solidFill>
                  <a:srgbClr val="C9A84C"/>
                </a:solidFill>
                <a:latin typeface="Calibri"/>
              </a:rPr>
              <a:t>Start Again Associates</a:t>
            </a:r>
          </a:p>
        </p:txBody>
      </p:sp>
      <p:sp>
        <p:nvSpPr>
          <p:cNvPr id="6" name="t6"/>
          <p:cNvSpPr txBox="1"/>
          <p:nvPr/>
        </p:nvSpPr>
        <p:spPr>
          <a:xfrm>
            <a:off x="411480" y="26974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800" b="0" dirty="0">
                <a:solidFill>
                  <a:srgbClr val="A0BAD0"/>
                </a:solidFill>
                <a:latin typeface="Calibri"/>
              </a:rPr>
              <a:t>startagainassociates.com</a:t>
            </a:r>
          </a:p>
        </p:txBody>
      </p:sp>
      <p:sp>
        <p:nvSpPr>
          <p:cNvPr id="7" name="box7"/>
          <p:cNvSpPr>
            <a:spLocks noGrp="1"/>
          </p:cNvSpPr>
          <p:nvPr/>
        </p:nvSpPr>
        <p:spPr>
          <a:xfrm>
            <a:off x="411480" y="3246120"/>
            <a:ext cx="320040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8"/>
          <p:cNvSpPr txBox="1"/>
          <p:nvPr/>
        </p:nvSpPr>
        <p:spPr>
          <a:xfrm>
            <a:off x="411480" y="33832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400" b="0" dirty="0">
                <a:solidFill>
                  <a:srgbClr val="A0BAD0"/>
                </a:solidFill>
                <a:latin typeface="Calibri"/>
              </a:rPr>
              <a:t>Prepared by Richard  |  Audit Date: May 26, 2026</a:t>
            </a:r>
          </a:p>
        </p:txBody>
      </p:sp>
      <p:sp>
        <p:nvSpPr>
          <p:cNvPr id="9" name="t9"/>
          <p:cNvSpPr txBox="1"/>
          <p:nvPr/>
        </p:nvSpPr>
        <p:spPr>
          <a:xfrm>
            <a:off x="411480" y="37490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200" b="1" dirty="0">
                <a:solidFill>
                  <a:srgbClr val="C9A84C"/>
                </a:solidFill>
                <a:latin typeface="Calibri"/>
              </a:rPr>
              <a:t>CONFIDENTIAL</a:t>
            </a:r>
          </a:p>
        </p:txBody>
      </p:sp>
      <p:pic>
        <p:nvPicPr>
          <p:cNvPr id="11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580" y="431754"/>
            <a:ext cx="4761905" cy="714286"/>
          </a:xfrm>
          <a:prstGeom prst="rect">
            <a:avLst/>
          </a:prstGeom>
        </p:spPr>
      </p:pic>
    </p:spTree>
  </p:cSld>
  <p:clrMapOvr>
    <a:masterClr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2"/>
          <p:cNvSpPr>
            <a:spLocks noGrp="1"/>
          </p:cNvSpPr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3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The Numbers Don't Lie</a:t>
            </a:r>
          </a:p>
        </p:txBody>
      </p:sp>
      <p:sp>
        <p:nvSpPr>
          <p:cNvPr id="4" name="t4"/>
          <p:cNvSpPr txBox="1"/>
          <p:nvPr/>
        </p:nvSpPr>
        <p:spPr>
          <a:xfrm>
            <a:off x="320040" y="86868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800" b="0" dirty="0">
                <a:solidFill>
                  <a:srgbClr val="374151"/>
                </a:solidFill>
                <a:latin typeface="Calibri"/>
              </a:rPr>
              <a:t>Start Again Associates is essentially invisible online. Here is why.</a:t>
            </a:r>
          </a:p>
        </p:txBody>
      </p:sp>
      <p:sp>
        <p:nvSpPr>
          <p:cNvPr id="5" name="box5"/>
          <p:cNvSpPr>
            <a:spLocks noGrp="1"/>
          </p:cNvSpPr>
          <p:nvPr/>
        </p:nvSpPr>
        <p:spPr>
          <a:xfrm>
            <a:off x="274320" y="1417320"/>
            <a:ext cx="1920240" cy="150876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6"/>
          <p:cNvSpPr txBox="1"/>
          <p:nvPr/>
        </p:nvSpPr>
        <p:spPr>
          <a:xfrm>
            <a:off x="274320" y="1527048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4800" b="1" dirty="0">
                <a:solidFill>
                  <a:srgbClr val="CC2200"/>
                </a:solidFill>
                <a:latin typeface="Calibri"/>
              </a:rPr>
              <a:t>31/100</a:t>
            </a:r>
          </a:p>
        </p:txBody>
      </p:sp>
      <p:sp>
        <p:nvSpPr>
          <p:cNvPr id="7" name="t7"/>
          <p:cNvSpPr txBox="1"/>
          <p:nvPr/>
        </p:nvSpPr>
        <p:spPr>
          <a:xfrm>
            <a:off x="274320" y="219456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400" b="0" dirty="0">
                <a:solidFill>
                  <a:srgbClr val="4A5568"/>
                </a:solidFill>
                <a:latin typeface="Calibri"/>
              </a:rPr>
              <a:t>Overall SEO Health Score</a:t>
            </a:r>
          </a:p>
        </p:txBody>
      </p:sp>
      <p:sp>
        <p:nvSpPr>
          <p:cNvPr id="8" name="box8"/>
          <p:cNvSpPr>
            <a:spLocks noGrp="1"/>
          </p:cNvSpPr>
          <p:nvPr/>
        </p:nvSpPr>
        <p:spPr>
          <a:xfrm>
            <a:off x="2423160" y="1417320"/>
            <a:ext cx="1920240" cy="150876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9"/>
          <p:cNvSpPr txBox="1"/>
          <p:nvPr/>
        </p:nvSpPr>
        <p:spPr>
          <a:xfrm>
            <a:off x="2423160" y="1527048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4800" b="1" dirty="0">
                <a:solidFill>
                  <a:srgbClr val="CC2200"/>
                </a:solidFill>
                <a:latin typeface="Calibri"/>
              </a:rPr>
              <a:t>1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2423160" y="219456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400" b="0" dirty="0">
                <a:solidFill>
                  <a:srgbClr val="4A5568"/>
                </a:solidFill>
                <a:latin typeface="Calibri"/>
              </a:rPr>
              <a:t>Organic Visitors / Month</a:t>
            </a:r>
          </a:p>
        </p:txBody>
      </p:sp>
      <p:sp>
        <p:nvSpPr>
          <p:cNvPr id="11" name="box11"/>
          <p:cNvSpPr>
            <a:spLocks noGrp="1"/>
          </p:cNvSpPr>
          <p:nvPr/>
        </p:nvSpPr>
        <p:spPr>
          <a:xfrm>
            <a:off x="4572000" y="1417320"/>
            <a:ext cx="1920240" cy="150876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4572000" y="1527048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4800" b="1" dirty="0">
                <a:solidFill>
                  <a:srgbClr val="CC2200"/>
                </a:solidFill>
                <a:latin typeface="Calibri"/>
              </a:rPr>
              <a:t>2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4572000" y="219456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400" b="0" dirty="0">
                <a:solidFill>
                  <a:srgbClr val="4A5568"/>
                </a:solidFill>
                <a:latin typeface="Calibri"/>
              </a:rPr>
              <a:t>Ranking Keywords</a:t>
            </a:r>
          </a:p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6720840" y="1417320"/>
            <a:ext cx="1920240" cy="150876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15"/>
          <p:cNvSpPr txBox="1"/>
          <p:nvPr/>
        </p:nvSpPr>
        <p:spPr>
          <a:xfrm>
            <a:off x="6720840" y="1527048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4800" b="1" dirty="0">
                <a:solidFill>
                  <a:srgbClr val="1B3A5C"/>
                </a:solidFill>
                <a:latin typeface="Calibri"/>
              </a:rPr>
              <a:t>61</a:t>
            </a:r>
          </a:p>
        </p:txBody>
      </p:sp>
      <p:sp>
        <p:nvSpPr>
          <p:cNvPr id="16" name="t16"/>
          <p:cNvSpPr txBox="1"/>
          <p:nvPr/>
        </p:nvSpPr>
        <p:spPr>
          <a:xfrm>
            <a:off x="6720840" y="219456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400" b="0" dirty="0">
                <a:solidFill>
                  <a:srgbClr val="4A5568"/>
                </a:solidFill>
                <a:latin typeface="Calibri"/>
              </a:rPr>
              <a:t>SEO Issues Found</a:t>
            </a:r>
          </a:p>
        </p:txBody>
      </p:sp>
      <p:sp>
        <p:nvSpPr>
          <p:cNvPr id="17" name="box17"/>
          <p:cNvSpPr>
            <a:spLocks noGrp="1"/>
          </p:cNvSpPr>
          <p:nvPr/>
        </p:nvSpPr>
        <p:spPr>
          <a:xfrm>
            <a:off x="274320" y="3108960"/>
            <a:ext cx="1920240" cy="1508760"/>
          </a:xfrm>
          <a:prstGeom prst="rect">
            <a:avLst/>
          </a:prstGeom>
          <a:solidFill>
            <a:srgbClr val="EDFB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18"/>
          <p:cNvSpPr txBox="1"/>
          <p:nvPr/>
        </p:nvSpPr>
        <p:spPr>
          <a:xfrm>
            <a:off x="274320" y="3218688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4800" b="1" dirty="0">
                <a:solidFill>
                  <a:srgbClr val="027A3A"/>
                </a:solidFill>
                <a:latin typeface="Calibri"/>
              </a:rPr>
              <a:t>1.37s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274320" y="38862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400" b="0" dirty="0">
                <a:solidFill>
                  <a:srgbClr val="4A5568"/>
                </a:solidFill>
                <a:latin typeface="Calibri"/>
              </a:rPr>
              <a:t>Desktop Load (Great)</a:t>
            </a:r>
          </a:p>
        </p:txBody>
      </p:sp>
      <p:sp>
        <p:nvSpPr>
          <p:cNvPr id="20" name="box20"/>
          <p:cNvSpPr>
            <a:spLocks noGrp="1"/>
          </p:cNvSpPr>
          <p:nvPr/>
        </p:nvSpPr>
        <p:spPr>
          <a:xfrm>
            <a:off x="2423160" y="3108960"/>
            <a:ext cx="1920240" cy="150876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21"/>
          <p:cNvSpPr txBox="1"/>
          <p:nvPr/>
        </p:nvSpPr>
        <p:spPr>
          <a:xfrm>
            <a:off x="2423160" y="3218688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4800" b="1" dirty="0">
                <a:solidFill>
                  <a:srgbClr val="CC2200"/>
                </a:solidFill>
                <a:latin typeface="Calibri"/>
              </a:rPr>
              <a:t>7.62s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2423160" y="38862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400" b="0" dirty="0">
                <a:solidFill>
                  <a:srgbClr val="4A5568"/>
                </a:solidFill>
                <a:latin typeface="Calibri"/>
              </a:rPr>
              <a:t>Mobile Load (POOR)</a:t>
            </a:r>
          </a:p>
        </p:txBody>
      </p:sp>
      <p:sp>
        <p:nvSpPr>
          <p:cNvPr id="23" name="box23"/>
          <p:cNvSpPr>
            <a:spLocks noGrp="1"/>
          </p:cNvSpPr>
          <p:nvPr/>
        </p:nvSpPr>
        <p:spPr>
          <a:xfrm>
            <a:off x="4572000" y="3108960"/>
            <a:ext cx="1920240" cy="150876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24"/>
          <p:cNvSpPr txBox="1"/>
          <p:nvPr/>
        </p:nvSpPr>
        <p:spPr>
          <a:xfrm>
            <a:off x="4572000" y="3218688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4800" b="1" dirty="0">
                <a:solidFill>
                  <a:srgbClr val="1B3A5C"/>
                </a:solidFill>
                <a:latin typeface="Calibri"/>
              </a:rPr>
              <a:t>18</a:t>
            </a:r>
          </a:p>
        </p:txBody>
      </p:sp>
      <p:sp>
        <p:nvSpPr>
          <p:cNvPr id="25" name="t25"/>
          <p:cNvSpPr txBox="1"/>
          <p:nvPr/>
        </p:nvSpPr>
        <p:spPr>
          <a:xfrm>
            <a:off x="4572000" y="38862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400" b="0" dirty="0">
                <a:solidFill>
                  <a:srgbClr val="4A5568"/>
                </a:solidFill>
                <a:latin typeface="Calibri"/>
              </a:rPr>
              <a:t>Pages Missing Meta Desc.</a:t>
            </a:r>
          </a:p>
        </p:txBody>
      </p:sp>
      <p:sp>
        <p:nvSpPr>
          <p:cNvPr id="26" name="box26"/>
          <p:cNvSpPr>
            <a:spLocks noGrp="1"/>
          </p:cNvSpPr>
          <p:nvPr/>
        </p:nvSpPr>
        <p:spPr>
          <a:xfrm>
            <a:off x="6720840" y="3108960"/>
            <a:ext cx="1920240" cy="150876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27"/>
          <p:cNvSpPr txBox="1"/>
          <p:nvPr/>
        </p:nvSpPr>
        <p:spPr>
          <a:xfrm>
            <a:off x="6720840" y="3218688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4800" b="1" dirty="0">
                <a:solidFill>
                  <a:srgbClr val="1B3A5C"/>
                </a:solidFill>
                <a:latin typeface="Calibri"/>
              </a:rPr>
              <a:t>49</a:t>
            </a:r>
          </a:p>
        </p:txBody>
      </p:sp>
      <p:sp>
        <p:nvSpPr>
          <p:cNvPr id="28" name="t28"/>
          <p:cNvSpPr txBox="1"/>
          <p:nvPr/>
        </p:nvSpPr>
        <p:spPr>
          <a:xfrm>
            <a:off x="6720840" y="38862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400" b="0" dirty="0">
                <a:solidFill>
                  <a:srgbClr val="4A5568"/>
                </a:solidFill>
                <a:latin typeface="Calibri"/>
              </a:rPr>
              <a:t>Backlinks</a:t>
            </a:r>
          </a:p>
        </p:txBody>
      </p:sp>
    </p:spTree>
  </p:cSld>
  <p:clrMapOvr>
    <a:masterClr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2"/>
          <p:cNvSpPr>
            <a:spLocks noGrp="1"/>
          </p:cNvSpPr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3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Priority #1: The Homepage is Blank</a:t>
            </a:r>
          </a:p>
        </p:txBody>
      </p:sp>
      <p:sp>
        <p:nvSpPr>
          <p:cNvPr id="4" name="box4"/>
          <p:cNvSpPr>
            <a:spLocks noGrp="1"/>
          </p:cNvSpPr>
          <p:nvPr/>
        </p:nvSpPr>
        <p:spPr>
          <a:xfrm>
            <a:off x="0" y="749808"/>
            <a:ext cx="4206240" cy="4389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5"/>
          <p:cNvSpPr txBox="1"/>
          <p:nvPr/>
        </p:nvSpPr>
        <p:spPr>
          <a:xfrm>
            <a:off x="228600" y="1005840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2200" b="1" dirty="0">
                <a:solidFill>
                  <a:srgbClr val="028090"/>
                </a:solidFill>
                <a:latin typeface="Calibri"/>
              </a:rPr>
              <a:t>The Impact</a:t>
            </a:r>
          </a:p>
        </p:txBody>
      </p:sp>
      <p:sp>
        <p:nvSpPr>
          <p:cNvPr id="6" name="tl6"/>
          <p:cNvSpPr txBox="1"/>
          <p:nvPr/>
        </p:nvSpPr>
        <p:spPr>
          <a:xfrm>
            <a:off x="228600" y="1691640"/>
            <a:ext cx="3749040" cy="3200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500" b="0" dirty="0">
                <a:solidFill>
                  <a:srgbClr val="FFFFFF"/>
                </a:solidFill>
                <a:latin typeface="Calibri"/>
              </a:rPr>
              <a:t>Google has nothing to index</a:t>
            </a:r>
          </a:p>
          <a:p>
            <a:pPr algn="left">
              <a:buNone/>
            </a:pPr>
            <a:r>
              <a:rPr lang="en-US" sz="1500" b="0" dirty="0">
                <a:solidFill>
                  <a:srgbClr val="FFFFFF"/>
                </a:solidFill>
                <a:latin typeface="Calibri"/>
              </a:rPr>
              <a:t/>
            </a:r>
          </a:p>
          <a:p>
            <a:pPr algn="left">
              <a:buNone/>
            </a:pPr>
            <a:r>
              <a:rPr lang="en-US" sz="1500" b="0" dirty="0">
                <a:solidFill>
                  <a:srgbClr val="FFFFFF"/>
                </a:solidFill>
                <a:latin typeface="Calibri"/>
              </a:rPr>
              <a:t>Visitors land and immediately bounce</a:t>
            </a:r>
          </a:p>
          <a:p>
            <a:pPr algn="left">
              <a:buNone/>
            </a:pPr>
            <a:r>
              <a:rPr lang="en-US" sz="1500" b="0" dirty="0">
                <a:solidFill>
                  <a:srgbClr val="FFFFFF"/>
                </a:solidFill>
                <a:latin typeface="Calibri"/>
              </a:rPr>
              <a:t/>
            </a:r>
          </a:p>
          <a:p>
            <a:pPr algn="left">
              <a:buNone/>
            </a:pPr>
            <a:r>
              <a:rPr lang="en-US" sz="1500" b="0" dirty="0">
                <a:solidFill>
                  <a:srgbClr val="FFFFFF"/>
                </a:solidFill>
                <a:latin typeface="Calibri"/>
              </a:rPr>
              <a:t>No keyword can be targeted</a:t>
            </a:r>
          </a:p>
          <a:p>
            <a:pPr algn="left">
              <a:buNone/>
            </a:pPr>
            <a:r>
              <a:rPr lang="en-US" sz="1500" b="0" dirty="0">
                <a:solidFill>
                  <a:srgbClr val="FFFFFF"/>
                </a:solidFill>
                <a:latin typeface="Calibri"/>
              </a:rPr>
              <a:t/>
            </a:r>
          </a:p>
          <a:p>
            <a:pPr algn="left">
              <a:buNone/>
            </a:pPr>
            <a:r>
              <a:rPr lang="en-US" sz="1500" b="0" dirty="0">
                <a:solidFill>
                  <a:srgbClr val="FFFFFF"/>
                </a:solidFill>
                <a:latin typeface="Calibri"/>
              </a:rPr>
              <a:t>Zero trust signals in a YMYL niche</a:t>
            </a:r>
          </a:p>
          <a:p>
            <a:pPr algn="left">
              <a:buNone/>
            </a:pPr>
            <a:r>
              <a:rPr lang="en-US" sz="1500" b="0" dirty="0">
                <a:solidFill>
                  <a:srgbClr val="FFFFFF"/>
                </a:solidFill>
                <a:latin typeface="Calibri"/>
              </a:rPr>
              <a:t/>
            </a:r>
          </a:p>
          <a:p>
            <a:pPr algn="left">
              <a:buNone/>
            </a:pPr>
            <a:r>
              <a:rPr lang="en-US" sz="1500" b="0" dirty="0">
                <a:solidFill>
                  <a:srgbClr val="FFFFFF"/>
                </a:solidFill>
                <a:latin typeface="Calibri"/>
              </a:rPr>
              <a:t>Competitors capture all search traffic</a:t>
            </a:r>
          </a:p>
        </p:txBody>
      </p:sp>
      <p:sp>
        <p:nvSpPr>
          <p:cNvPr id="7" name="box7"/>
          <p:cNvSpPr>
            <a:spLocks noGrp="1"/>
          </p:cNvSpPr>
          <p:nvPr/>
        </p:nvSpPr>
        <p:spPr>
          <a:xfrm>
            <a:off x="4206240" y="749808"/>
            <a:ext cx="49377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8"/>
          <p:cNvSpPr txBox="1"/>
          <p:nvPr/>
        </p:nvSpPr>
        <p:spPr>
          <a:xfrm>
            <a:off x="4434840" y="1005840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900" b="1" dirty="0">
                <a:solidFill>
                  <a:srgbClr val="1B3A5C"/>
                </a:solidFill>
                <a:latin typeface="Calibri"/>
              </a:rPr>
              <a:t>What Needs to Be There</a:t>
            </a:r>
          </a:p>
        </p:txBody>
      </p:sp>
      <p:sp>
        <p:nvSpPr>
          <p:cNvPr id="9" name="box9"/>
          <p:cNvSpPr>
            <a:spLocks noGrp="1"/>
          </p:cNvSpPr>
          <p:nvPr/>
        </p:nvSpPr>
        <p:spPr>
          <a:xfrm>
            <a:off x="4434840" y="1600200"/>
            <a:ext cx="448056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l10"/>
          <p:cNvSpPr txBox="1"/>
          <p:nvPr/>
        </p:nvSpPr>
        <p:spPr>
          <a:xfrm>
            <a:off x="4434840" y="1691640"/>
            <a:ext cx="4480560" cy="3200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500" b="0" dirty="0">
                <a:solidFill>
                  <a:srgbClr val="374151"/>
                </a:solidFill>
                <a:latin typeface="Calibri"/>
              </a:rPr>
              <a:t>  Hero headline + subhead</a:t>
            </a:r>
          </a:p>
          <a:p>
            <a:pPr algn="left">
              <a:buNone/>
            </a:pPr>
            <a:r>
              <a:rPr lang="en-US" sz="1500" b="0" dirty="0">
                <a:solidFill>
                  <a:srgbClr val="374151"/>
                </a:solidFill>
                <a:latin typeface="Calibri"/>
              </a:rPr>
              <a:t>  Clear value proposition</a:t>
            </a:r>
          </a:p>
          <a:p>
            <a:pPr algn="left">
              <a:buNone/>
            </a:pPr>
            <a:r>
              <a:rPr lang="en-US" sz="1500" b="0" dirty="0">
                <a:solidFill>
                  <a:srgbClr val="374151"/>
                </a:solidFill>
                <a:latin typeface="Calibri"/>
              </a:rPr>
              <a:t>  EMDR-IA Approved trust badge</a:t>
            </a:r>
          </a:p>
          <a:p>
            <a:pPr algn="left">
              <a:buNone/>
            </a:pPr>
            <a:r>
              <a:rPr lang="en-US" sz="1500" b="0" dirty="0">
                <a:solidFill>
                  <a:srgbClr val="374151"/>
                </a:solidFill>
                <a:latin typeface="Calibri"/>
              </a:rPr>
              <a:t>  Services overview (3-4 cards)</a:t>
            </a:r>
          </a:p>
          <a:p>
            <a:pPr algn="left">
              <a:buNone/>
            </a:pPr>
            <a:r>
              <a:rPr lang="en-US" sz="1500" b="0" dirty="0">
                <a:solidFill>
                  <a:srgbClr val="374151"/>
                </a:solidFill>
                <a:latin typeface="Calibri"/>
              </a:rPr>
              <a:t>  About Dr. Dansiger + MET(T)A Protocol</a:t>
            </a:r>
          </a:p>
          <a:p>
            <a:pPr algn="left">
              <a:buNone/>
            </a:pPr>
            <a:r>
              <a:rPr lang="en-US" sz="1500" b="0" dirty="0">
                <a:solidFill>
                  <a:srgbClr val="374151"/>
                </a:solidFill>
                <a:latin typeface="Calibri"/>
              </a:rPr>
              <a:t>  Trainee testimonials (3 minimum)</a:t>
            </a:r>
          </a:p>
          <a:p>
            <a:pPr algn="left">
              <a:buNone/>
            </a:pPr>
            <a:r>
              <a:rPr lang="en-US" sz="1500" b="0" dirty="0">
                <a:solidFill>
                  <a:srgbClr val="374151"/>
                </a:solidFill>
                <a:latin typeface="Calibri"/>
              </a:rPr>
              <a:t>  Strong CTA: Register / Book Training</a:t>
            </a:r>
          </a:p>
          <a:p>
            <a:pPr algn="left">
              <a:buNone/>
            </a:pPr>
            <a:r>
              <a:rPr lang="en-US" sz="1500" b="0" dirty="0">
                <a:solidFill>
                  <a:srgbClr val="374151"/>
                </a:solidFill>
                <a:latin typeface="Calibri"/>
              </a:rPr>
              <a:t>  Trust bar: 30 Years | EMDR-IA Approved</a:t>
            </a:r>
          </a:p>
        </p:txBody>
      </p:sp>
    </p:spTree>
  </p:cSld>
  <p:clrMapOvr>
    <a:masterClr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2"/>
          <p:cNvSpPr>
            <a:spLocks noGrp="1"/>
          </p:cNvSpPr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3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Top 5 Priorities</a:t>
            </a:r>
          </a:p>
        </p:txBody>
      </p:sp>
      <p:sp>
        <p:nvSpPr>
          <p:cNvPr id="4" name="box4"/>
          <p:cNvSpPr>
            <a:spLocks noGrp="1"/>
          </p:cNvSpPr>
          <p:nvPr/>
        </p:nvSpPr>
        <p:spPr>
          <a:xfrm>
            <a:off x="274320" y="850392"/>
            <a:ext cx="502920" cy="566928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5"/>
          <p:cNvSpPr txBox="1"/>
          <p:nvPr/>
        </p:nvSpPr>
        <p:spPr>
          <a:xfrm>
            <a:off x="274320" y="8961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enter">
              <a:buNone/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box6"/>
          <p:cNvSpPr>
            <a:spLocks noGrp="1"/>
          </p:cNvSpPr>
          <p:nvPr/>
        </p:nvSpPr>
        <p:spPr>
          <a:xfrm>
            <a:off x="822960" y="850392"/>
            <a:ext cx="5486400" cy="5669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7"/>
          <p:cNvSpPr txBox="1"/>
          <p:nvPr/>
        </p:nvSpPr>
        <p:spPr>
          <a:xfrm>
            <a:off x="914400" y="941832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500" b="0" dirty="0">
                <a:solidFill>
                  <a:srgbClr val="1B3A5C"/>
                </a:solidFill>
                <a:latin typeface="Calibri"/>
              </a:rPr>
              <a:t>Build out the homepage - currently blank with zero SEO value</a:t>
            </a:r>
          </a:p>
        </p:txBody>
      </p:sp>
      <p:sp>
        <p:nvSpPr>
          <p:cNvPr id="8" name="box8"/>
          <p:cNvSpPr>
            <a:spLocks noGrp="1"/>
          </p:cNvSpPr>
          <p:nvPr/>
        </p:nvSpPr>
        <p:spPr>
          <a:xfrm>
            <a:off x="6355080" y="850392"/>
            <a:ext cx="1188720" cy="566928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9"/>
          <p:cNvSpPr txBox="1"/>
          <p:nvPr/>
        </p:nvSpPr>
        <p:spPr>
          <a:xfrm>
            <a:off x="6355080" y="941832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300" b="1" dirty="0">
                <a:solidFill>
                  <a:srgbClr val="CC2200"/>
                </a:solidFill>
                <a:latin typeface="Calibri"/>
              </a:rPr>
              <a:t>Critical</a:t>
            </a:r>
          </a:p>
        </p:txBody>
      </p:sp>
      <p:sp>
        <p:nvSpPr>
          <p:cNvPr id="10" name="box10"/>
          <p:cNvSpPr>
            <a:spLocks noGrp="1"/>
          </p:cNvSpPr>
          <p:nvPr/>
        </p:nvSpPr>
        <p:spPr>
          <a:xfrm>
            <a:off x="7589520" y="850392"/>
            <a:ext cx="1280160" cy="56692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11"/>
          <p:cNvSpPr txBox="1"/>
          <p:nvPr/>
        </p:nvSpPr>
        <p:spPr>
          <a:xfrm>
            <a:off x="7589520" y="941832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300" b="0" dirty="0">
                <a:solidFill>
                  <a:srgbClr val="4A5568"/>
                </a:solidFill>
                <a:latin typeface="Calibri"/>
              </a:rPr>
              <a:t>Effort: Medium</a:t>
            </a:r>
          </a:p>
        </p:txBody>
      </p:sp>
      <p:sp>
        <p:nvSpPr>
          <p:cNvPr id="12" name="box12"/>
          <p:cNvSpPr>
            <a:spLocks noGrp="1"/>
          </p:cNvSpPr>
          <p:nvPr/>
        </p:nvSpPr>
        <p:spPr>
          <a:xfrm>
            <a:off x="274320" y="1563624"/>
            <a:ext cx="502920" cy="56692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13"/>
          <p:cNvSpPr txBox="1"/>
          <p:nvPr/>
        </p:nvSpPr>
        <p:spPr>
          <a:xfrm>
            <a:off x="274320" y="160934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enter">
              <a:buNone/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822960" y="1563624"/>
            <a:ext cx="54864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15"/>
          <p:cNvSpPr txBox="1"/>
          <p:nvPr/>
        </p:nvSpPr>
        <p:spPr>
          <a:xfrm>
            <a:off x="914400" y="1655064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500" b="0" dirty="0">
                <a:solidFill>
                  <a:srgbClr val="1B3A5C"/>
                </a:solidFill>
                <a:latin typeface="Calibri"/>
              </a:rPr>
              <a:t>Write unique title tags and meta descriptions for all 31 pages</a:t>
            </a:r>
          </a:p>
        </p:txBody>
      </p:sp>
      <p:sp>
        <p:nvSpPr>
          <p:cNvPr id="16" name="box16"/>
          <p:cNvSpPr>
            <a:spLocks noGrp="1"/>
          </p:cNvSpPr>
          <p:nvPr/>
        </p:nvSpPr>
        <p:spPr>
          <a:xfrm>
            <a:off x="6355080" y="1563624"/>
            <a:ext cx="1188720" cy="56692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17"/>
          <p:cNvSpPr txBox="1"/>
          <p:nvPr/>
        </p:nvSpPr>
        <p:spPr>
          <a:xfrm>
            <a:off x="6355080" y="1655064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300" b="1" dirty="0">
                <a:solidFill>
                  <a:srgbClr val="1B3A5C"/>
                </a:solidFill>
                <a:latin typeface="Calibri"/>
              </a:rPr>
              <a:t>High</a:t>
            </a:r>
          </a:p>
        </p:txBody>
      </p:sp>
      <p:sp>
        <p:nvSpPr>
          <p:cNvPr id="18" name="box18"/>
          <p:cNvSpPr>
            <a:spLocks noGrp="1"/>
          </p:cNvSpPr>
          <p:nvPr/>
        </p:nvSpPr>
        <p:spPr>
          <a:xfrm>
            <a:off x="7589520" y="1563624"/>
            <a:ext cx="1280160" cy="56692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19"/>
          <p:cNvSpPr txBox="1"/>
          <p:nvPr/>
        </p:nvSpPr>
        <p:spPr>
          <a:xfrm>
            <a:off x="7589520" y="1655064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300" b="0" dirty="0">
                <a:solidFill>
                  <a:srgbClr val="4A5568"/>
                </a:solidFill>
                <a:latin typeface="Calibri"/>
              </a:rPr>
              <a:t>Effort: Low</a:t>
            </a:r>
          </a:p>
        </p:txBody>
      </p:sp>
      <p:sp>
        <p:nvSpPr>
          <p:cNvPr id="20" name="box20"/>
          <p:cNvSpPr>
            <a:spLocks noGrp="1"/>
          </p:cNvSpPr>
          <p:nvPr/>
        </p:nvSpPr>
        <p:spPr>
          <a:xfrm>
            <a:off x="274320" y="2276856"/>
            <a:ext cx="502920" cy="56692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21"/>
          <p:cNvSpPr txBox="1"/>
          <p:nvPr/>
        </p:nvSpPr>
        <p:spPr>
          <a:xfrm>
            <a:off x="274320" y="232257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enter">
              <a:buNone/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box22"/>
          <p:cNvSpPr>
            <a:spLocks noGrp="1"/>
          </p:cNvSpPr>
          <p:nvPr/>
        </p:nvSpPr>
        <p:spPr>
          <a:xfrm>
            <a:off x="822960" y="2276856"/>
            <a:ext cx="5486400" cy="5669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23"/>
          <p:cNvSpPr txBox="1"/>
          <p:nvPr/>
        </p:nvSpPr>
        <p:spPr>
          <a:xfrm>
            <a:off x="914400" y="2368296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500" b="0" dirty="0">
                <a:solidFill>
                  <a:srgbClr val="1B3A5C"/>
                </a:solidFill>
                <a:latin typeface="Calibri"/>
              </a:rPr>
              <a:t>Fix mobile load time (7.62s - POOR rating)</a:t>
            </a:r>
          </a:p>
        </p:txBody>
      </p:sp>
      <p:sp>
        <p:nvSpPr>
          <p:cNvPr id="24" name="box24"/>
          <p:cNvSpPr>
            <a:spLocks noGrp="1"/>
          </p:cNvSpPr>
          <p:nvPr/>
        </p:nvSpPr>
        <p:spPr>
          <a:xfrm>
            <a:off x="6355080" y="2276856"/>
            <a:ext cx="1188720" cy="56692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25"/>
          <p:cNvSpPr txBox="1"/>
          <p:nvPr/>
        </p:nvSpPr>
        <p:spPr>
          <a:xfrm>
            <a:off x="6355080" y="2368296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300" b="1" dirty="0">
                <a:solidFill>
                  <a:srgbClr val="1B3A5C"/>
                </a:solidFill>
                <a:latin typeface="Calibri"/>
              </a:rPr>
              <a:t>High</a:t>
            </a:r>
          </a:p>
        </p:txBody>
      </p:sp>
      <p:sp>
        <p:nvSpPr>
          <p:cNvPr id="26" name="box26"/>
          <p:cNvSpPr>
            <a:spLocks noGrp="1"/>
          </p:cNvSpPr>
          <p:nvPr/>
        </p:nvSpPr>
        <p:spPr>
          <a:xfrm>
            <a:off x="7589520" y="2276856"/>
            <a:ext cx="1280160" cy="56692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27"/>
          <p:cNvSpPr txBox="1"/>
          <p:nvPr/>
        </p:nvSpPr>
        <p:spPr>
          <a:xfrm>
            <a:off x="7589520" y="2368296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300" b="0" dirty="0">
                <a:solidFill>
                  <a:srgbClr val="4A5568"/>
                </a:solidFill>
                <a:latin typeface="Calibri"/>
              </a:rPr>
              <a:t>Effort: Medium</a:t>
            </a:r>
          </a:p>
        </p:txBody>
      </p:sp>
      <p:sp>
        <p:nvSpPr>
          <p:cNvPr id="28" name="box28"/>
          <p:cNvSpPr>
            <a:spLocks noGrp="1"/>
          </p:cNvSpPr>
          <p:nvPr/>
        </p:nvSpPr>
        <p:spPr>
          <a:xfrm>
            <a:off x="274320" y="2990088"/>
            <a:ext cx="502920" cy="56692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t29"/>
          <p:cNvSpPr txBox="1"/>
          <p:nvPr/>
        </p:nvSpPr>
        <p:spPr>
          <a:xfrm>
            <a:off x="274320" y="303580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enter">
              <a:buNone/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box30"/>
          <p:cNvSpPr>
            <a:spLocks noGrp="1"/>
          </p:cNvSpPr>
          <p:nvPr/>
        </p:nvSpPr>
        <p:spPr>
          <a:xfrm>
            <a:off x="822960" y="2990088"/>
            <a:ext cx="54864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31"/>
          <p:cNvSpPr txBox="1"/>
          <p:nvPr/>
        </p:nvSpPr>
        <p:spPr>
          <a:xfrm>
            <a:off x="914400" y="3081528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500" b="0" dirty="0">
                <a:solidFill>
                  <a:srgbClr val="1B3A5C"/>
                </a:solidFill>
                <a:latin typeface="Calibri"/>
              </a:rPr>
              <a:t>Unblock 3 pages currently blocked from Google indexing</a:t>
            </a:r>
          </a:p>
        </p:txBody>
      </p:sp>
      <p:sp>
        <p:nvSpPr>
          <p:cNvPr id="32" name="box32"/>
          <p:cNvSpPr>
            <a:spLocks noGrp="1"/>
          </p:cNvSpPr>
          <p:nvPr/>
        </p:nvSpPr>
        <p:spPr>
          <a:xfrm>
            <a:off x="6355080" y="2990088"/>
            <a:ext cx="1188720" cy="56692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t33"/>
          <p:cNvSpPr txBox="1"/>
          <p:nvPr/>
        </p:nvSpPr>
        <p:spPr>
          <a:xfrm>
            <a:off x="6355080" y="3081528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300" b="1" dirty="0">
                <a:solidFill>
                  <a:srgbClr val="1B3A5C"/>
                </a:solidFill>
                <a:latin typeface="Calibri"/>
              </a:rPr>
              <a:t>High</a:t>
            </a:r>
          </a:p>
        </p:txBody>
      </p:sp>
      <p:sp>
        <p:nvSpPr>
          <p:cNvPr id="34" name="box34"/>
          <p:cNvSpPr>
            <a:spLocks noGrp="1"/>
          </p:cNvSpPr>
          <p:nvPr/>
        </p:nvSpPr>
        <p:spPr>
          <a:xfrm>
            <a:off x="7589520" y="2990088"/>
            <a:ext cx="1280160" cy="56692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t35"/>
          <p:cNvSpPr txBox="1"/>
          <p:nvPr/>
        </p:nvSpPr>
        <p:spPr>
          <a:xfrm>
            <a:off x="7589520" y="3081528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300" b="0" dirty="0">
                <a:solidFill>
                  <a:srgbClr val="4A5568"/>
                </a:solidFill>
                <a:latin typeface="Calibri"/>
              </a:rPr>
              <a:t>Effort: Low</a:t>
            </a:r>
          </a:p>
        </p:txBody>
      </p:sp>
      <p:sp>
        <p:nvSpPr>
          <p:cNvPr id="36" name="box36"/>
          <p:cNvSpPr>
            <a:spLocks noGrp="1"/>
          </p:cNvSpPr>
          <p:nvPr/>
        </p:nvSpPr>
        <p:spPr>
          <a:xfrm>
            <a:off x="274320" y="3703320"/>
            <a:ext cx="502920" cy="56692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t37"/>
          <p:cNvSpPr txBox="1"/>
          <p:nvPr/>
        </p:nvSpPr>
        <p:spPr>
          <a:xfrm>
            <a:off x="274320" y="37490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enter">
              <a:buNone/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box38"/>
          <p:cNvSpPr>
            <a:spLocks noGrp="1"/>
          </p:cNvSpPr>
          <p:nvPr/>
        </p:nvSpPr>
        <p:spPr>
          <a:xfrm>
            <a:off x="822960" y="3703320"/>
            <a:ext cx="5486400" cy="5669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t39"/>
          <p:cNvSpPr txBox="1"/>
          <p:nvPr/>
        </p:nvSpPr>
        <p:spPr>
          <a:xfrm>
            <a:off x="914400" y="379476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500" b="0" dirty="0">
                <a:solidFill>
                  <a:srgbClr val="1B3A5C"/>
                </a:solidFill>
                <a:latin typeface="Calibri"/>
              </a:rPr>
              <a:t>Set up Google Business Profile and Search Console</a:t>
            </a:r>
          </a:p>
        </p:txBody>
      </p:sp>
      <p:sp>
        <p:nvSpPr>
          <p:cNvPr id="40" name="box40"/>
          <p:cNvSpPr>
            <a:spLocks noGrp="1"/>
          </p:cNvSpPr>
          <p:nvPr/>
        </p:nvSpPr>
        <p:spPr>
          <a:xfrm>
            <a:off x="6355080" y="3703320"/>
            <a:ext cx="1188720" cy="56692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t41"/>
          <p:cNvSpPr txBox="1"/>
          <p:nvPr/>
        </p:nvSpPr>
        <p:spPr>
          <a:xfrm>
            <a:off x="6355080" y="379476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300" b="1" dirty="0">
                <a:solidFill>
                  <a:srgbClr val="1B3A5C"/>
                </a:solidFill>
                <a:latin typeface="Calibri"/>
              </a:rPr>
              <a:t>High</a:t>
            </a:r>
          </a:p>
        </p:txBody>
      </p:sp>
      <p:sp>
        <p:nvSpPr>
          <p:cNvPr id="42" name="box42"/>
          <p:cNvSpPr>
            <a:spLocks noGrp="1"/>
          </p:cNvSpPr>
          <p:nvPr/>
        </p:nvSpPr>
        <p:spPr>
          <a:xfrm>
            <a:off x="7589520" y="3703320"/>
            <a:ext cx="1280160" cy="56692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t43"/>
          <p:cNvSpPr txBox="1"/>
          <p:nvPr/>
        </p:nvSpPr>
        <p:spPr>
          <a:xfrm>
            <a:off x="7589520" y="379476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300" b="0" dirty="0">
                <a:solidFill>
                  <a:srgbClr val="4A5568"/>
                </a:solidFill>
                <a:latin typeface="Calibri"/>
              </a:rPr>
              <a:t>Effort: Low</a:t>
            </a:r>
          </a:p>
        </p:txBody>
      </p:sp>
    </p:spTree>
  </p:cSld>
  <p:clrMapOvr>
    <a:masterClr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2"/>
          <p:cNvSpPr>
            <a:spLocks noGrp="1"/>
          </p:cNvSpPr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3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Quick Wins: Do This Week</a:t>
            </a:r>
          </a:p>
        </p:txBody>
      </p:sp>
      <p:sp>
        <p:nvSpPr>
          <p:cNvPr id="4" name="box4"/>
          <p:cNvSpPr>
            <a:spLocks noGrp="1"/>
          </p:cNvSpPr>
          <p:nvPr/>
        </p:nvSpPr>
        <p:spPr>
          <a:xfrm>
            <a:off x="274320" y="850392"/>
            <a:ext cx="8595360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5"/>
          <p:cNvSpPr txBox="1"/>
          <p:nvPr/>
        </p:nvSpPr>
        <p:spPr>
          <a:xfrm>
            <a:off x="365760" y="88696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500" b="1" dirty="0">
                <a:solidFill>
                  <a:srgbClr val="FFFFFF"/>
                </a:solidFill>
                <a:latin typeface="Calibri"/>
              </a:rPr>
              <a:t>7 actions - all low-effort, high-impact, can be completed in under 1 week</a:t>
            </a:r>
          </a:p>
        </p:txBody>
      </p:sp>
      <p:sp>
        <p:nvSpPr>
          <p:cNvPr id="6" name="box6"/>
          <p:cNvSpPr>
            <a:spLocks noGrp="1"/>
          </p:cNvSpPr>
          <p:nvPr/>
        </p:nvSpPr>
        <p:spPr>
          <a:xfrm>
            <a:off x="274320" y="1325880"/>
            <a:ext cx="384048" cy="4297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7"/>
          <p:cNvSpPr txBox="1"/>
          <p:nvPr/>
        </p:nvSpPr>
        <p:spPr>
          <a:xfrm>
            <a:off x="274320" y="1380744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enter"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box8"/>
          <p:cNvSpPr>
            <a:spLocks noGrp="1"/>
          </p:cNvSpPr>
          <p:nvPr/>
        </p:nvSpPr>
        <p:spPr>
          <a:xfrm>
            <a:off x="694944" y="1325880"/>
            <a:ext cx="8174736" cy="42976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9"/>
          <p:cNvSpPr txBox="1"/>
          <p:nvPr/>
        </p:nvSpPr>
        <p:spPr>
          <a:xfrm>
            <a:off x="822960" y="1362456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400" b="1" dirty="0">
                <a:solidFill>
                  <a:srgbClr val="1B3A5C"/>
                </a:solidFill>
                <a:latin typeface="Calibri"/>
              </a:rPr>
              <a:t>Unblock 3 pages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3429000" y="1362456"/>
            <a:ext cx="534924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300" b="0" dirty="0">
                <a:solidFill>
                  <a:srgbClr val="4A5568"/>
                </a:solidFill>
                <a:latin typeface="Calibri"/>
              </a:rPr>
              <a:t>Check Squarespace page settings - 3 pages are blocked from Google indexing</a:t>
            </a:r>
          </a:p>
        </p:txBody>
      </p:sp>
      <p:sp>
        <p:nvSpPr>
          <p:cNvPr id="11" name="box11"/>
          <p:cNvSpPr>
            <a:spLocks noGrp="1"/>
          </p:cNvSpPr>
          <p:nvPr/>
        </p:nvSpPr>
        <p:spPr>
          <a:xfrm>
            <a:off x="274320" y="1865376"/>
            <a:ext cx="384048" cy="4297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274320" y="1920240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enter"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box13"/>
          <p:cNvSpPr>
            <a:spLocks noGrp="1"/>
          </p:cNvSpPr>
          <p:nvPr/>
        </p:nvSpPr>
        <p:spPr>
          <a:xfrm>
            <a:off x="694944" y="1865376"/>
            <a:ext cx="8174736" cy="4297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14"/>
          <p:cNvSpPr txBox="1"/>
          <p:nvPr/>
        </p:nvSpPr>
        <p:spPr>
          <a:xfrm>
            <a:off x="822960" y="1901952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400" b="1" dirty="0">
                <a:solidFill>
                  <a:srgbClr val="1B3A5C"/>
                </a:solidFill>
                <a:latin typeface="Calibri"/>
              </a:rPr>
              <a:t>Fix the 1 missing title tag</a:t>
            </a:r>
          </a:p>
        </p:txBody>
      </p:sp>
      <p:sp>
        <p:nvSpPr>
          <p:cNvPr id="15" name="t15"/>
          <p:cNvSpPr txBox="1"/>
          <p:nvPr/>
        </p:nvSpPr>
        <p:spPr>
          <a:xfrm>
            <a:off x="3429000" y="1901952"/>
            <a:ext cx="534924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300" b="0" dirty="0">
                <a:solidFill>
                  <a:srgbClr val="4A5568"/>
                </a:solidFill>
                <a:latin typeface="Calibri"/>
              </a:rPr>
              <a:t>Identify in Search Console and add a keyword-rich title immediately</a:t>
            </a:r>
          </a:p>
        </p:txBody>
      </p:sp>
      <p:sp>
        <p:nvSpPr>
          <p:cNvPr id="16" name="box16"/>
          <p:cNvSpPr>
            <a:spLocks noGrp="1"/>
          </p:cNvSpPr>
          <p:nvPr/>
        </p:nvSpPr>
        <p:spPr>
          <a:xfrm>
            <a:off x="274320" y="2404872"/>
            <a:ext cx="384048" cy="4297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17"/>
          <p:cNvSpPr txBox="1"/>
          <p:nvPr/>
        </p:nvSpPr>
        <p:spPr>
          <a:xfrm>
            <a:off x="274320" y="2459736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enter"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box18"/>
          <p:cNvSpPr>
            <a:spLocks noGrp="1"/>
          </p:cNvSpPr>
          <p:nvPr/>
        </p:nvSpPr>
        <p:spPr>
          <a:xfrm>
            <a:off x="694944" y="2404872"/>
            <a:ext cx="8174736" cy="42976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19"/>
          <p:cNvSpPr txBox="1"/>
          <p:nvPr/>
        </p:nvSpPr>
        <p:spPr>
          <a:xfrm>
            <a:off x="822960" y="244144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400" b="1" dirty="0">
                <a:solidFill>
                  <a:srgbClr val="1B3A5C"/>
                </a:solidFill>
                <a:latin typeface="Calibri"/>
              </a:rPr>
              <a:t>Resolve 4 duplicate titles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3429000" y="2441448"/>
            <a:ext cx="534924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300" b="0" dirty="0">
                <a:solidFill>
                  <a:srgbClr val="4A5568"/>
                </a:solidFill>
                <a:latin typeface="Calibri"/>
              </a:rPr>
              <a:t>Each page must have a unique title tag targeting a specific keyword</a:t>
            </a:r>
          </a:p>
        </p:txBody>
      </p:sp>
      <p:sp>
        <p:nvSpPr>
          <p:cNvPr id="21" name="box21"/>
          <p:cNvSpPr>
            <a:spLocks noGrp="1"/>
          </p:cNvSpPr>
          <p:nvPr/>
        </p:nvSpPr>
        <p:spPr>
          <a:xfrm>
            <a:off x="274320" y="2944368"/>
            <a:ext cx="384048" cy="4297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22"/>
          <p:cNvSpPr txBox="1"/>
          <p:nvPr/>
        </p:nvSpPr>
        <p:spPr>
          <a:xfrm>
            <a:off x="274320" y="2999232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enter"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box23"/>
          <p:cNvSpPr>
            <a:spLocks noGrp="1"/>
          </p:cNvSpPr>
          <p:nvPr/>
        </p:nvSpPr>
        <p:spPr>
          <a:xfrm>
            <a:off x="694944" y="2944368"/>
            <a:ext cx="8174736" cy="4297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24"/>
          <p:cNvSpPr txBox="1"/>
          <p:nvPr/>
        </p:nvSpPr>
        <p:spPr>
          <a:xfrm>
            <a:off x="822960" y="2980944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400" b="1" dirty="0">
                <a:solidFill>
                  <a:srgbClr val="1B3A5C"/>
                </a:solidFill>
                <a:latin typeface="Calibri"/>
              </a:rPr>
              <a:t>Fix 3 duplicate meta descriptions</a:t>
            </a:r>
          </a:p>
        </p:txBody>
      </p:sp>
      <p:sp>
        <p:nvSpPr>
          <p:cNvPr id="25" name="t25"/>
          <p:cNvSpPr txBox="1"/>
          <p:nvPr/>
        </p:nvSpPr>
        <p:spPr>
          <a:xfrm>
            <a:off x="3429000" y="2980944"/>
            <a:ext cx="534924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300" b="0" dirty="0">
                <a:solidFill>
                  <a:srgbClr val="4A5568"/>
                </a:solidFill>
                <a:latin typeface="Calibri"/>
              </a:rPr>
              <a:t>Write unique descriptions for all affected pages</a:t>
            </a:r>
          </a:p>
        </p:txBody>
      </p:sp>
      <p:sp>
        <p:nvSpPr>
          <p:cNvPr id="26" name="box26"/>
          <p:cNvSpPr>
            <a:spLocks noGrp="1"/>
          </p:cNvSpPr>
          <p:nvPr/>
        </p:nvSpPr>
        <p:spPr>
          <a:xfrm>
            <a:off x="274320" y="3483864"/>
            <a:ext cx="384048" cy="4297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27"/>
          <p:cNvSpPr txBox="1"/>
          <p:nvPr/>
        </p:nvSpPr>
        <p:spPr>
          <a:xfrm>
            <a:off x="274320" y="3538728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enter"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box28"/>
          <p:cNvSpPr>
            <a:spLocks noGrp="1"/>
          </p:cNvSpPr>
          <p:nvPr/>
        </p:nvSpPr>
        <p:spPr>
          <a:xfrm>
            <a:off x="694944" y="3483864"/>
            <a:ext cx="8174736" cy="42976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t29"/>
          <p:cNvSpPr txBox="1"/>
          <p:nvPr/>
        </p:nvSpPr>
        <p:spPr>
          <a:xfrm>
            <a:off x="822960" y="352044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400" b="1" dirty="0">
                <a:solidFill>
                  <a:srgbClr val="1B3A5C"/>
                </a:solidFill>
                <a:latin typeface="Calibri"/>
              </a:rPr>
              <a:t>Fix 3 broken links</a:t>
            </a:r>
          </a:p>
        </p:txBody>
      </p:sp>
      <p:sp>
        <p:nvSpPr>
          <p:cNvPr id="30" name="t30"/>
          <p:cNvSpPr txBox="1"/>
          <p:nvPr/>
        </p:nvSpPr>
        <p:spPr>
          <a:xfrm>
            <a:off x="3429000" y="3520440"/>
            <a:ext cx="534924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300" b="0" dirty="0">
                <a:solidFill>
                  <a:srgbClr val="4A5568"/>
                </a:solidFill>
                <a:latin typeface="Calibri"/>
              </a:rPr>
              <a:t>Find and remove or redirect all 4XX error pages</a:t>
            </a:r>
          </a:p>
        </p:txBody>
      </p:sp>
      <p:sp>
        <p:nvSpPr>
          <p:cNvPr id="31" name="box31"/>
          <p:cNvSpPr>
            <a:spLocks noGrp="1"/>
          </p:cNvSpPr>
          <p:nvPr/>
        </p:nvSpPr>
        <p:spPr>
          <a:xfrm>
            <a:off x="274320" y="4023360"/>
            <a:ext cx="384048" cy="4297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32"/>
          <p:cNvSpPr txBox="1"/>
          <p:nvPr/>
        </p:nvSpPr>
        <p:spPr>
          <a:xfrm>
            <a:off x="274320" y="4078224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enter"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box33"/>
          <p:cNvSpPr>
            <a:spLocks noGrp="1"/>
          </p:cNvSpPr>
          <p:nvPr/>
        </p:nvSpPr>
        <p:spPr>
          <a:xfrm>
            <a:off x="694944" y="4023360"/>
            <a:ext cx="8174736" cy="4297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34"/>
          <p:cNvSpPr txBox="1"/>
          <p:nvPr/>
        </p:nvSpPr>
        <p:spPr>
          <a:xfrm>
            <a:off x="822960" y="4059936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400" b="1" dirty="0">
                <a:solidFill>
                  <a:srgbClr val="1B3A5C"/>
                </a:solidFill>
                <a:latin typeface="Calibri"/>
              </a:rPr>
              <a:t>Set up Google Search Console</a:t>
            </a:r>
          </a:p>
        </p:txBody>
      </p:sp>
      <p:sp>
        <p:nvSpPr>
          <p:cNvPr id="35" name="t35"/>
          <p:cNvSpPr txBox="1"/>
          <p:nvPr/>
        </p:nvSpPr>
        <p:spPr>
          <a:xfrm>
            <a:off x="3429000" y="4059936"/>
            <a:ext cx="534924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300" b="0" dirty="0">
                <a:solidFill>
                  <a:srgbClr val="4A5568"/>
                </a:solidFill>
                <a:latin typeface="Calibri"/>
              </a:rPr>
              <a:t>Submit sitemap, confirm indexing, check for crawl errors</a:t>
            </a:r>
          </a:p>
        </p:txBody>
      </p:sp>
      <p:sp>
        <p:nvSpPr>
          <p:cNvPr id="36" name="box36"/>
          <p:cNvSpPr>
            <a:spLocks noGrp="1"/>
          </p:cNvSpPr>
          <p:nvPr/>
        </p:nvSpPr>
        <p:spPr>
          <a:xfrm>
            <a:off x="274320" y="4562856"/>
            <a:ext cx="384048" cy="4297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t37"/>
          <p:cNvSpPr txBox="1"/>
          <p:nvPr/>
        </p:nvSpPr>
        <p:spPr>
          <a:xfrm>
            <a:off x="274320" y="4617720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enter"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8" name="box38"/>
          <p:cNvSpPr>
            <a:spLocks noGrp="1"/>
          </p:cNvSpPr>
          <p:nvPr/>
        </p:nvSpPr>
        <p:spPr>
          <a:xfrm>
            <a:off x="694944" y="4562856"/>
            <a:ext cx="8174736" cy="42976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t39"/>
          <p:cNvSpPr txBox="1"/>
          <p:nvPr/>
        </p:nvSpPr>
        <p:spPr>
          <a:xfrm>
            <a:off x="822960" y="4599432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400" b="1" dirty="0">
                <a:solidFill>
                  <a:srgbClr val="1B3A5C"/>
                </a:solidFill>
                <a:latin typeface="Calibri"/>
              </a:rPr>
              <a:t>Claim Google Business Profile</a:t>
            </a:r>
          </a:p>
        </p:txBody>
      </p:sp>
      <p:sp>
        <p:nvSpPr>
          <p:cNvPr id="40" name="t40"/>
          <p:cNvSpPr txBox="1"/>
          <p:nvPr/>
        </p:nvSpPr>
        <p:spPr>
          <a:xfrm>
            <a:off x="3429000" y="4599432"/>
            <a:ext cx="534924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300" b="0" dirty="0">
                <a:solidFill>
                  <a:srgbClr val="4A5568"/>
                </a:solidFill>
                <a:latin typeface="Calibri"/>
              </a:rPr>
              <a:t>Free listing - search Start Again Associates and claim it now</a:t>
            </a:r>
          </a:p>
        </p:txBody>
      </p:sp>
    </p:spTree>
  </p:cSld>
  <p:clrMapOvr>
    <a:masterClr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2"/>
          <p:cNvSpPr>
            <a:spLocks noGrp="1"/>
          </p:cNvSpPr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3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Technical SEO Scorecard</a:t>
            </a:r>
          </a:p>
        </p:txBody>
      </p:sp>
      <p:sp>
        <p:nvSpPr>
          <p:cNvPr id="4" name="box4"/>
          <p:cNvSpPr>
            <a:spLocks noGrp="1"/>
          </p:cNvSpPr>
          <p:nvPr/>
        </p:nvSpPr>
        <p:spPr>
          <a:xfrm>
            <a:off x="274320" y="841248"/>
            <a:ext cx="4160520" cy="384048"/>
          </a:xfrm>
          <a:prstGeom prst="rect">
            <a:avLst/>
          </a:prstGeom>
          <a:solidFill>
            <a:srgbClr val="027A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5"/>
          <p:cNvSpPr txBox="1"/>
          <p:nvPr/>
        </p:nvSpPr>
        <p:spPr>
          <a:xfrm>
            <a:off x="274320" y="877824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700" b="1" dirty="0">
                <a:solidFill>
                  <a:srgbClr val="FFFFFF"/>
                </a:solidFill>
                <a:latin typeface="Calibri"/>
              </a:rPr>
              <a:t>  PASSING</a:t>
            </a:r>
          </a:p>
        </p:txBody>
      </p:sp>
      <p:sp>
        <p:nvSpPr>
          <p:cNvPr id="6" name="box6"/>
          <p:cNvSpPr>
            <a:spLocks noGrp="1"/>
          </p:cNvSpPr>
          <p:nvPr/>
        </p:nvSpPr>
        <p:spPr>
          <a:xfrm>
            <a:off x="4709160" y="841248"/>
            <a:ext cx="4160520" cy="384048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7"/>
          <p:cNvSpPr txBox="1"/>
          <p:nvPr/>
        </p:nvSpPr>
        <p:spPr>
          <a:xfrm>
            <a:off x="4709160" y="877824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700" b="1" dirty="0">
                <a:solidFill>
                  <a:srgbClr val="FFFFFF"/>
                </a:solidFill>
                <a:latin typeface="Calibri"/>
              </a:rPr>
              <a:t>  ISSUES FOUND</a:t>
            </a:r>
          </a:p>
        </p:txBody>
      </p:sp>
      <p:sp>
        <p:nvSpPr>
          <p:cNvPr id="8" name="tl8"/>
          <p:cNvSpPr txBox="1"/>
          <p:nvPr/>
        </p:nvSpPr>
        <p:spPr>
          <a:xfrm>
            <a:off x="457200" y="1325880"/>
            <a:ext cx="3840480" cy="3474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  <a:spcAft>
                <a:spcPts val="200"/>
              </a:spcAft>
            </a:pPr>
            <a:r>
              <a:rPr lang="en-US" sz="1400" b="0" dirty="0">
                <a:solidFill>
                  <a:srgbClr val="027A3A"/>
                </a:solidFill>
                <a:latin typeface="Calibri"/>
              </a:rPr>
              <a:t>  + SSL Certificate - Valid</a:t>
            </a:r>
          </a:p>
          <a:p>
            <a:pPr algn="left">
              <a:buNone/>
              <a:spcAft>
                <a:spcPts val="200"/>
              </a:spcAft>
            </a:pPr>
            <a:r>
              <a:rPr lang="en-US" sz="1400" b="0" dirty="0">
                <a:solidFill>
                  <a:srgbClr val="027A3A"/>
                </a:solidFill>
                <a:latin typeface="Calibri"/>
              </a:rPr>
              <a:t>  + XML Sitemap - Present</a:t>
            </a:r>
          </a:p>
          <a:p>
            <a:pPr algn="left">
              <a:buNone/>
              <a:spcAft>
                <a:spcPts val="200"/>
              </a:spcAft>
            </a:pPr>
            <a:r>
              <a:rPr lang="en-US" sz="1400" b="0" dirty="0">
                <a:solidFill>
                  <a:srgbClr val="027A3A"/>
                </a:solidFill>
                <a:latin typeface="Calibri"/>
              </a:rPr>
              <a:t>  + H1 Tags - All Pages Have One</a:t>
            </a:r>
          </a:p>
          <a:p>
            <a:pPr algn="left">
              <a:buNone/>
              <a:spcAft>
                <a:spcPts val="200"/>
              </a:spcAft>
            </a:pPr>
            <a:r>
              <a:rPr lang="en-US" sz="1400" b="0" dirty="0">
                <a:solidFill>
                  <a:srgbClr val="027A3A"/>
                </a:solidFill>
                <a:latin typeface="Calibri"/>
              </a:rPr>
              <a:t>  + Desktop Speed - 1.37s (Great)</a:t>
            </a:r>
          </a:p>
          <a:p>
            <a:pPr algn="left">
              <a:buNone/>
              <a:spcAft>
                <a:spcPts val="200"/>
              </a:spcAft>
            </a:pPr>
            <a:r>
              <a:rPr lang="en-US" sz="1400" b="0" dirty="0">
                <a:solidFill>
                  <a:srgbClr val="027A3A"/>
                </a:solidFill>
                <a:latin typeface="Calibri"/>
              </a:rPr>
              <a:t>  + Visual Stability (CLS) - 0.00</a:t>
            </a:r>
          </a:p>
          <a:p>
            <a:pPr algn="left">
              <a:buNone/>
              <a:spcAft>
                <a:spcPts val="200"/>
              </a:spcAft>
            </a:pPr>
            <a:r>
              <a:rPr lang="en-US" sz="1400" b="0" dirty="0">
                <a:solidFill>
                  <a:srgbClr val="027A3A"/>
                </a:solidFill>
                <a:latin typeface="Calibri"/>
              </a:rPr>
              <a:t>  + Content Compression - Enabled</a:t>
            </a:r>
          </a:p>
          <a:p>
            <a:pPr algn="left">
              <a:buNone/>
              <a:spcAft>
                <a:spcPts val="200"/>
              </a:spcAft>
            </a:pPr>
            <a:r>
              <a:rPr lang="en-US" sz="1400" b="0" dirty="0">
                <a:solidFill>
                  <a:srgbClr val="027A3A"/>
                </a:solidFill>
                <a:latin typeface="Calibri"/>
              </a:rPr>
              <a:t>  + No Multiple Title Tags Per Page</a:t>
            </a:r>
          </a:p>
        </p:txBody>
      </p:sp>
      <p:sp>
        <p:nvSpPr>
          <p:cNvPr id="9" name="tl9"/>
          <p:cNvSpPr txBox="1"/>
          <p:nvPr/>
        </p:nvSpPr>
        <p:spPr>
          <a:xfrm>
            <a:off x="4846320" y="1325880"/>
            <a:ext cx="3840480" cy="3474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  <a:spcAft>
                <a:spcPts val="200"/>
              </a:spcAft>
            </a:pPr>
            <a:r>
              <a:rPr lang="en-US" sz="1400" b="0" dirty="0">
                <a:solidFill>
                  <a:srgbClr val="CC2200"/>
                </a:solidFill>
                <a:latin typeface="Calibri"/>
              </a:rPr>
              <a:t>  ! Mobile Speed - 7.62s (POOR)</a:t>
            </a:r>
          </a:p>
          <a:p>
            <a:pPr algn="left">
              <a:buNone/>
              <a:spcAft>
                <a:spcPts val="200"/>
              </a:spcAft>
            </a:pPr>
            <a:r>
              <a:rPr lang="en-US" sz="1400" b="0" dirty="0">
                <a:solidFill>
                  <a:srgbClr val="CC2200"/>
                </a:solidFill>
                <a:latin typeface="Calibri"/>
              </a:rPr>
              <a:t>  ! 18 Pages Missing Meta Descriptions</a:t>
            </a:r>
          </a:p>
          <a:p>
            <a:pPr algn="left">
              <a:buNone/>
              <a:spcAft>
                <a:spcPts val="200"/>
              </a:spcAft>
            </a:pPr>
            <a:r>
              <a:rPr lang="en-US" sz="1400" b="0" dirty="0">
                <a:solidFill>
                  <a:srgbClr val="CC2200"/>
                </a:solidFill>
                <a:latin typeface="Calibri"/>
              </a:rPr>
              <a:t>  ! 12 Pages with Thin Content</a:t>
            </a:r>
          </a:p>
          <a:p>
            <a:pPr algn="left">
              <a:buNone/>
              <a:spcAft>
                <a:spcPts val="200"/>
              </a:spcAft>
            </a:pPr>
            <a:r>
              <a:rPr lang="en-US" sz="1400" b="0" dirty="0">
                <a:solidFill>
                  <a:srgbClr val="CC2200"/>
                </a:solidFill>
                <a:latin typeface="Calibri"/>
              </a:rPr>
              <a:t>  ! 3 Pages Blocked from Indexing</a:t>
            </a:r>
          </a:p>
          <a:p>
            <a:pPr algn="left">
              <a:buNone/>
              <a:spcAft>
                <a:spcPts val="200"/>
              </a:spcAft>
            </a:pPr>
            <a:r>
              <a:rPr lang="en-US" sz="1400" b="0" dirty="0">
                <a:solidFill>
                  <a:srgbClr val="CC2200"/>
                </a:solidFill>
                <a:latin typeface="Calibri"/>
              </a:rPr>
              <a:t>  ! 4 Duplicate Title Tags</a:t>
            </a:r>
          </a:p>
          <a:p>
            <a:pPr algn="left">
              <a:buNone/>
              <a:spcAft>
                <a:spcPts val="200"/>
              </a:spcAft>
            </a:pPr>
            <a:r>
              <a:rPr lang="en-US" sz="1400" b="0" dirty="0">
                <a:solidFill>
                  <a:srgbClr val="CC2200"/>
                </a:solidFill>
                <a:latin typeface="Calibri"/>
              </a:rPr>
              <a:t>  ! 3 Broken Links (4XX Errors)</a:t>
            </a:r>
          </a:p>
          <a:p>
            <a:pPr algn="left">
              <a:buNone/>
              <a:spcAft>
                <a:spcPts val="200"/>
              </a:spcAft>
            </a:pPr>
            <a:r>
              <a:rPr lang="en-US" sz="1400" b="0" dirty="0">
                <a:solidFill>
                  <a:srgbClr val="CC2200"/>
                </a:solidFill>
                <a:latin typeface="Calibri"/>
              </a:rPr>
              <a:t>  ! 4 Poorly Formatted URLs</a:t>
            </a:r>
          </a:p>
          <a:p>
            <a:pPr algn="left">
              <a:buNone/>
              <a:spcAft>
                <a:spcPts val="200"/>
              </a:spcAft>
            </a:pPr>
            <a:r>
              <a:rPr lang="en-US" sz="1400" b="0" dirty="0">
                <a:solidFill>
                  <a:srgbClr val="CC2200"/>
                </a:solidFill>
                <a:latin typeface="Calibri"/>
              </a:rPr>
              <a:t>  ! 1 Page with No Title Tag</a:t>
            </a:r>
          </a:p>
        </p:txBody>
      </p:sp>
    </p:spTree>
  </p:cSld>
  <p:clrMapOvr>
    <a:masterClr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2"/>
          <p:cNvSpPr>
            <a:spLocks noGrp="1"/>
          </p:cNvSpPr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3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Mobile Performance: Critical Issue</a:t>
            </a:r>
          </a:p>
        </p:txBody>
      </p:sp>
      <p:sp>
        <p:nvSpPr>
          <p:cNvPr id="4" name="box4"/>
          <p:cNvSpPr>
            <a:spLocks noGrp="1"/>
          </p:cNvSpPr>
          <p:nvPr/>
        </p:nvSpPr>
        <p:spPr>
          <a:xfrm>
            <a:off x="0" y="749808"/>
            <a:ext cx="9144000" cy="438912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x5"/>
          <p:cNvSpPr>
            <a:spLocks noGrp="1"/>
          </p:cNvSpPr>
          <p:nvPr/>
        </p:nvSpPr>
        <p:spPr>
          <a:xfrm>
            <a:off x="457200" y="1097280"/>
            <a:ext cx="2560320" cy="1645920"/>
          </a:xfrm>
          <a:prstGeom prst="rect">
            <a:avLst/>
          </a:prstGeom>
          <a:solidFill>
            <a:srgbClr val="FFE4E1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6"/>
          <p:cNvSpPr txBox="1"/>
          <p:nvPr/>
        </p:nvSpPr>
        <p:spPr>
          <a:xfrm>
            <a:off x="457200" y="1207008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4800" b="1" dirty="0">
                <a:solidFill>
                  <a:srgbClr val="CC2200"/>
                </a:solidFill>
                <a:latin typeface="Calibri"/>
              </a:rPr>
              <a:t>7.62s</a:t>
            </a:r>
          </a:p>
        </p:txBody>
      </p:sp>
      <p:sp>
        <p:nvSpPr>
          <p:cNvPr id="7" name="t7"/>
          <p:cNvSpPr txBox="1"/>
          <p:nvPr/>
        </p:nvSpPr>
        <p:spPr>
          <a:xfrm>
            <a:off x="457200" y="187452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400" b="0" dirty="0">
                <a:solidFill>
                  <a:srgbClr val="4A5568"/>
                </a:solidFill>
                <a:latin typeface="Calibri"/>
              </a:rPr>
              <a:t>Mobile Load Time (POOR)</a:t>
            </a:r>
          </a:p>
        </p:txBody>
      </p:sp>
      <p:sp>
        <p:nvSpPr>
          <p:cNvPr id="8" name="box8"/>
          <p:cNvSpPr>
            <a:spLocks noGrp="1"/>
          </p:cNvSpPr>
          <p:nvPr/>
        </p:nvSpPr>
        <p:spPr>
          <a:xfrm>
            <a:off x="3291840" y="1097280"/>
            <a:ext cx="2560320" cy="1645920"/>
          </a:xfrm>
          <a:prstGeom prst="rect">
            <a:avLst/>
          </a:prstGeom>
          <a:solidFill>
            <a:srgbClr val="EDFBF3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9"/>
          <p:cNvSpPr txBox="1"/>
          <p:nvPr/>
        </p:nvSpPr>
        <p:spPr>
          <a:xfrm>
            <a:off x="3291840" y="1207008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4800" b="1" dirty="0">
                <a:solidFill>
                  <a:srgbClr val="027A3A"/>
                </a:solidFill>
                <a:latin typeface="Calibri"/>
              </a:rPr>
              <a:t>2.5s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3291840" y="187452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400" b="0" dirty="0">
                <a:solidFill>
                  <a:srgbClr val="4A5568"/>
                </a:solidFill>
                <a:latin typeface="Calibri"/>
              </a:rPr>
              <a:t>Google Target (Max)</a:t>
            </a:r>
          </a:p>
        </p:txBody>
      </p:sp>
      <p:sp>
        <p:nvSpPr>
          <p:cNvPr id="11" name="box11"/>
          <p:cNvSpPr>
            <a:spLocks noGrp="1"/>
          </p:cNvSpPr>
          <p:nvPr/>
        </p:nvSpPr>
        <p:spPr>
          <a:xfrm>
            <a:off x="6126480" y="1097280"/>
            <a:ext cx="2560320" cy="1645920"/>
          </a:xfrm>
          <a:prstGeom prst="rect">
            <a:avLst/>
          </a:prstGeom>
          <a:solidFill>
            <a:srgbClr val="FFE4E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6126480" y="1207008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4800" b="1" dirty="0">
                <a:solidFill>
                  <a:srgbClr val="CC2200"/>
                </a:solidFill>
                <a:latin typeface="Calibri"/>
              </a:rPr>
              <a:t>989ms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6126480" y="187452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400" b="0" dirty="0">
                <a:solidFill>
                  <a:srgbClr val="4A5568"/>
                </a:solidFill>
                <a:latin typeface="Calibri"/>
              </a:rPr>
              <a:t>Mobile Interactivity (POOR)</a:t>
            </a:r>
          </a:p>
        </p:txBody>
      </p:sp>
      <p:sp>
        <p:nvSpPr>
          <p:cNvPr id="12" name="box12"/>
          <p:cNvSpPr>
            <a:spLocks noGrp="1"/>
          </p:cNvSpPr>
          <p:nvPr/>
        </p:nvSpPr>
        <p:spPr>
          <a:xfrm>
            <a:off x="457200" y="2880360"/>
            <a:ext cx="8229600" cy="36576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13"/>
          <p:cNvSpPr txBox="1"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700" b="1" dirty="0">
                <a:solidFill>
                  <a:srgbClr val="CC2200"/>
                </a:solidFill>
                <a:latin typeface="Calibri"/>
              </a:rPr>
              <a:t>Why this matters:</a:t>
            </a:r>
          </a:p>
        </p:txBody>
      </p:sp>
      <p:sp>
        <p:nvSpPr>
          <p:cNvPr id="14" name="tl14"/>
          <p:cNvSpPr txBox="1"/>
          <p:nvPr/>
        </p:nvSpPr>
        <p:spPr>
          <a:xfrm>
            <a:off x="457200" y="3429000"/>
            <a:ext cx="8229600" cy="1463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  <a:spcAft>
                <a:spcPts val="150"/>
              </a:spcAft>
            </a:pPr>
            <a:r>
              <a:rPr lang="en-US" sz="1400" b="0" dirty="0">
                <a:solidFill>
                  <a:srgbClr val="374151"/>
                </a:solidFill>
                <a:latin typeface="Calibri"/>
              </a:rPr>
              <a:t>  Google uses mobile-first indexing - a slow mobile site ranks lower even for desktop searchers</a:t>
            </a:r>
          </a:p>
          <a:p>
            <a:pPr algn="left">
              <a:buNone/>
              <a:spcAft>
                <a:spcPts val="150"/>
              </a:spcAft>
            </a:pPr>
            <a:r>
              <a:rPr lang="en-US" sz="1400" b="0" dirty="0">
                <a:solidFill>
                  <a:srgbClr val="374151"/>
                </a:solidFill>
                <a:latin typeface="Calibri"/>
              </a:rPr>
              <a:t>  At 7.62s load time, approximately 53% of mobile visitors abandon before the page loads</a:t>
            </a:r>
          </a:p>
          <a:p>
            <a:pPr algn="left">
              <a:buNone/>
              <a:spcAft>
                <a:spcPts val="150"/>
              </a:spcAft>
            </a:pPr>
            <a:r>
              <a:rPr lang="en-US" sz="1400" b="0" dirty="0">
                <a:solidFill>
                  <a:srgbClr val="374151"/>
                </a:solidFill>
                <a:latin typeface="Calibri"/>
              </a:rPr>
              <a:t>  Fix: Audit Squarespace image sizes, enable lazy loading, review template performance settings</a:t>
            </a:r>
          </a:p>
        </p:txBody>
      </p:sp>
    </p:spTree>
  </p:cSld>
  <p:clrMapOvr>
    <a:masterClr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2"/>
          <p:cNvSpPr>
            <a:spLocks noGrp="1"/>
          </p:cNvSpPr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3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E-E-A-T Strengths and Critical Gaps</a:t>
            </a:r>
          </a:p>
        </p:txBody>
      </p:sp>
      <p:sp>
        <p:nvSpPr>
          <p:cNvPr id="4" name="box4"/>
          <p:cNvSpPr>
            <a:spLocks noGrp="1"/>
          </p:cNvSpPr>
          <p:nvPr/>
        </p:nvSpPr>
        <p:spPr>
          <a:xfrm>
            <a:off x="274320" y="850392"/>
            <a:ext cx="4114800" cy="347472"/>
          </a:xfrm>
          <a:prstGeom prst="rect">
            <a:avLst/>
          </a:prstGeom>
          <a:solidFill>
            <a:srgbClr val="027A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5"/>
          <p:cNvSpPr txBox="1"/>
          <p:nvPr/>
        </p:nvSpPr>
        <p:spPr>
          <a:xfrm>
            <a:off x="365760" y="877824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500" b="1" dirty="0">
                <a:solidFill>
                  <a:srgbClr val="FFFFFF"/>
                </a:solidFill>
                <a:latin typeface="Calibri"/>
              </a:rPr>
              <a:t>What You Have</a:t>
            </a:r>
          </a:p>
        </p:txBody>
      </p:sp>
      <p:sp>
        <p:nvSpPr>
          <p:cNvPr id="6" name="tl6"/>
          <p:cNvSpPr txBox="1"/>
          <p:nvPr/>
        </p:nvSpPr>
        <p:spPr>
          <a:xfrm>
            <a:off x="365760" y="1261872"/>
            <a:ext cx="3931920" cy="20116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  <a:spcAft>
                <a:spcPts val="160"/>
              </a:spcAft>
            </a:pPr>
            <a:r>
              <a:rPr lang="en-US" sz="1400" b="0" dirty="0">
                <a:solidFill>
                  <a:srgbClr val="027A3A"/>
                </a:solidFill>
                <a:latin typeface="Calibri"/>
              </a:rPr>
              <a:t>  Detailed staff bios with credentials</a:t>
            </a:r>
          </a:p>
          <a:p>
            <a:pPr algn="left">
              <a:buNone/>
              <a:spcAft>
                <a:spcPts val="160"/>
              </a:spcAft>
            </a:pPr>
            <a:r>
              <a:rPr lang="en-US" sz="1400" b="0" dirty="0">
                <a:solidFill>
                  <a:srgbClr val="027A3A"/>
                </a:solidFill>
                <a:latin typeface="Calibri"/>
              </a:rPr>
              <a:t>  30-year founder story (powerful!)</a:t>
            </a:r>
          </a:p>
          <a:p>
            <a:pPr algn="left">
              <a:buNone/>
              <a:spcAft>
                <a:spcPts val="160"/>
              </a:spcAft>
            </a:pPr>
            <a:r>
              <a:rPr lang="en-US" sz="1400" b="0" dirty="0">
                <a:solidFill>
                  <a:srgbClr val="027A3A"/>
                </a:solidFill>
                <a:latin typeface="Calibri"/>
              </a:rPr>
              <a:t>  Proprietary MET(T)A Protocol</a:t>
            </a:r>
          </a:p>
          <a:p>
            <a:pPr algn="left">
              <a:buNone/>
              <a:spcAft>
                <a:spcPts val="160"/>
              </a:spcAft>
            </a:pPr>
            <a:r>
              <a:rPr lang="en-US" sz="1400" b="0" dirty="0">
                <a:solidFill>
                  <a:srgbClr val="027A3A"/>
                </a:solidFill>
                <a:latin typeface="Calibri"/>
              </a:rPr>
              <a:t>  EMDR-IA Approved program status</a:t>
            </a:r>
          </a:p>
          <a:p>
            <a:pPr algn="left">
              <a:buNone/>
              <a:spcAft>
                <a:spcPts val="160"/>
              </a:spcAft>
            </a:pPr>
            <a:r>
              <a:rPr lang="en-US" sz="1400" b="0" dirty="0">
                <a:solidFill>
                  <a:srgbClr val="027A3A"/>
                </a:solidFill>
                <a:latin typeface="Calibri"/>
              </a:rPr>
              <a:t>  Dr. Dansiger is a published author</a:t>
            </a:r>
          </a:p>
        </p:txBody>
      </p:sp>
      <p:sp>
        <p:nvSpPr>
          <p:cNvPr id="7" name="box7"/>
          <p:cNvSpPr>
            <a:spLocks noGrp="1"/>
          </p:cNvSpPr>
          <p:nvPr/>
        </p:nvSpPr>
        <p:spPr>
          <a:xfrm>
            <a:off x="4754880" y="850392"/>
            <a:ext cx="4114800" cy="347472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8"/>
          <p:cNvSpPr txBox="1"/>
          <p:nvPr/>
        </p:nvSpPr>
        <p:spPr>
          <a:xfrm>
            <a:off x="4846320" y="877824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500" b="1" dirty="0">
                <a:solidFill>
                  <a:srgbClr val="FFFFFF"/>
                </a:solidFill>
                <a:latin typeface="Calibri"/>
              </a:rPr>
              <a:t>What Is Missing</a:t>
            </a:r>
          </a:p>
        </p:txBody>
      </p:sp>
      <p:sp>
        <p:nvSpPr>
          <p:cNvPr id="9" name="tl9"/>
          <p:cNvSpPr txBox="1"/>
          <p:nvPr/>
        </p:nvSpPr>
        <p:spPr>
          <a:xfrm>
            <a:off x="4846320" y="1261872"/>
            <a:ext cx="3931920" cy="20116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  <a:spcAft>
                <a:spcPts val="160"/>
              </a:spcAft>
            </a:pPr>
            <a:r>
              <a:rPr lang="en-US" sz="1400" b="0" dirty="0">
                <a:solidFill>
                  <a:srgbClr val="CC2200"/>
                </a:solidFill>
                <a:latin typeface="Calibri"/>
              </a:rPr>
              <a:t>  No trainee testimonials anywhere</a:t>
            </a:r>
          </a:p>
          <a:p>
            <a:pPr algn="left">
              <a:buNone/>
              <a:spcAft>
                <a:spcPts val="160"/>
              </a:spcAft>
            </a:pPr>
            <a:r>
              <a:rPr lang="en-US" sz="1400" b="0" dirty="0">
                <a:solidFill>
                  <a:srgbClr val="CC2200"/>
                </a:solidFill>
                <a:latin typeface="Calibri"/>
              </a:rPr>
              <a:t>  License numbers not displayed</a:t>
            </a:r>
          </a:p>
          <a:p>
            <a:pPr algn="left">
              <a:buNone/>
              <a:spcAft>
                <a:spcPts val="160"/>
              </a:spcAft>
            </a:pPr>
            <a:r>
              <a:rPr lang="en-US" sz="1400" b="0" dirty="0">
                <a:solidFill>
                  <a:srgbClr val="CC2200"/>
                </a:solidFill>
                <a:latin typeface="Calibri"/>
              </a:rPr>
              <a:t>  No press / media / books page</a:t>
            </a:r>
          </a:p>
          <a:p>
            <a:pPr algn="left">
              <a:buNone/>
              <a:spcAft>
                <a:spcPts val="160"/>
              </a:spcAft>
            </a:pPr>
            <a:r>
              <a:rPr lang="en-US" sz="1400" b="0" dirty="0">
                <a:solidFill>
                  <a:srgbClr val="CC2200"/>
                </a:solidFill>
                <a:latin typeface="Calibri"/>
              </a:rPr>
              <a:t>  No external validation links</a:t>
            </a:r>
          </a:p>
          <a:p>
            <a:pPr algn="left">
              <a:buNone/>
              <a:spcAft>
                <a:spcPts val="160"/>
              </a:spcAft>
            </a:pPr>
            <a:r>
              <a:rPr lang="en-US" sz="1400" b="0" dirty="0">
                <a:solidFill>
                  <a:srgbClr val="CC2200"/>
                </a:solidFill>
                <a:latin typeface="Calibri"/>
              </a:rPr>
              <a:t>  No blog or educational content</a:t>
            </a:r>
          </a:p>
        </p:txBody>
      </p:sp>
      <p:sp>
        <p:nvSpPr>
          <p:cNvPr id="10" name="box10"/>
          <p:cNvSpPr>
            <a:spLocks noGrp="1"/>
          </p:cNvSpPr>
          <p:nvPr/>
        </p:nvSpPr>
        <p:spPr>
          <a:xfrm>
            <a:off x="274320" y="3364992"/>
            <a:ext cx="8595360" cy="34747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11"/>
          <p:cNvSpPr txBox="1"/>
          <p:nvPr/>
        </p:nvSpPr>
        <p:spPr>
          <a:xfrm>
            <a:off x="365760" y="3401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400" b="1" dirty="0">
                <a:solidFill>
                  <a:srgbClr val="C9A84C"/>
                </a:solidFill>
                <a:latin typeface="Calibri"/>
              </a:rPr>
              <a:t>The MET(T)A Protocol is a zero-competition branded keyword - SAA should own it completely online</a:t>
            </a:r>
          </a:p>
        </p:txBody>
      </p:sp>
      <p:sp>
        <p:nvSpPr>
          <p:cNvPr id="12" name="tl12"/>
          <p:cNvSpPr txBox="1"/>
          <p:nvPr/>
        </p:nvSpPr>
        <p:spPr>
          <a:xfrm>
            <a:off x="365760" y="3794760"/>
            <a:ext cx="8412480" cy="10972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  <a:spcAft>
                <a:spcPts val="180"/>
              </a:spcAft>
            </a:pPr>
            <a:r>
              <a:rPr lang="en-US" sz="1400" b="0" dirty="0">
                <a:solidFill>
                  <a:srgbClr val="374151"/>
                </a:solidFill>
                <a:latin typeface="Calibri"/>
              </a:rPr>
              <a:t>  Google Business Profile not set up - free, high-value, takes 15 minutes to claim</a:t>
            </a:r>
          </a:p>
          <a:p>
            <a:pPr algn="left">
              <a:buNone/>
              <a:spcAft>
                <a:spcPts val="180"/>
              </a:spcAft>
            </a:pPr>
            <a:r>
              <a:rPr lang="en-US" sz="1400" b="0" dirty="0">
                <a:solidFill>
                  <a:srgbClr val="374151"/>
                </a:solidFill>
                <a:latin typeface="Calibri"/>
              </a:rPr>
              <a:t>  No blog or resource articles - competitors with content libraries are capturing all informational searches</a:t>
            </a:r>
          </a:p>
        </p:txBody>
      </p:sp>
    </p:spTree>
  </p:cSld>
  <p:clrMapOvr>
    <a:masterClr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2"/>
          <p:cNvSpPr>
            <a:spLocks noGrp="1"/>
          </p:cNvSpPr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3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Keyword Opportunities</a:t>
            </a:r>
          </a:p>
        </p:txBody>
      </p:sp>
      <p:sp>
        <p:nvSpPr>
          <p:cNvPr id="4" name="t4"/>
          <p:cNvSpPr txBox="1"/>
          <p:nvPr/>
        </p:nvSpPr>
        <p:spPr>
          <a:xfrm>
            <a:off x="320040" y="850392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500" b="0" dirty="0">
                <a:solidFill>
                  <a:srgbClr val="374151"/>
                </a:solidFill>
                <a:latin typeface="Calibri"/>
              </a:rPr>
              <a:t>These are the searches your ideal clients are making right now - none currently rank for SAA.</a:t>
            </a:r>
          </a:p>
        </p:txBody>
      </p:sp>
      <p:sp>
        <p:nvSpPr>
          <p:cNvPr id="5" name="box5"/>
          <p:cNvSpPr>
            <a:spLocks noGrp="1"/>
          </p:cNvSpPr>
          <p:nvPr/>
        </p:nvSpPr>
        <p:spPr>
          <a:xfrm>
            <a:off x="274320" y="1261872"/>
            <a:ext cx="4754880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box6"/>
          <p:cNvSpPr>
            <a:spLocks noGrp="1"/>
          </p:cNvSpPr>
          <p:nvPr/>
        </p:nvSpPr>
        <p:spPr>
          <a:xfrm>
            <a:off x="5074920" y="1261872"/>
            <a:ext cx="1463040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box7"/>
          <p:cNvSpPr>
            <a:spLocks noGrp="1"/>
          </p:cNvSpPr>
          <p:nvPr/>
        </p:nvSpPr>
        <p:spPr>
          <a:xfrm>
            <a:off x="6583680" y="1261872"/>
            <a:ext cx="1143000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box8"/>
          <p:cNvSpPr>
            <a:spLocks noGrp="1"/>
          </p:cNvSpPr>
          <p:nvPr/>
        </p:nvSpPr>
        <p:spPr>
          <a:xfrm>
            <a:off x="7772400" y="1261872"/>
            <a:ext cx="1188720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9"/>
          <p:cNvSpPr txBox="1"/>
          <p:nvPr/>
        </p:nvSpPr>
        <p:spPr>
          <a:xfrm>
            <a:off x="320040" y="1289304"/>
            <a:ext cx="4663440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Keyword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5120640" y="1289304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Intent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6629400" y="1289304"/>
            <a:ext cx="1051560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Difficulty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818120" y="1289304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Priority</a:t>
            </a:r>
          </a:p>
        </p:txBody>
      </p:sp>
      <p:sp>
        <p:nvSpPr>
          <p:cNvPr id="13" name="box13"/>
          <p:cNvSpPr>
            <a:spLocks noGrp="1"/>
          </p:cNvSpPr>
          <p:nvPr/>
        </p:nvSpPr>
        <p:spPr>
          <a:xfrm>
            <a:off x="274320" y="1664208"/>
            <a:ext cx="4754880" cy="39319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5074920" y="1664208"/>
            <a:ext cx="1463040" cy="39319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box15"/>
          <p:cNvSpPr>
            <a:spLocks noGrp="1"/>
          </p:cNvSpPr>
          <p:nvPr/>
        </p:nvSpPr>
        <p:spPr>
          <a:xfrm>
            <a:off x="6583680" y="1664208"/>
            <a:ext cx="1143000" cy="39319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box16"/>
          <p:cNvSpPr>
            <a:spLocks noGrp="1"/>
          </p:cNvSpPr>
          <p:nvPr/>
        </p:nvSpPr>
        <p:spPr>
          <a:xfrm>
            <a:off x="7772400" y="1664208"/>
            <a:ext cx="1188720" cy="39319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17"/>
          <p:cNvSpPr txBox="1"/>
          <p:nvPr/>
        </p:nvSpPr>
        <p:spPr>
          <a:xfrm>
            <a:off x="365760" y="172821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250" b="0" dirty="0">
                <a:solidFill>
                  <a:srgbClr val="1B3A5C"/>
                </a:solidFill>
                <a:latin typeface="Calibri"/>
              </a:rPr>
              <a:t>EMDR training for therapists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5074920" y="1728216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250" b="0" dirty="0">
                <a:solidFill>
                  <a:srgbClr val="374151"/>
                </a:solidFill>
                <a:latin typeface="Calibri"/>
              </a:rPr>
              <a:t>Commercial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6583680" y="1728216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250" b="1" dirty="0">
                <a:solidFill>
                  <a:srgbClr val="C07000"/>
                </a:solidFill>
                <a:latin typeface="Calibri"/>
              </a:rPr>
              <a:t>Medium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7772400" y="1728216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250" b="1" dirty="0">
                <a:solidFill>
                  <a:srgbClr val="1B3A5C"/>
                </a:solidFill>
                <a:latin typeface="Calibri"/>
              </a:rPr>
              <a:t>High</a:t>
            </a:r>
          </a:p>
        </p:txBody>
      </p:sp>
      <p:sp>
        <p:nvSpPr>
          <p:cNvPr id="21" name="box21"/>
          <p:cNvSpPr>
            <a:spLocks noGrp="1"/>
          </p:cNvSpPr>
          <p:nvPr/>
        </p:nvSpPr>
        <p:spPr>
          <a:xfrm>
            <a:off x="274320" y="2057400"/>
            <a:ext cx="4754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box22"/>
          <p:cNvSpPr>
            <a:spLocks noGrp="1"/>
          </p:cNvSpPr>
          <p:nvPr/>
        </p:nvSpPr>
        <p:spPr>
          <a:xfrm>
            <a:off x="5074920" y="2057400"/>
            <a:ext cx="146304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box23"/>
          <p:cNvSpPr>
            <a:spLocks noGrp="1"/>
          </p:cNvSpPr>
          <p:nvPr/>
        </p:nvSpPr>
        <p:spPr>
          <a:xfrm>
            <a:off x="6583680" y="2057400"/>
            <a:ext cx="114300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box24"/>
          <p:cNvSpPr>
            <a:spLocks noGrp="1"/>
          </p:cNvSpPr>
          <p:nvPr/>
        </p:nvSpPr>
        <p:spPr>
          <a:xfrm>
            <a:off x="7772400" y="2057400"/>
            <a:ext cx="11887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25"/>
          <p:cNvSpPr txBox="1"/>
          <p:nvPr/>
        </p:nvSpPr>
        <p:spPr>
          <a:xfrm>
            <a:off x="365760" y="212140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250" b="0" dirty="0">
                <a:solidFill>
                  <a:srgbClr val="1B3A5C"/>
                </a:solidFill>
                <a:latin typeface="Calibri"/>
              </a:rPr>
              <a:t>EMDR certification program</a:t>
            </a:r>
          </a:p>
        </p:txBody>
      </p:sp>
      <p:sp>
        <p:nvSpPr>
          <p:cNvPr id="26" name="t26"/>
          <p:cNvSpPr txBox="1"/>
          <p:nvPr/>
        </p:nvSpPr>
        <p:spPr>
          <a:xfrm>
            <a:off x="5074920" y="212140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250" b="0" dirty="0">
                <a:solidFill>
                  <a:srgbClr val="374151"/>
                </a:solidFill>
                <a:latin typeface="Calibri"/>
              </a:rPr>
              <a:t>Commercial</a:t>
            </a:r>
          </a:p>
        </p:txBody>
      </p:sp>
      <p:sp>
        <p:nvSpPr>
          <p:cNvPr id="27" name="t27"/>
          <p:cNvSpPr txBox="1"/>
          <p:nvPr/>
        </p:nvSpPr>
        <p:spPr>
          <a:xfrm>
            <a:off x="6583680" y="2121408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250" b="1" dirty="0">
                <a:solidFill>
                  <a:srgbClr val="C07000"/>
                </a:solidFill>
                <a:latin typeface="Calibri"/>
              </a:rPr>
              <a:t>Medium</a:t>
            </a:r>
          </a:p>
        </p:txBody>
      </p:sp>
      <p:sp>
        <p:nvSpPr>
          <p:cNvPr id="28" name="t28"/>
          <p:cNvSpPr txBox="1"/>
          <p:nvPr/>
        </p:nvSpPr>
        <p:spPr>
          <a:xfrm>
            <a:off x="7772400" y="212140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250" b="1" dirty="0">
                <a:solidFill>
                  <a:srgbClr val="1B3A5C"/>
                </a:solidFill>
                <a:latin typeface="Calibri"/>
              </a:rPr>
              <a:t>High</a:t>
            </a:r>
          </a:p>
        </p:txBody>
      </p:sp>
      <p:sp>
        <p:nvSpPr>
          <p:cNvPr id="29" name="box29"/>
          <p:cNvSpPr>
            <a:spLocks noGrp="1"/>
          </p:cNvSpPr>
          <p:nvPr/>
        </p:nvSpPr>
        <p:spPr>
          <a:xfrm>
            <a:off x="274320" y="2450592"/>
            <a:ext cx="4754880" cy="39319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box30"/>
          <p:cNvSpPr>
            <a:spLocks noGrp="1"/>
          </p:cNvSpPr>
          <p:nvPr/>
        </p:nvSpPr>
        <p:spPr>
          <a:xfrm>
            <a:off x="5074920" y="2450592"/>
            <a:ext cx="1463040" cy="39319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box31"/>
          <p:cNvSpPr>
            <a:spLocks noGrp="1"/>
          </p:cNvSpPr>
          <p:nvPr/>
        </p:nvSpPr>
        <p:spPr>
          <a:xfrm>
            <a:off x="6583680" y="2450592"/>
            <a:ext cx="1143000" cy="39319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box32"/>
          <p:cNvSpPr>
            <a:spLocks noGrp="1"/>
          </p:cNvSpPr>
          <p:nvPr/>
        </p:nvSpPr>
        <p:spPr>
          <a:xfrm>
            <a:off x="7772400" y="2450592"/>
            <a:ext cx="1188720" cy="39319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t33"/>
          <p:cNvSpPr txBox="1"/>
          <p:nvPr/>
        </p:nvSpPr>
        <p:spPr>
          <a:xfrm>
            <a:off x="365760" y="25146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250" b="0" dirty="0">
                <a:solidFill>
                  <a:srgbClr val="1B3A5C"/>
                </a:solidFill>
                <a:latin typeface="Calibri"/>
              </a:rPr>
              <a:t>EMDR Part 1 training</a:t>
            </a:r>
          </a:p>
        </p:txBody>
      </p:sp>
      <p:sp>
        <p:nvSpPr>
          <p:cNvPr id="34" name="t34"/>
          <p:cNvSpPr txBox="1"/>
          <p:nvPr/>
        </p:nvSpPr>
        <p:spPr>
          <a:xfrm>
            <a:off x="5074920" y="251460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250" b="0" dirty="0">
                <a:solidFill>
                  <a:srgbClr val="374151"/>
                </a:solidFill>
                <a:latin typeface="Calibri"/>
              </a:rPr>
              <a:t>Commercial</a:t>
            </a:r>
          </a:p>
        </p:txBody>
      </p:sp>
      <p:sp>
        <p:nvSpPr>
          <p:cNvPr id="35" name="t35"/>
          <p:cNvSpPr txBox="1"/>
          <p:nvPr/>
        </p:nvSpPr>
        <p:spPr>
          <a:xfrm>
            <a:off x="6583680" y="251460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250" b="1" dirty="0">
                <a:solidFill>
                  <a:srgbClr val="028090"/>
                </a:solidFill>
                <a:latin typeface="Calibri"/>
              </a:rPr>
              <a:t>Low</a:t>
            </a:r>
          </a:p>
        </p:txBody>
      </p:sp>
      <p:sp>
        <p:nvSpPr>
          <p:cNvPr id="36" name="t36"/>
          <p:cNvSpPr txBox="1"/>
          <p:nvPr/>
        </p:nvSpPr>
        <p:spPr>
          <a:xfrm>
            <a:off x="7772400" y="251460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250" b="1" dirty="0">
                <a:solidFill>
                  <a:srgbClr val="1B3A5C"/>
                </a:solidFill>
                <a:latin typeface="Calibri"/>
              </a:rPr>
              <a:t>High</a:t>
            </a:r>
          </a:p>
        </p:txBody>
      </p:sp>
      <p:sp>
        <p:nvSpPr>
          <p:cNvPr id="37" name="box37"/>
          <p:cNvSpPr>
            <a:spLocks noGrp="1"/>
          </p:cNvSpPr>
          <p:nvPr/>
        </p:nvSpPr>
        <p:spPr>
          <a:xfrm>
            <a:off x="274320" y="2843784"/>
            <a:ext cx="4754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box38"/>
          <p:cNvSpPr>
            <a:spLocks noGrp="1"/>
          </p:cNvSpPr>
          <p:nvPr/>
        </p:nvSpPr>
        <p:spPr>
          <a:xfrm>
            <a:off x="5074920" y="2843784"/>
            <a:ext cx="146304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box39"/>
          <p:cNvSpPr>
            <a:spLocks noGrp="1"/>
          </p:cNvSpPr>
          <p:nvPr/>
        </p:nvSpPr>
        <p:spPr>
          <a:xfrm>
            <a:off x="6583680" y="2843784"/>
            <a:ext cx="114300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box40"/>
          <p:cNvSpPr>
            <a:spLocks noGrp="1"/>
          </p:cNvSpPr>
          <p:nvPr/>
        </p:nvSpPr>
        <p:spPr>
          <a:xfrm>
            <a:off x="7772400" y="2843784"/>
            <a:ext cx="11887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t41"/>
          <p:cNvSpPr txBox="1"/>
          <p:nvPr/>
        </p:nvSpPr>
        <p:spPr>
          <a:xfrm>
            <a:off x="365760" y="290779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250" b="0" dirty="0">
                <a:solidFill>
                  <a:srgbClr val="1B3A5C"/>
                </a:solidFill>
                <a:latin typeface="Calibri"/>
              </a:rPr>
              <a:t>EMDR Part 2 training</a:t>
            </a:r>
          </a:p>
        </p:txBody>
      </p:sp>
      <p:sp>
        <p:nvSpPr>
          <p:cNvPr id="42" name="t42"/>
          <p:cNvSpPr txBox="1"/>
          <p:nvPr/>
        </p:nvSpPr>
        <p:spPr>
          <a:xfrm>
            <a:off x="5074920" y="290779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250" b="0" dirty="0">
                <a:solidFill>
                  <a:srgbClr val="374151"/>
                </a:solidFill>
                <a:latin typeface="Calibri"/>
              </a:rPr>
              <a:t>Commercial</a:t>
            </a:r>
          </a:p>
        </p:txBody>
      </p:sp>
      <p:sp>
        <p:nvSpPr>
          <p:cNvPr id="43" name="t43"/>
          <p:cNvSpPr txBox="1"/>
          <p:nvPr/>
        </p:nvSpPr>
        <p:spPr>
          <a:xfrm>
            <a:off x="6583680" y="2907792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250" b="1" dirty="0">
                <a:solidFill>
                  <a:srgbClr val="028090"/>
                </a:solidFill>
                <a:latin typeface="Calibri"/>
              </a:rPr>
              <a:t>Low</a:t>
            </a:r>
          </a:p>
        </p:txBody>
      </p:sp>
      <p:sp>
        <p:nvSpPr>
          <p:cNvPr id="44" name="t44"/>
          <p:cNvSpPr txBox="1"/>
          <p:nvPr/>
        </p:nvSpPr>
        <p:spPr>
          <a:xfrm>
            <a:off x="7772400" y="290779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250" b="1" dirty="0">
                <a:solidFill>
                  <a:srgbClr val="1B3A5C"/>
                </a:solidFill>
                <a:latin typeface="Calibri"/>
              </a:rPr>
              <a:t>High</a:t>
            </a:r>
          </a:p>
        </p:txBody>
      </p:sp>
      <p:sp>
        <p:nvSpPr>
          <p:cNvPr id="45" name="box45"/>
          <p:cNvSpPr>
            <a:spLocks noGrp="1"/>
          </p:cNvSpPr>
          <p:nvPr/>
        </p:nvSpPr>
        <p:spPr>
          <a:xfrm>
            <a:off x="274320" y="3236976"/>
            <a:ext cx="4754880" cy="39319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box46"/>
          <p:cNvSpPr>
            <a:spLocks noGrp="1"/>
          </p:cNvSpPr>
          <p:nvPr/>
        </p:nvSpPr>
        <p:spPr>
          <a:xfrm>
            <a:off x="5074920" y="3236976"/>
            <a:ext cx="1463040" cy="39319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box47"/>
          <p:cNvSpPr>
            <a:spLocks noGrp="1"/>
          </p:cNvSpPr>
          <p:nvPr/>
        </p:nvSpPr>
        <p:spPr>
          <a:xfrm>
            <a:off x="6583680" y="3236976"/>
            <a:ext cx="1143000" cy="39319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box48"/>
          <p:cNvSpPr>
            <a:spLocks noGrp="1"/>
          </p:cNvSpPr>
          <p:nvPr/>
        </p:nvSpPr>
        <p:spPr>
          <a:xfrm>
            <a:off x="7772400" y="3236976"/>
            <a:ext cx="1188720" cy="39319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t49"/>
          <p:cNvSpPr txBox="1"/>
          <p:nvPr/>
        </p:nvSpPr>
        <p:spPr>
          <a:xfrm>
            <a:off x="365760" y="330098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250" b="0" dirty="0">
                <a:solidFill>
                  <a:srgbClr val="1B3A5C"/>
                </a:solidFill>
                <a:latin typeface="Calibri"/>
              </a:rPr>
              <a:t>MET(T)A Protocol training</a:t>
            </a:r>
          </a:p>
        </p:txBody>
      </p:sp>
      <p:sp>
        <p:nvSpPr>
          <p:cNvPr id="50" name="t50"/>
          <p:cNvSpPr txBox="1"/>
          <p:nvPr/>
        </p:nvSpPr>
        <p:spPr>
          <a:xfrm>
            <a:off x="5074920" y="330098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250" b="0" dirty="0">
                <a:solidFill>
                  <a:srgbClr val="374151"/>
                </a:solidFill>
                <a:latin typeface="Calibri"/>
              </a:rPr>
              <a:t>Branded</a:t>
            </a:r>
          </a:p>
        </p:txBody>
      </p:sp>
      <p:sp>
        <p:nvSpPr>
          <p:cNvPr id="51" name="t51"/>
          <p:cNvSpPr txBox="1"/>
          <p:nvPr/>
        </p:nvSpPr>
        <p:spPr>
          <a:xfrm>
            <a:off x="6583680" y="3300984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250" b="1" dirty="0">
                <a:solidFill>
                  <a:srgbClr val="027A3A"/>
                </a:solidFill>
                <a:latin typeface="Calibri"/>
              </a:rPr>
              <a:t>Very Low</a:t>
            </a:r>
          </a:p>
        </p:txBody>
      </p:sp>
      <p:sp>
        <p:nvSpPr>
          <p:cNvPr id="52" name="t52"/>
          <p:cNvSpPr txBox="1"/>
          <p:nvPr/>
        </p:nvSpPr>
        <p:spPr>
          <a:xfrm>
            <a:off x="7772400" y="330098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250" b="1" dirty="0">
                <a:solidFill>
                  <a:srgbClr val="CC2200"/>
                </a:solidFill>
                <a:latin typeface="Calibri"/>
              </a:rPr>
              <a:t>Urgent</a:t>
            </a:r>
          </a:p>
        </p:txBody>
      </p:sp>
      <p:sp>
        <p:nvSpPr>
          <p:cNvPr id="53" name="box53"/>
          <p:cNvSpPr>
            <a:spLocks noGrp="1"/>
          </p:cNvSpPr>
          <p:nvPr/>
        </p:nvSpPr>
        <p:spPr>
          <a:xfrm>
            <a:off x="274320" y="3630168"/>
            <a:ext cx="4754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box54"/>
          <p:cNvSpPr>
            <a:spLocks noGrp="1"/>
          </p:cNvSpPr>
          <p:nvPr/>
        </p:nvSpPr>
        <p:spPr>
          <a:xfrm>
            <a:off x="5074920" y="3630168"/>
            <a:ext cx="146304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box55"/>
          <p:cNvSpPr>
            <a:spLocks noGrp="1"/>
          </p:cNvSpPr>
          <p:nvPr/>
        </p:nvSpPr>
        <p:spPr>
          <a:xfrm>
            <a:off x="6583680" y="3630168"/>
            <a:ext cx="114300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box56"/>
          <p:cNvSpPr>
            <a:spLocks noGrp="1"/>
          </p:cNvSpPr>
          <p:nvPr/>
        </p:nvSpPr>
        <p:spPr>
          <a:xfrm>
            <a:off x="7772400" y="3630168"/>
            <a:ext cx="11887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t57"/>
          <p:cNvSpPr txBox="1"/>
          <p:nvPr/>
        </p:nvSpPr>
        <p:spPr>
          <a:xfrm>
            <a:off x="365760" y="369417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250" b="0" dirty="0">
                <a:solidFill>
                  <a:srgbClr val="1B3A5C"/>
                </a:solidFill>
                <a:latin typeface="Calibri"/>
              </a:rPr>
              <a:t>EMDR for addiction treatment</a:t>
            </a:r>
          </a:p>
        </p:txBody>
      </p:sp>
      <p:sp>
        <p:nvSpPr>
          <p:cNvPr id="58" name="t58"/>
          <p:cNvSpPr txBox="1"/>
          <p:nvPr/>
        </p:nvSpPr>
        <p:spPr>
          <a:xfrm>
            <a:off x="5074920" y="3694176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250" b="0" dirty="0">
                <a:solidFill>
                  <a:srgbClr val="374151"/>
                </a:solidFill>
                <a:latin typeface="Calibri"/>
              </a:rPr>
              <a:t>Informational</a:t>
            </a:r>
          </a:p>
        </p:txBody>
      </p:sp>
      <p:sp>
        <p:nvSpPr>
          <p:cNvPr id="59" name="t59"/>
          <p:cNvSpPr txBox="1"/>
          <p:nvPr/>
        </p:nvSpPr>
        <p:spPr>
          <a:xfrm>
            <a:off x="6583680" y="3694176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250" b="1" dirty="0">
                <a:solidFill>
                  <a:srgbClr val="028090"/>
                </a:solidFill>
                <a:latin typeface="Calibri"/>
              </a:rPr>
              <a:t>Low</a:t>
            </a:r>
          </a:p>
        </p:txBody>
      </p:sp>
      <p:sp>
        <p:nvSpPr>
          <p:cNvPr id="60" name="t60"/>
          <p:cNvSpPr txBox="1"/>
          <p:nvPr/>
        </p:nvSpPr>
        <p:spPr>
          <a:xfrm>
            <a:off x="7772400" y="3694176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250" b="1" dirty="0">
                <a:solidFill>
                  <a:srgbClr val="4A5568"/>
                </a:solidFill>
                <a:latin typeface="Calibri"/>
              </a:rPr>
              <a:t>Medium</a:t>
            </a:r>
          </a:p>
        </p:txBody>
      </p:sp>
      <p:sp>
        <p:nvSpPr>
          <p:cNvPr id="61" name="box61"/>
          <p:cNvSpPr>
            <a:spLocks noGrp="1"/>
          </p:cNvSpPr>
          <p:nvPr/>
        </p:nvSpPr>
        <p:spPr>
          <a:xfrm>
            <a:off x="274320" y="4023360"/>
            <a:ext cx="4754880" cy="39319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box62"/>
          <p:cNvSpPr>
            <a:spLocks noGrp="1"/>
          </p:cNvSpPr>
          <p:nvPr/>
        </p:nvSpPr>
        <p:spPr>
          <a:xfrm>
            <a:off x="5074920" y="4023360"/>
            <a:ext cx="1463040" cy="39319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box63"/>
          <p:cNvSpPr>
            <a:spLocks noGrp="1"/>
          </p:cNvSpPr>
          <p:nvPr/>
        </p:nvSpPr>
        <p:spPr>
          <a:xfrm>
            <a:off x="6583680" y="4023360"/>
            <a:ext cx="1143000" cy="39319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box64"/>
          <p:cNvSpPr>
            <a:spLocks noGrp="1"/>
          </p:cNvSpPr>
          <p:nvPr/>
        </p:nvSpPr>
        <p:spPr>
          <a:xfrm>
            <a:off x="7772400" y="4023360"/>
            <a:ext cx="1188720" cy="39319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t65"/>
          <p:cNvSpPr txBox="1"/>
          <p:nvPr/>
        </p:nvSpPr>
        <p:spPr>
          <a:xfrm>
            <a:off x="365760" y="408736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250" b="0" dirty="0">
                <a:solidFill>
                  <a:srgbClr val="1B3A5C"/>
                </a:solidFill>
                <a:latin typeface="Calibri"/>
              </a:rPr>
              <a:t>trauma-focused therapy training</a:t>
            </a:r>
          </a:p>
        </p:txBody>
      </p:sp>
      <p:sp>
        <p:nvSpPr>
          <p:cNvPr id="66" name="t66"/>
          <p:cNvSpPr txBox="1"/>
          <p:nvPr/>
        </p:nvSpPr>
        <p:spPr>
          <a:xfrm>
            <a:off x="5074920" y="408736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250" b="0" dirty="0">
                <a:solidFill>
                  <a:srgbClr val="374151"/>
                </a:solidFill>
                <a:latin typeface="Calibri"/>
              </a:rPr>
              <a:t>Commercial</a:t>
            </a:r>
          </a:p>
        </p:txBody>
      </p:sp>
      <p:sp>
        <p:nvSpPr>
          <p:cNvPr id="67" name="t67"/>
          <p:cNvSpPr txBox="1"/>
          <p:nvPr/>
        </p:nvSpPr>
        <p:spPr>
          <a:xfrm>
            <a:off x="6583680" y="4087368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250" b="1" dirty="0">
                <a:solidFill>
                  <a:srgbClr val="C07000"/>
                </a:solidFill>
                <a:latin typeface="Calibri"/>
              </a:rPr>
              <a:t>Medium</a:t>
            </a:r>
          </a:p>
        </p:txBody>
      </p:sp>
      <p:sp>
        <p:nvSpPr>
          <p:cNvPr id="68" name="t68"/>
          <p:cNvSpPr txBox="1"/>
          <p:nvPr/>
        </p:nvSpPr>
        <p:spPr>
          <a:xfrm>
            <a:off x="7772400" y="408736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250" b="1" dirty="0">
                <a:solidFill>
                  <a:srgbClr val="1B3A5C"/>
                </a:solidFill>
                <a:latin typeface="Calibri"/>
              </a:rPr>
              <a:t>High</a:t>
            </a:r>
          </a:p>
        </p:txBody>
      </p:sp>
      <p:sp>
        <p:nvSpPr>
          <p:cNvPr id="69" name="box69"/>
          <p:cNvSpPr>
            <a:spLocks noGrp="1"/>
          </p:cNvSpPr>
          <p:nvPr/>
        </p:nvSpPr>
        <p:spPr>
          <a:xfrm>
            <a:off x="274320" y="4416552"/>
            <a:ext cx="4754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box70"/>
          <p:cNvSpPr>
            <a:spLocks noGrp="1"/>
          </p:cNvSpPr>
          <p:nvPr/>
        </p:nvSpPr>
        <p:spPr>
          <a:xfrm>
            <a:off x="5074920" y="4416552"/>
            <a:ext cx="146304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box71"/>
          <p:cNvSpPr>
            <a:spLocks noGrp="1"/>
          </p:cNvSpPr>
          <p:nvPr/>
        </p:nvSpPr>
        <p:spPr>
          <a:xfrm>
            <a:off x="6583680" y="4416552"/>
            <a:ext cx="114300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box72"/>
          <p:cNvSpPr>
            <a:spLocks noGrp="1"/>
          </p:cNvSpPr>
          <p:nvPr/>
        </p:nvSpPr>
        <p:spPr>
          <a:xfrm>
            <a:off x="7772400" y="4416552"/>
            <a:ext cx="11887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3" name="t73"/>
          <p:cNvSpPr txBox="1"/>
          <p:nvPr/>
        </p:nvSpPr>
        <p:spPr>
          <a:xfrm>
            <a:off x="365760" y="44805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250" b="0" dirty="0">
                <a:solidFill>
                  <a:srgbClr val="1B3A5C"/>
                </a:solidFill>
                <a:latin typeface="Calibri"/>
              </a:rPr>
              <a:t>EMDR consultation hours</a:t>
            </a:r>
          </a:p>
        </p:txBody>
      </p:sp>
      <p:sp>
        <p:nvSpPr>
          <p:cNvPr id="74" name="t74"/>
          <p:cNvSpPr txBox="1"/>
          <p:nvPr/>
        </p:nvSpPr>
        <p:spPr>
          <a:xfrm>
            <a:off x="5074920" y="44805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250" b="0" dirty="0">
                <a:solidFill>
                  <a:srgbClr val="374151"/>
                </a:solidFill>
                <a:latin typeface="Calibri"/>
              </a:rPr>
              <a:t>Commercial</a:t>
            </a:r>
          </a:p>
        </p:txBody>
      </p:sp>
      <p:sp>
        <p:nvSpPr>
          <p:cNvPr id="75" name="t75"/>
          <p:cNvSpPr txBox="1"/>
          <p:nvPr/>
        </p:nvSpPr>
        <p:spPr>
          <a:xfrm>
            <a:off x="6583680" y="448056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250" b="1" dirty="0">
                <a:solidFill>
                  <a:srgbClr val="028090"/>
                </a:solidFill>
                <a:latin typeface="Calibri"/>
              </a:rPr>
              <a:t>Low</a:t>
            </a:r>
          </a:p>
        </p:txBody>
      </p:sp>
      <p:sp>
        <p:nvSpPr>
          <p:cNvPr id="76" name="t76"/>
          <p:cNvSpPr txBox="1"/>
          <p:nvPr/>
        </p:nvSpPr>
        <p:spPr>
          <a:xfrm>
            <a:off x="7772400" y="448056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250" b="1" dirty="0">
                <a:solidFill>
                  <a:srgbClr val="4A5568"/>
                </a:solidFill>
                <a:latin typeface="Calibri"/>
              </a:rPr>
              <a:t>Medium</a:t>
            </a:r>
          </a:p>
        </p:txBody>
      </p:sp>
    </p:spTree>
  </p:cSld>
  <p:clrMapOvr>
    <a:masterClr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2"/>
          <p:cNvSpPr>
            <a:spLocks noGrp="1"/>
          </p:cNvSpPr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3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90-Day Action Plan</a:t>
            </a:r>
          </a:p>
        </p:txBody>
      </p:sp>
      <p:sp>
        <p:nvSpPr>
          <p:cNvPr id="4" name="box4"/>
          <p:cNvSpPr>
            <a:spLocks noGrp="1"/>
          </p:cNvSpPr>
          <p:nvPr/>
        </p:nvSpPr>
        <p:spPr>
          <a:xfrm>
            <a:off x="274320" y="841248"/>
            <a:ext cx="2057400" cy="34747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5"/>
          <p:cNvSpPr txBox="1"/>
          <p:nvPr/>
        </p:nvSpPr>
        <p:spPr>
          <a:xfrm>
            <a:off x="274320" y="841248"/>
            <a:ext cx="205740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ente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WEEK 1</a:t>
            </a:r>
          </a:p>
        </p:txBody>
      </p:sp>
      <p:sp>
        <p:nvSpPr>
          <p:cNvPr id="6" name="box6"/>
          <p:cNvSpPr>
            <a:spLocks noGrp="1"/>
          </p:cNvSpPr>
          <p:nvPr/>
        </p:nvSpPr>
        <p:spPr>
          <a:xfrm>
            <a:off x="274320" y="1188720"/>
            <a:ext cx="2057400" cy="340156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7"/>
          <p:cNvSpPr txBox="1"/>
          <p:nvPr/>
        </p:nvSpPr>
        <p:spPr>
          <a:xfrm>
            <a:off x="365760" y="1225296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500" b="1" dirty="0">
                <a:solidFill>
                  <a:srgbClr val="1B3A5C"/>
                </a:solidFill>
                <a:latin typeface="Calibri"/>
              </a:rPr>
              <a:t>Quick Wins</a:t>
            </a:r>
          </a:p>
        </p:txBody>
      </p:sp>
      <p:sp>
        <p:nvSpPr>
          <p:cNvPr id="8" name="tl8"/>
          <p:cNvSpPr txBox="1"/>
          <p:nvPr/>
        </p:nvSpPr>
        <p:spPr>
          <a:xfrm>
            <a:off x="365760" y="1618488"/>
            <a:ext cx="1874520" cy="2880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100" b="0" dirty="0">
                <a:solidFill>
                  <a:srgbClr val="374151"/>
                </a:solidFill>
                <a:latin typeface="Calibri"/>
              </a:rPr>
              <a:t>  - Unblock 3 indexed pages</a:t>
            </a:r>
          </a:p>
          <a:p>
            <a:pPr algn="left">
              <a:buNone/>
            </a:pPr>
            <a:r>
              <a:rPr lang="en-US" sz="1100" b="0" dirty="0">
                <a:solidFill>
                  <a:srgbClr val="374151"/>
                </a:solidFill>
                <a:latin typeface="Calibri"/>
              </a:rPr>
              <a:t>  - Set up Search Console</a:t>
            </a:r>
          </a:p>
          <a:p>
            <a:pPr algn="left">
              <a:buNone/>
            </a:pPr>
            <a:r>
              <a:rPr lang="en-US" sz="1100" b="0" dirty="0">
                <a:solidFill>
                  <a:srgbClr val="374151"/>
                </a:solidFill>
                <a:latin typeface="Calibri"/>
              </a:rPr>
              <a:t>  - Claim Google Business Profile</a:t>
            </a:r>
          </a:p>
          <a:p>
            <a:pPr algn="left">
              <a:buNone/>
            </a:pPr>
            <a:r>
              <a:rPr lang="en-US" sz="1100" b="0" dirty="0">
                <a:solidFill>
                  <a:srgbClr val="374151"/>
                </a:solidFill>
                <a:latin typeface="Calibri"/>
              </a:rPr>
              <a:t>  - Fix missing + duplicate titles</a:t>
            </a:r>
          </a:p>
        </p:txBody>
      </p:sp>
      <p:sp>
        <p:nvSpPr>
          <p:cNvPr id="9" name="box9"/>
          <p:cNvSpPr>
            <a:spLocks noGrp="1"/>
          </p:cNvSpPr>
          <p:nvPr/>
        </p:nvSpPr>
        <p:spPr>
          <a:xfrm>
            <a:off x="2496312" y="841248"/>
            <a:ext cx="2057400" cy="34747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10"/>
          <p:cNvSpPr txBox="1"/>
          <p:nvPr/>
        </p:nvSpPr>
        <p:spPr>
          <a:xfrm>
            <a:off x="2496312" y="841248"/>
            <a:ext cx="205740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ente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WEEKS 2-3</a:t>
            </a:r>
          </a:p>
        </p:txBody>
      </p:sp>
      <p:sp>
        <p:nvSpPr>
          <p:cNvPr id="11" name="box11"/>
          <p:cNvSpPr>
            <a:spLocks noGrp="1"/>
          </p:cNvSpPr>
          <p:nvPr/>
        </p:nvSpPr>
        <p:spPr>
          <a:xfrm>
            <a:off x="2496312" y="1188720"/>
            <a:ext cx="2057400" cy="3401568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2587752" y="1225296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500" b="1" dirty="0">
                <a:solidFill>
                  <a:srgbClr val="1B3A5C"/>
                </a:solidFill>
                <a:latin typeface="Calibri"/>
              </a:rPr>
              <a:t>Homepage + Meta</a:t>
            </a:r>
          </a:p>
        </p:txBody>
      </p:sp>
      <p:sp>
        <p:nvSpPr>
          <p:cNvPr id="13" name="tl13"/>
          <p:cNvSpPr txBox="1"/>
          <p:nvPr/>
        </p:nvSpPr>
        <p:spPr>
          <a:xfrm>
            <a:off x="2587752" y="1618488"/>
            <a:ext cx="1874520" cy="2880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100" b="0" dirty="0">
                <a:solidFill>
                  <a:srgbClr val="374151"/>
                </a:solidFill>
                <a:latin typeface="Calibri"/>
              </a:rPr>
              <a:t>  - Write + publish homepage</a:t>
            </a:r>
          </a:p>
          <a:p>
            <a:pPr algn="left">
              <a:buNone/>
            </a:pPr>
            <a:r>
              <a:rPr lang="en-US" sz="1100" b="0" dirty="0">
                <a:solidFill>
                  <a:srgbClr val="374151"/>
                </a:solidFill>
                <a:latin typeface="Calibri"/>
              </a:rPr>
              <a:t>  - Add 18 missing meta descs</a:t>
            </a:r>
          </a:p>
          <a:p>
            <a:pPr algn="left">
              <a:buNone/>
            </a:pPr>
            <a:r>
              <a:rPr lang="en-US" sz="1100" b="0" dirty="0">
                <a:solidFill>
                  <a:srgbClr val="374151"/>
                </a:solidFill>
                <a:latin typeface="Calibri"/>
              </a:rPr>
              <a:t>  - Fix short/long title tags</a:t>
            </a:r>
          </a:p>
          <a:p>
            <a:pPr algn="left">
              <a:buNone/>
            </a:pPr>
            <a:r>
              <a:rPr lang="en-US" sz="1100" b="0" dirty="0">
                <a:solidFill>
                  <a:srgbClr val="374151"/>
                </a:solidFill>
                <a:latin typeface="Calibri"/>
              </a:rPr>
              <a:t>  - Fix 4 URL issues</a:t>
            </a:r>
          </a:p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4718304" y="841248"/>
            <a:ext cx="2057400" cy="34747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15"/>
          <p:cNvSpPr txBox="1"/>
          <p:nvPr/>
        </p:nvSpPr>
        <p:spPr>
          <a:xfrm>
            <a:off x="4718304" y="841248"/>
            <a:ext cx="205740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ente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WEEKS 4-6</a:t>
            </a:r>
          </a:p>
        </p:txBody>
      </p:sp>
      <p:sp>
        <p:nvSpPr>
          <p:cNvPr id="16" name="box16"/>
          <p:cNvSpPr>
            <a:spLocks noGrp="1"/>
          </p:cNvSpPr>
          <p:nvPr/>
        </p:nvSpPr>
        <p:spPr>
          <a:xfrm>
            <a:off x="4718304" y="1188720"/>
            <a:ext cx="2057400" cy="3401568"/>
          </a:xfrm>
          <a:prstGeom prst="rect">
            <a:avLst/>
          </a:prstGeom>
          <a:solidFill>
            <a:srgbClr val="EEF7EE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17"/>
          <p:cNvSpPr txBox="1"/>
          <p:nvPr/>
        </p:nvSpPr>
        <p:spPr>
          <a:xfrm>
            <a:off x="4809744" y="1225296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500" b="1" dirty="0">
                <a:solidFill>
                  <a:srgbClr val="1B3A5C"/>
                </a:solidFill>
                <a:latin typeface="Calibri"/>
              </a:rPr>
              <a:t>Content + Schema</a:t>
            </a:r>
          </a:p>
        </p:txBody>
      </p:sp>
      <p:sp>
        <p:nvSpPr>
          <p:cNvPr id="18" name="tl18"/>
          <p:cNvSpPr txBox="1"/>
          <p:nvPr/>
        </p:nvSpPr>
        <p:spPr>
          <a:xfrm>
            <a:off x="4809744" y="1618488"/>
            <a:ext cx="1874520" cy="2880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100" b="0" dirty="0">
                <a:solidFill>
                  <a:srgbClr val="374151"/>
                </a:solidFill>
                <a:latin typeface="Calibri"/>
              </a:rPr>
              <a:t>  - Expand 12 thin pages</a:t>
            </a:r>
          </a:p>
          <a:p>
            <a:pPr algn="left">
              <a:buNone/>
            </a:pPr>
            <a:r>
              <a:rPr lang="en-US" sz="1100" b="0" dirty="0">
                <a:solidFill>
                  <a:srgbClr val="374151"/>
                </a:solidFill>
                <a:latin typeface="Calibri"/>
              </a:rPr>
              <a:t>  - Add Organization schema</a:t>
            </a:r>
          </a:p>
          <a:p>
            <a:pPr algn="left">
              <a:buNone/>
            </a:pPr>
            <a:r>
              <a:rPr lang="en-US" sz="1100" b="0" dirty="0">
                <a:solidFill>
                  <a:srgbClr val="374151"/>
                </a:solidFill>
                <a:latin typeface="Calibri"/>
              </a:rPr>
              <a:t>  - Add Course schema</a:t>
            </a:r>
          </a:p>
          <a:p>
            <a:pPr algn="left">
              <a:buNone/>
            </a:pPr>
            <a:r>
              <a:rPr lang="en-US" sz="1100" b="0" dirty="0">
                <a:solidFill>
                  <a:srgbClr val="374151"/>
                </a:solidFill>
                <a:latin typeface="Calibri"/>
              </a:rPr>
              <a:t>  - Fix mobile load time</a:t>
            </a:r>
          </a:p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6940296" y="841248"/>
            <a:ext cx="2057400" cy="34747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20"/>
          <p:cNvSpPr txBox="1"/>
          <p:nvPr/>
        </p:nvSpPr>
        <p:spPr>
          <a:xfrm>
            <a:off x="6940296" y="841248"/>
            <a:ext cx="205740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ente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WEEKS 6-8</a:t>
            </a:r>
          </a:p>
        </p:txBody>
      </p:sp>
      <p:sp>
        <p:nvSpPr>
          <p:cNvPr id="21" name="box21"/>
          <p:cNvSpPr>
            <a:spLocks noGrp="1"/>
          </p:cNvSpPr>
          <p:nvPr/>
        </p:nvSpPr>
        <p:spPr>
          <a:xfrm>
            <a:off x="6940296" y="1188720"/>
            <a:ext cx="2057400" cy="3401568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22"/>
          <p:cNvSpPr txBox="1"/>
          <p:nvPr/>
        </p:nvSpPr>
        <p:spPr>
          <a:xfrm>
            <a:off x="7031736" y="1225296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500" b="1" dirty="0">
                <a:solidFill>
                  <a:srgbClr val="1B3A5C"/>
                </a:solidFill>
                <a:latin typeface="Calibri"/>
              </a:rPr>
              <a:t>Strategic Growth</a:t>
            </a:r>
          </a:p>
        </p:txBody>
      </p:sp>
      <p:sp>
        <p:nvSpPr>
          <p:cNvPr id="23" name="tl23"/>
          <p:cNvSpPr txBox="1"/>
          <p:nvPr/>
        </p:nvSpPr>
        <p:spPr>
          <a:xfrm>
            <a:off x="7031736" y="1618488"/>
            <a:ext cx="1874520" cy="2880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100" b="0" dirty="0">
                <a:solidFill>
                  <a:srgbClr val="374151"/>
                </a:solidFill>
                <a:latin typeface="Calibri"/>
              </a:rPr>
              <a:t>  - EMDR Part I/II pages</a:t>
            </a:r>
          </a:p>
          <a:p>
            <a:pPr algn="left">
              <a:buNone/>
            </a:pPr>
            <a:r>
              <a:rPr lang="en-US" sz="1100" b="0" dirty="0">
                <a:solidFill>
                  <a:srgbClr val="374151"/>
                </a:solidFill>
                <a:latin typeface="Calibri"/>
              </a:rPr>
              <a:t>  - MET(T)A Protocol page</a:t>
            </a:r>
          </a:p>
          <a:p>
            <a:pPr algn="left">
              <a:buNone/>
            </a:pPr>
            <a:r>
              <a:rPr lang="en-US" sz="1100" b="0" dirty="0">
                <a:solidFill>
                  <a:srgbClr val="374151"/>
                </a:solidFill>
                <a:latin typeface="Calibri"/>
              </a:rPr>
              <a:t>  - Treatment Centers page</a:t>
            </a:r>
          </a:p>
          <a:p>
            <a:pPr algn="left">
              <a:buNone/>
            </a:pPr>
            <a:r>
              <a:rPr lang="en-US" sz="1100" b="0" dirty="0">
                <a:solidFill>
                  <a:srgbClr val="374151"/>
                </a:solidFill>
                <a:latin typeface="Calibri"/>
              </a:rPr>
              <a:t>  - First blog post</a:t>
            </a:r>
          </a:p>
        </p:txBody>
      </p:sp>
    </p:spTree>
  </p:cSld>
  <p:clrMapOvr>
    <a:masterClr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2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ox3"/>
          <p:cNvSpPr>
            <a:spLocks noGrp="1"/>
          </p:cNvSpPr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440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320040" y="118872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900" b="1" dirty="0">
                <a:solidFill>
                  <a:srgbClr val="FFFFFF"/>
                </a:solidFill>
                <a:latin typeface="Calibri"/>
              </a:rPr>
              <a:t>Investment Proposal - Website Enhancement and Digital Growth Package</a:t>
            </a:r>
          </a:p>
        </p:txBody>
      </p:sp>
      <p:sp>
        <p:nvSpPr>
          <p:cNvPr id="5" name="box5"/>
          <p:cNvSpPr>
            <a:spLocks noGrp="1"/>
          </p:cNvSpPr>
          <p:nvPr/>
        </p:nvSpPr>
        <p:spPr>
          <a:xfrm>
            <a:off x="365760" y="886968"/>
            <a:ext cx="3840480" cy="1371600"/>
          </a:xfrm>
          <a:prstGeom prst="rect">
            <a:avLst/>
          </a:prstGeom>
          <a:solidFill>
            <a:srgbClr val="0D2440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6"/>
          <p:cNvSpPr txBox="1"/>
          <p:nvPr/>
        </p:nvSpPr>
        <p:spPr>
          <a:xfrm>
            <a:off x="365760" y="96012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400" b="1" dirty="0">
                <a:solidFill>
                  <a:srgbClr val="C9A84C"/>
                </a:solidFill>
                <a:latin typeface="Calibri"/>
              </a:rPr>
              <a:t>ONE-TIME</a:t>
            </a:r>
          </a:p>
        </p:txBody>
      </p:sp>
      <p:sp>
        <p:nvSpPr>
          <p:cNvPr id="7" name="t7"/>
          <p:cNvSpPr txBox="1"/>
          <p:nvPr/>
        </p:nvSpPr>
        <p:spPr>
          <a:xfrm>
            <a:off x="365760" y="1417320"/>
            <a:ext cx="384048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5500" b="1" dirty="0">
                <a:solidFill>
                  <a:srgbClr val="FFFFFF"/>
                </a:solidFill>
                <a:latin typeface="Calibri"/>
              </a:rPr>
              <a:t>$700</a:t>
            </a:r>
          </a:p>
        </p:txBody>
      </p:sp>
      <p:sp>
        <p:nvSpPr>
          <p:cNvPr id="8" name="t8"/>
          <p:cNvSpPr txBox="1"/>
          <p:nvPr/>
        </p:nvSpPr>
        <p:spPr>
          <a:xfrm>
            <a:off x="365760" y="20574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200" b="0" dirty="0">
                <a:solidFill>
                  <a:srgbClr val="A0BAD0"/>
                </a:solidFill>
                <a:latin typeface="Calibri"/>
              </a:rPr>
              <a:t>Full Implementation (Weeks 1-10)</a:t>
            </a:r>
          </a:p>
        </p:txBody>
      </p:sp>
      <p:sp>
        <p:nvSpPr>
          <p:cNvPr id="9" name="box9"/>
          <p:cNvSpPr>
            <a:spLocks noGrp="1"/>
          </p:cNvSpPr>
          <p:nvPr/>
        </p:nvSpPr>
        <p:spPr>
          <a:xfrm>
            <a:off x="4937760" y="886968"/>
            <a:ext cx="3840480" cy="1371600"/>
          </a:xfrm>
          <a:prstGeom prst="rect">
            <a:avLst/>
          </a:prstGeom>
          <a:solidFill>
            <a:srgbClr val="0D244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10"/>
          <p:cNvSpPr txBox="1"/>
          <p:nvPr/>
        </p:nvSpPr>
        <p:spPr>
          <a:xfrm>
            <a:off x="4937760" y="96012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400" b="1" dirty="0">
                <a:solidFill>
                  <a:srgbClr val="C9A84C"/>
                </a:solidFill>
                <a:latin typeface="Calibri"/>
              </a:rPr>
              <a:t>MONTHLY RETAINER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4937760" y="1417320"/>
            <a:ext cx="384048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5500" b="1" dirty="0">
                <a:solidFill>
                  <a:srgbClr val="FFFFFF"/>
                </a:solidFill>
                <a:latin typeface="Calibri"/>
              </a:rPr>
              <a:t>$199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4937760" y="20574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enter">
              <a:buNone/>
            </a:pPr>
            <a:r>
              <a:rPr lang="en-US" sz="1200" b="0" dirty="0">
                <a:solidFill>
                  <a:srgbClr val="A0BAD0"/>
                </a:solidFill>
                <a:latin typeface="Calibri"/>
              </a:rPr>
              <a:t>12-Month Contract</a:t>
            </a:r>
          </a:p>
        </p:txBody>
      </p:sp>
      <p:sp>
        <p:nvSpPr>
          <p:cNvPr id="13" name="box13"/>
          <p:cNvSpPr>
            <a:spLocks noGrp="1"/>
          </p:cNvSpPr>
          <p:nvPr/>
        </p:nvSpPr>
        <p:spPr>
          <a:xfrm>
            <a:off x="365760" y="2423160"/>
            <a:ext cx="3840480" cy="3200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14"/>
          <p:cNvSpPr txBox="1"/>
          <p:nvPr/>
        </p:nvSpPr>
        <p:spPr>
          <a:xfrm>
            <a:off x="457200" y="2450592"/>
            <a:ext cx="3657600" cy="26517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One-Time Includes:</a:t>
            </a:r>
          </a:p>
        </p:txBody>
      </p:sp>
      <p:sp>
        <p:nvSpPr>
          <p:cNvPr id="15" name="tl15"/>
          <p:cNvSpPr txBox="1"/>
          <p:nvPr/>
        </p:nvSpPr>
        <p:spPr>
          <a:xfrm>
            <a:off x="457200" y="2788920"/>
            <a:ext cx="3657600" cy="2194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  <a:spcAft>
                <a:spcPts val="100"/>
              </a:spcAft>
            </a:pPr>
            <a:r>
              <a:rPr lang="en-US" sz="1200" b="0" dirty="0">
                <a:solidFill>
                  <a:srgbClr val="D0E8F0"/>
                </a:solidFill>
                <a:latin typeface="Calibri"/>
              </a:rPr>
              <a:t>  Complete homepage rebuild + CTAs</a:t>
            </a:r>
          </a:p>
          <a:p>
            <a:pPr algn="left">
              <a:buNone/>
              <a:spcAft>
                <a:spcPts val="100"/>
              </a:spcAft>
            </a:pPr>
            <a:r>
              <a:rPr lang="en-US" sz="1200" b="0" dirty="0">
                <a:solidFill>
                  <a:srgbClr val="D0E8F0"/>
                </a:solidFill>
                <a:latin typeface="Calibri"/>
              </a:rPr>
              <a:t>  New landing pages (Part I, II, MET(T)A)</a:t>
            </a:r>
          </a:p>
          <a:p>
            <a:pPr algn="left">
              <a:buNone/>
              <a:spcAft>
                <a:spcPts val="100"/>
              </a:spcAft>
            </a:pPr>
            <a:r>
              <a:rPr lang="en-US" sz="1200" b="0" dirty="0">
                <a:solidFill>
                  <a:srgbClr val="D0E8F0"/>
                </a:solidFill>
                <a:latin typeface="Calibri"/>
              </a:rPr>
              <a:t>  Title tags + meta descriptions overhaul</a:t>
            </a:r>
          </a:p>
          <a:p>
            <a:pPr algn="left">
              <a:buNone/>
              <a:spcAft>
                <a:spcPts val="100"/>
              </a:spcAft>
            </a:pPr>
            <a:r>
              <a:rPr lang="en-US" sz="1200" b="0" dirty="0">
                <a:solidFill>
                  <a:srgbClr val="D0E8F0"/>
                </a:solidFill>
                <a:latin typeface="Calibri"/>
              </a:rPr>
              <a:t>  Mobile performance optimization</a:t>
            </a:r>
          </a:p>
          <a:p>
            <a:pPr algn="left">
              <a:buNone/>
              <a:spcAft>
                <a:spcPts val="100"/>
              </a:spcAft>
            </a:pPr>
            <a:r>
              <a:rPr lang="en-US" sz="1200" b="0" dirty="0">
                <a:solidFill>
                  <a:srgbClr val="D0E8F0"/>
                </a:solidFill>
                <a:latin typeface="Calibri"/>
              </a:rPr>
              <a:t>  Schema markup + technical fixes</a:t>
            </a:r>
          </a:p>
          <a:p>
            <a:pPr algn="left">
              <a:buNone/>
              <a:spcAft>
                <a:spcPts val="100"/>
              </a:spcAft>
            </a:pPr>
            <a:r>
              <a:rPr lang="en-US" sz="1200" b="0" dirty="0">
                <a:solidFill>
                  <a:srgbClr val="D0E8F0"/>
                </a:solidFill>
                <a:latin typeface="Calibri"/>
              </a:rPr>
              <a:t>  Google Search Console + GBP setup</a:t>
            </a:r>
          </a:p>
        </p:txBody>
      </p:sp>
      <p:sp>
        <p:nvSpPr>
          <p:cNvPr id="16" name="box16"/>
          <p:cNvSpPr>
            <a:spLocks noGrp="1"/>
          </p:cNvSpPr>
          <p:nvPr/>
        </p:nvSpPr>
        <p:spPr>
          <a:xfrm>
            <a:off x="4937760" y="2423160"/>
            <a:ext cx="3840480" cy="3200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17"/>
          <p:cNvSpPr txBox="1"/>
          <p:nvPr/>
        </p:nvSpPr>
        <p:spPr>
          <a:xfrm>
            <a:off x="5029200" y="2450592"/>
            <a:ext cx="3657600" cy="26517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Monthly Retainer Includes:</a:t>
            </a:r>
          </a:p>
        </p:txBody>
      </p:sp>
      <p:sp>
        <p:nvSpPr>
          <p:cNvPr id="18" name="tl18"/>
          <p:cNvSpPr txBox="1"/>
          <p:nvPr/>
        </p:nvSpPr>
        <p:spPr>
          <a:xfrm>
            <a:off x="5029200" y="2788920"/>
            <a:ext cx="3657600" cy="2194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  <a:spcAft>
                <a:spcPts val="100"/>
              </a:spcAft>
            </a:pPr>
            <a:r>
              <a:rPr lang="en-US" sz="1200" b="0" dirty="0">
                <a:solidFill>
                  <a:srgbClr val="D0E8F0"/>
                </a:solidFill>
                <a:latin typeface="Calibri"/>
              </a:rPr>
              <a:t>  On-page updates + schema maintenance</a:t>
            </a:r>
          </a:p>
          <a:p>
            <a:pPr algn="left">
              <a:buNone/>
              <a:spcAft>
                <a:spcPts val="100"/>
              </a:spcAft>
            </a:pPr>
            <a:r>
              <a:rPr lang="en-US" sz="1200" b="0" dirty="0">
                <a:solidFill>
                  <a:srgbClr val="D0E8F0"/>
                </a:solidFill>
                <a:latin typeface="Calibri"/>
              </a:rPr>
              <a:t>  Search Console + Analytics reporting</a:t>
            </a:r>
          </a:p>
          <a:p>
            <a:pPr algn="left">
              <a:buNone/>
              <a:spcAft>
                <a:spcPts val="100"/>
              </a:spcAft>
            </a:pPr>
            <a:r>
              <a:rPr lang="en-US" sz="1200" b="0" dirty="0">
                <a:solidFill>
                  <a:srgbClr val="D0E8F0"/>
                </a:solidFill>
                <a:latin typeface="Calibri"/>
              </a:rPr>
              <a:t>  Keyword rank tracking</a:t>
            </a:r>
          </a:p>
          <a:p>
            <a:pPr algn="left">
              <a:buNone/>
              <a:spcAft>
                <a:spcPts val="100"/>
              </a:spcAft>
            </a:pPr>
            <a:r>
              <a:rPr lang="en-US" sz="1200" b="0" dirty="0">
                <a:solidFill>
                  <a:srgbClr val="D0E8F0"/>
                </a:solidFill>
                <a:latin typeface="Calibri"/>
              </a:rPr>
              <a:t>  Quarterly strategy call</a:t>
            </a:r>
          </a:p>
          <a:p>
            <a:pPr algn="left">
              <a:buNone/>
              <a:spcAft>
                <a:spcPts val="100"/>
              </a:spcAft>
            </a:pPr>
            <a:r>
              <a:rPr lang="en-US" sz="1200" b="0" dirty="0">
                <a:solidFill>
                  <a:srgbClr val="D0E8F0"/>
                </a:solidFill>
                <a:latin typeface="Calibri"/>
              </a:rPr>
              <a:t>  Squarespace optimization tweaks</a:t>
            </a:r>
          </a:p>
          <a:p>
            <a:pPr algn="left">
              <a:buNone/>
              <a:spcAft>
                <a:spcPts val="100"/>
              </a:spcAft>
            </a:pPr>
            <a:r>
              <a:rPr lang="en-US" sz="1200" b="0" dirty="0">
                <a:solidFill>
                  <a:srgbClr val="D0E8F0"/>
                </a:solidFill>
                <a:latin typeface="Calibri"/>
              </a:rPr>
              <a:t>  Note: No content writing included</a:t>
            </a:r>
          </a:p>
        </p:txBody>
      </p:sp>
    </p:spTree>
  </p:cSld>
  <p:clrMapOvr>
    <a:masterClr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2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ox3"/>
          <p:cNvSpPr>
            <a:spLocks noGrp="1"/>
          </p:cNvSpPr>
          <p:nvPr/>
        </p:nvSpPr>
        <p:spPr>
          <a:xfrm>
            <a:off x="0" y="2103120"/>
            <a:ext cx="164592" cy="30175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411480" y="100584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5200" b="1" dirty="0">
                <a:solidFill>
                  <a:srgbClr val="FFFFFF"/>
                </a:solidFill>
                <a:latin typeface="Calibri"/>
              </a:rPr>
              <a:t>Ready to Start?</a:t>
            </a:r>
          </a:p>
        </p:txBody>
      </p:sp>
      <p:sp>
        <p:nvSpPr>
          <p:cNvPr id="5" name="t5"/>
          <p:cNvSpPr txBox="1"/>
          <p:nvPr/>
        </p:nvSpPr>
        <p:spPr>
          <a:xfrm>
            <a:off x="411480" y="17830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2000" b="0" dirty="0">
                <a:solidFill>
                  <a:srgbClr val="A0BAD0"/>
                </a:solidFill>
                <a:latin typeface="Calibri"/>
              </a:rPr>
              <a:t>Start Again Associates has the credentials, the history, and the proprietary protocol.</a:t>
            </a:r>
          </a:p>
        </p:txBody>
      </p:sp>
      <p:sp>
        <p:nvSpPr>
          <p:cNvPr id="6" name="t6"/>
          <p:cNvSpPr txBox="1"/>
          <p:nvPr/>
        </p:nvSpPr>
        <p:spPr>
          <a:xfrm>
            <a:off x="411480" y="23317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2000" b="1" dirty="0">
                <a:solidFill>
                  <a:srgbClr val="C9A84C"/>
                </a:solidFill>
                <a:latin typeface="Calibri"/>
              </a:rPr>
              <a:t>Now let us make sure the right people can find it.</a:t>
            </a:r>
          </a:p>
        </p:txBody>
      </p:sp>
      <p:sp>
        <p:nvSpPr>
          <p:cNvPr id="7" name="box7"/>
          <p:cNvSpPr>
            <a:spLocks noGrp="1"/>
          </p:cNvSpPr>
          <p:nvPr/>
        </p:nvSpPr>
        <p:spPr>
          <a:xfrm>
            <a:off x="411480" y="3017520"/>
            <a:ext cx="822960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8"/>
          <p:cNvSpPr txBox="1"/>
          <p:nvPr/>
        </p:nvSpPr>
        <p:spPr>
          <a:xfrm>
            <a:off x="411480" y="31546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</a:pPr>
            <a:r>
              <a:rPr lang="en-US" sz="1700" b="1" dirty="0">
                <a:solidFill>
                  <a:srgbClr val="028090"/>
                </a:solidFill>
                <a:latin typeface="Calibri"/>
              </a:rPr>
              <a:t>Immediate Next Steps:</a:t>
            </a:r>
          </a:p>
        </p:txBody>
      </p:sp>
      <p:sp>
        <p:nvSpPr>
          <p:cNvPr id="9" name="tl9"/>
          <p:cNvSpPr txBox="1"/>
          <p:nvPr/>
        </p:nvSpPr>
        <p:spPr>
          <a:xfrm>
            <a:off x="411480" y="361188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eft">
              <a:buNone/>
              <a:spcAft>
                <a:spcPts val="180"/>
              </a:spcAft>
            </a:pPr>
            <a:r>
              <a:rPr lang="en-US" sz="1500" b="0" dirty="0">
                <a:solidFill>
                  <a:srgbClr val="FFFFFF"/>
                </a:solidFill>
                <a:latin typeface="Calibri"/>
              </a:rPr>
              <a:t>  1.  Confirm scope and sign off on proposal</a:t>
            </a:r>
          </a:p>
          <a:p>
            <a:pPr algn="left">
              <a:buNone/>
              <a:spcAft>
                <a:spcPts val="180"/>
              </a:spcAft>
            </a:pPr>
            <a:r>
              <a:rPr lang="en-US" sz="1500" b="0" dirty="0">
                <a:solidFill>
                  <a:srgbClr val="FFFFFF"/>
                </a:solidFill>
                <a:latin typeface="Calibri"/>
              </a:rPr>
              <a:t>  2.  Roshni provides Squarespace access and confirms GBP details</a:t>
            </a:r>
          </a:p>
          <a:p>
            <a:pPr algn="left">
              <a:buNone/>
              <a:spcAft>
                <a:spcPts val="180"/>
              </a:spcAft>
            </a:pPr>
            <a:r>
              <a:rPr lang="en-US" sz="1500" b="0" dirty="0">
                <a:solidFill>
                  <a:srgbClr val="FFFFFF"/>
                </a:solidFill>
                <a:latin typeface="Calibri"/>
              </a:rPr>
              <a:t>  3.  Richard begins Week 1 quick wins - target completion within 5 business days</a:t>
            </a:r>
          </a:p>
        </p:txBody>
      </p:sp>
    </p:spTree>
  </p:cSld>
  <p:clrMapOvr>
    <a:masterClr/>
  </p:clrMapOvr>
</p:sld>
</file>

<file path=ppt/theme/theme1.xml><?xml version="1.0" encoding="utf-8"?>
<a:theme xmlns:a="http://schemas.openxmlformats.org/drawingml/2006/main" name="SAA Theme">
  <a:themeElements>
    <a:clrScheme name="SAA">
      <a:dk1>
        <a:srgbClr val="1B3A5C"/>
      </a:dk1>
      <a:lt1>
        <a:srgbClr val="FFFFFF"/>
      </a:lt1>
      <a:dk2>
        <a:srgbClr val="028090"/>
      </a:dk2>
      <a:lt2>
        <a:srgbClr val="EBF3FB"/>
      </a:lt2>
      <a:accent1>
        <a:srgbClr val="1B3A5C"/>
      </a:accent1>
      <a:accent2>
        <a:srgbClr val="028090"/>
      </a:accent2>
      <a:accent3>
        <a:srgbClr val="C9A84C"/>
      </a:accent3>
      <a:accent4>
        <a:srgbClr val="CC2200"/>
      </a:accent4>
      <a:accent5>
        <a:srgbClr val="027A3A"/>
      </a:accent5>
      <a:accent6>
        <a:srgbClr val="4A5568"/>
      </a:accent6>
      <a:hlink>
        <a:srgbClr val="028090"/>
      </a:hlink>
      <a:folHlink>
        <a:srgbClr val="1B3A5C"/>
      </a:folHlink>
    </a:clrScheme>
    <a:fontScheme name="SAA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A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lides>12</Slides>
</Properties>
</file>

<file path=docProps/core.xml><?xml version="1.0" encoding="utf-8"?>
<cp:coreProperties xmlns:cp="http://schemas.openxmlformats.org/package/2006/metadata/core-properties" xmlns:dc="http://purl.org/dc/elements/1.1/">
  <dc:title>SEO Audit Report - Start Again Associates</dc:title>
  <dc:creator>Richard</dc:creator>
  <cp:lastModifiedBy>Richard</cp:lastModifiedBy>
</cp:coreProperties>
</file>