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6152"/>
    <a:srgbClr val="77A4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53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>
          <a:latin typeface="Calibri"/>
        </a:defRPr>
      </a:lvl1pPr>
    </p:titleStyle>
    <p:bodyStyle>
      <a:lvl1pPr>
        <a:defRPr lang="en-US">
          <a:latin typeface="Calibri"/>
        </a:defRPr>
      </a:lvl1pPr>
    </p:bodyStyle>
    <p:otherStyle>
      <a:lvl1pPr>
        <a:defRPr lang="en-US">
          <a:latin typeface="Calibr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0" y="2286000"/>
            <a:ext cx="164592" cy="2400300"/>
          </a:xfrm>
          <a:prstGeom prst="rect">
            <a:avLst/>
          </a:prstGeom>
          <a:solidFill>
            <a:srgbClr val="77A4BC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4" name="t4"/>
          <p:cNvSpPr txBox="1"/>
          <p:nvPr/>
        </p:nvSpPr>
        <p:spPr>
          <a:xfrm>
            <a:off x="411480" y="1941807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 fontScale="85000" lnSpcReduction="20000"/>
          </a:bodyPr>
          <a:lstStyle/>
          <a:p>
            <a:pPr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/>
              </a:rPr>
              <a:t>DIGITAL PRESENCE AUDIT REPORT</a:t>
            </a:r>
          </a:p>
        </p:txBody>
      </p:sp>
      <p:sp>
        <p:nvSpPr>
          <p:cNvPr id="5" name="t5"/>
          <p:cNvSpPr txBox="1"/>
          <p:nvPr/>
        </p:nvSpPr>
        <p:spPr>
          <a:xfrm>
            <a:off x="411480" y="2467588"/>
            <a:ext cx="8321040" cy="64007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D16152"/>
                </a:solidFill>
                <a:latin typeface="Calibri"/>
              </a:rPr>
              <a:t>Start Again Associates</a:t>
            </a:r>
          </a:p>
        </p:txBody>
      </p:sp>
      <p:sp>
        <p:nvSpPr>
          <p:cNvPr id="6" name="t6"/>
          <p:cNvSpPr txBox="1"/>
          <p:nvPr/>
        </p:nvSpPr>
        <p:spPr>
          <a:xfrm>
            <a:off x="411480" y="3267687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A0BAD0"/>
                </a:solidFill>
                <a:latin typeface="Calibri"/>
              </a:rPr>
              <a:t>startagainassociates.com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11480" y="3816327"/>
            <a:ext cx="3200400" cy="36576"/>
          </a:xfrm>
          <a:prstGeom prst="rect">
            <a:avLst/>
          </a:prstGeom>
          <a:solidFill>
            <a:srgbClr val="77A4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411480" y="395348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A0BAD0"/>
                </a:solidFill>
                <a:latin typeface="Calibri"/>
              </a:rPr>
              <a:t>Prepared by Parts of Practice  |  Audit Date: May 2026</a:t>
            </a:r>
          </a:p>
        </p:txBody>
      </p:sp>
      <p:sp>
        <p:nvSpPr>
          <p:cNvPr id="9" name="t9"/>
          <p:cNvSpPr txBox="1"/>
          <p:nvPr/>
        </p:nvSpPr>
        <p:spPr>
          <a:xfrm>
            <a:off x="411480" y="431924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00" b="1" dirty="0">
                <a:solidFill>
                  <a:srgbClr val="D16152"/>
                </a:solidFill>
                <a:latin typeface="Calibri"/>
              </a:rPr>
              <a:t>CONFIDENTIAL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FAAA83-0E16-F355-BC8A-78541F04CC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8580" y="431754"/>
            <a:ext cx="4761905" cy="714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The Numbers Don't Lie</a:t>
            </a:r>
          </a:p>
        </p:txBody>
      </p:sp>
      <p:sp>
        <p:nvSpPr>
          <p:cNvPr id="4" name="t4"/>
          <p:cNvSpPr txBox="1"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374151"/>
                </a:solidFill>
                <a:latin typeface="Calibri"/>
              </a:rPr>
              <a:t>Start Again Associates is essentially invisible online. Here is why.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274320" y="141732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27432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000" b="1" dirty="0">
                <a:solidFill>
                  <a:srgbClr val="CC2200"/>
                </a:solidFill>
                <a:latin typeface="Calibri"/>
              </a:rPr>
              <a:t>31/100</a:t>
            </a:r>
          </a:p>
        </p:txBody>
      </p:sp>
      <p:sp>
        <p:nvSpPr>
          <p:cNvPr id="7" name="t7"/>
          <p:cNvSpPr txBox="1"/>
          <p:nvPr/>
        </p:nvSpPr>
        <p:spPr>
          <a:xfrm>
            <a:off x="27432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Overall SEO Health Score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2423160" y="141732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242316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1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242316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Organic Visitors / Month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4572000" y="141732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457200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2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457200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Ranking Keywords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6720840" y="1417320"/>
            <a:ext cx="1920240" cy="1508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6720840" y="152704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1B3A5C"/>
                </a:solidFill>
                <a:latin typeface="Calibri"/>
              </a:rPr>
              <a:t>61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6720840" y="219456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SEO Issues Found</a:t>
            </a:r>
          </a:p>
        </p:txBody>
      </p:sp>
      <p:sp>
        <p:nvSpPr>
          <p:cNvPr id="17" name="box17"/>
          <p:cNvSpPr>
            <a:spLocks noGrp="1"/>
          </p:cNvSpPr>
          <p:nvPr/>
        </p:nvSpPr>
        <p:spPr>
          <a:xfrm>
            <a:off x="274320" y="3108960"/>
            <a:ext cx="1920240" cy="1508760"/>
          </a:xfrm>
          <a:prstGeom prst="rect">
            <a:avLst/>
          </a:prstGeom>
          <a:solidFill>
            <a:srgbClr val="EDFB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18"/>
          <p:cNvSpPr txBox="1"/>
          <p:nvPr/>
        </p:nvSpPr>
        <p:spPr>
          <a:xfrm>
            <a:off x="27432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027A3A"/>
                </a:solidFill>
                <a:latin typeface="Calibri"/>
              </a:rPr>
              <a:t>1.37s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27432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Desktop Load (Great)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2423160" y="3108960"/>
            <a:ext cx="1920240" cy="150876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242316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7.62s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242316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Mobile Load (POOR)</a:t>
            </a:r>
          </a:p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4572000" y="3108960"/>
            <a:ext cx="1920240" cy="1508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24"/>
          <p:cNvSpPr txBox="1"/>
          <p:nvPr/>
        </p:nvSpPr>
        <p:spPr>
          <a:xfrm>
            <a:off x="457200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1B3A5C"/>
                </a:solidFill>
                <a:latin typeface="Calibri"/>
              </a:rPr>
              <a:t>18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457200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Pages Missing Meta Desc.</a:t>
            </a:r>
          </a:p>
        </p:txBody>
      </p:sp>
      <p:sp>
        <p:nvSpPr>
          <p:cNvPr id="26" name="box26"/>
          <p:cNvSpPr>
            <a:spLocks noGrp="1"/>
          </p:cNvSpPr>
          <p:nvPr/>
        </p:nvSpPr>
        <p:spPr>
          <a:xfrm>
            <a:off x="6720840" y="3108960"/>
            <a:ext cx="1920240" cy="1508760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6720840" y="3218688"/>
            <a:ext cx="192024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1B3A5C"/>
                </a:solidFill>
                <a:latin typeface="Calibri"/>
              </a:rPr>
              <a:t>49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6720840" y="3886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Backlinks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Priority #1: The Homepage is Blank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0" y="749808"/>
            <a:ext cx="4206240" cy="4389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228600" y="1005840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200" b="1" dirty="0">
                <a:solidFill>
                  <a:srgbClr val="028090"/>
                </a:solidFill>
                <a:latin typeface="Calibri"/>
              </a:rPr>
              <a:t>The Impact</a:t>
            </a:r>
          </a:p>
        </p:txBody>
      </p:sp>
      <p:sp>
        <p:nvSpPr>
          <p:cNvPr id="6" name="tl6"/>
          <p:cNvSpPr txBox="1"/>
          <p:nvPr/>
        </p:nvSpPr>
        <p:spPr>
          <a:xfrm>
            <a:off x="228600" y="1691640"/>
            <a:ext cx="374904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Google has nothing to index</a:t>
            </a:r>
          </a:p>
          <a:p>
            <a:pPr algn="l">
              <a:buNone/>
            </a:pPr>
            <a:endParaRPr lang="en-US" sz="1500" b="0" dirty="0">
              <a:solidFill>
                <a:srgbClr val="FFFFFF"/>
              </a:solidFill>
              <a:latin typeface="Calibri"/>
            </a:endParaRPr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Visitors land and immediately bounce</a:t>
            </a:r>
          </a:p>
          <a:p>
            <a:pPr algn="l">
              <a:buNone/>
            </a:pPr>
            <a:endParaRPr lang="en-US" sz="1500" b="0" dirty="0">
              <a:solidFill>
                <a:srgbClr val="FFFFFF"/>
              </a:solidFill>
              <a:latin typeface="Calibri"/>
            </a:endParaRPr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No keyword can be targeted</a:t>
            </a:r>
          </a:p>
          <a:p>
            <a:pPr algn="l">
              <a:buNone/>
            </a:pPr>
            <a:endParaRPr lang="en-US" sz="1500" b="0" dirty="0">
              <a:solidFill>
                <a:srgbClr val="FFFFFF"/>
              </a:solidFill>
              <a:latin typeface="Calibri"/>
            </a:endParaRPr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Zero trust signals in a YMYL niche</a:t>
            </a:r>
          </a:p>
          <a:p>
            <a:pPr algn="l">
              <a:buNone/>
            </a:pPr>
            <a:endParaRPr lang="en-US" sz="1500" b="0" dirty="0">
              <a:solidFill>
                <a:srgbClr val="FFFFFF"/>
              </a:solidFill>
              <a:latin typeface="Calibri"/>
            </a:endParaRPr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Competitors capture all search traffic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206240" y="749808"/>
            <a:ext cx="4937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4434840" y="100584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1B3A5C"/>
                </a:solidFill>
                <a:latin typeface="Calibri"/>
              </a:rPr>
              <a:t>What Needs to Be There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4434840" y="1600200"/>
            <a:ext cx="448056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l10"/>
          <p:cNvSpPr txBox="1"/>
          <p:nvPr/>
        </p:nvSpPr>
        <p:spPr>
          <a:xfrm>
            <a:off x="4434840" y="1691640"/>
            <a:ext cx="4480560" cy="3200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Hero headline + subhead</a:t>
            </a:r>
          </a:p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Clear value proposition</a:t>
            </a:r>
          </a:p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EMDR-IA Approved trust badge</a:t>
            </a:r>
          </a:p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Services overview (3-4 cards)</a:t>
            </a:r>
          </a:p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About Dr. Dansiger + MET(T)A Protocol</a:t>
            </a:r>
          </a:p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Trainee testimonials (3 minimum)</a:t>
            </a:r>
          </a:p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Strong CTA: Register / Book Training</a:t>
            </a:r>
          </a:p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  Trust bar: 30 Years | EMDR-IA Approved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Top 5 Priorities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50392"/>
            <a:ext cx="502920" cy="56692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274320" y="896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822960" y="850392"/>
            <a:ext cx="54864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914400" y="941832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Build out the homepage - currently blank with zero SEO value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6355080" y="850392"/>
            <a:ext cx="1188720" cy="566928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6355080" y="941832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CC2200"/>
                </a:solidFill>
                <a:latin typeface="Calibri"/>
              </a:rPr>
              <a:t>Critical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7589520" y="850392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7589520" y="941832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Medium</a:t>
            </a:r>
          </a:p>
        </p:txBody>
      </p:sp>
      <p:sp>
        <p:nvSpPr>
          <p:cNvPr id="12" name="box12"/>
          <p:cNvSpPr>
            <a:spLocks noGrp="1"/>
          </p:cNvSpPr>
          <p:nvPr/>
        </p:nvSpPr>
        <p:spPr>
          <a:xfrm>
            <a:off x="274320" y="1563624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13"/>
          <p:cNvSpPr txBox="1"/>
          <p:nvPr/>
        </p:nvSpPr>
        <p:spPr>
          <a:xfrm>
            <a:off x="274320" y="160934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822960" y="1563624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914400" y="165506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Write unique title tags and meta descriptions for all 31 pages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6355080" y="1563624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6355080" y="1655064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7589520" y="1563624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19"/>
          <p:cNvSpPr txBox="1"/>
          <p:nvPr/>
        </p:nvSpPr>
        <p:spPr>
          <a:xfrm>
            <a:off x="7589520" y="165506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Low</a:t>
            </a:r>
          </a:p>
        </p:txBody>
      </p:sp>
      <p:sp>
        <p:nvSpPr>
          <p:cNvPr id="20" name="box20"/>
          <p:cNvSpPr>
            <a:spLocks noGrp="1"/>
          </p:cNvSpPr>
          <p:nvPr/>
        </p:nvSpPr>
        <p:spPr>
          <a:xfrm>
            <a:off x="274320" y="2276856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21"/>
          <p:cNvSpPr txBox="1"/>
          <p:nvPr/>
        </p:nvSpPr>
        <p:spPr>
          <a:xfrm>
            <a:off x="274320" y="232257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822960" y="2276856"/>
            <a:ext cx="54864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23"/>
          <p:cNvSpPr txBox="1"/>
          <p:nvPr/>
        </p:nvSpPr>
        <p:spPr>
          <a:xfrm>
            <a:off x="914400" y="236829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Fix mobile load time (7.62s - POOR rating)</a:t>
            </a:r>
          </a:p>
        </p:txBody>
      </p:sp>
      <p:sp>
        <p:nvSpPr>
          <p:cNvPr id="24" name="box24"/>
          <p:cNvSpPr>
            <a:spLocks noGrp="1"/>
          </p:cNvSpPr>
          <p:nvPr/>
        </p:nvSpPr>
        <p:spPr>
          <a:xfrm>
            <a:off x="6355080" y="2276856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25"/>
          <p:cNvSpPr txBox="1"/>
          <p:nvPr/>
        </p:nvSpPr>
        <p:spPr>
          <a:xfrm>
            <a:off x="6355080" y="2368296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26" name="box26"/>
          <p:cNvSpPr>
            <a:spLocks noGrp="1"/>
          </p:cNvSpPr>
          <p:nvPr/>
        </p:nvSpPr>
        <p:spPr>
          <a:xfrm>
            <a:off x="7589520" y="2276856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7589520" y="236829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Medium</a:t>
            </a:r>
          </a:p>
        </p:txBody>
      </p:sp>
      <p:sp>
        <p:nvSpPr>
          <p:cNvPr id="28" name="box28"/>
          <p:cNvSpPr>
            <a:spLocks noGrp="1"/>
          </p:cNvSpPr>
          <p:nvPr/>
        </p:nvSpPr>
        <p:spPr>
          <a:xfrm>
            <a:off x="274320" y="2990088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29"/>
          <p:cNvSpPr txBox="1"/>
          <p:nvPr/>
        </p:nvSpPr>
        <p:spPr>
          <a:xfrm>
            <a:off x="274320" y="30358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822960" y="2990088"/>
            <a:ext cx="54864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31"/>
          <p:cNvSpPr txBox="1"/>
          <p:nvPr/>
        </p:nvSpPr>
        <p:spPr>
          <a:xfrm>
            <a:off x="914400" y="308152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Unblock 3 pages currently blocked from Google indexing</a:t>
            </a:r>
          </a:p>
        </p:txBody>
      </p:sp>
      <p:sp>
        <p:nvSpPr>
          <p:cNvPr id="32" name="box32"/>
          <p:cNvSpPr>
            <a:spLocks noGrp="1"/>
          </p:cNvSpPr>
          <p:nvPr/>
        </p:nvSpPr>
        <p:spPr>
          <a:xfrm>
            <a:off x="6355080" y="2990088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33"/>
          <p:cNvSpPr txBox="1"/>
          <p:nvPr/>
        </p:nvSpPr>
        <p:spPr>
          <a:xfrm>
            <a:off x="6355080" y="308152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34" name="box34"/>
          <p:cNvSpPr>
            <a:spLocks noGrp="1"/>
          </p:cNvSpPr>
          <p:nvPr/>
        </p:nvSpPr>
        <p:spPr>
          <a:xfrm>
            <a:off x="7589520" y="2990088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t35"/>
          <p:cNvSpPr txBox="1"/>
          <p:nvPr/>
        </p:nvSpPr>
        <p:spPr>
          <a:xfrm>
            <a:off x="7589520" y="308152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Low</a:t>
            </a:r>
          </a:p>
        </p:txBody>
      </p:sp>
      <p:sp>
        <p:nvSpPr>
          <p:cNvPr id="36" name="box36"/>
          <p:cNvSpPr>
            <a:spLocks noGrp="1"/>
          </p:cNvSpPr>
          <p:nvPr/>
        </p:nvSpPr>
        <p:spPr>
          <a:xfrm>
            <a:off x="274320" y="3703320"/>
            <a:ext cx="502920" cy="5669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t37"/>
          <p:cNvSpPr txBox="1"/>
          <p:nvPr/>
        </p:nvSpPr>
        <p:spPr>
          <a:xfrm>
            <a:off x="274320" y="3749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box38"/>
          <p:cNvSpPr>
            <a:spLocks noGrp="1"/>
          </p:cNvSpPr>
          <p:nvPr/>
        </p:nvSpPr>
        <p:spPr>
          <a:xfrm>
            <a:off x="822960" y="3703320"/>
            <a:ext cx="5486400" cy="56692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39"/>
          <p:cNvSpPr txBox="1"/>
          <p:nvPr/>
        </p:nvSpPr>
        <p:spPr>
          <a:xfrm>
            <a:off x="914400" y="379476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1B3A5C"/>
                </a:solidFill>
                <a:latin typeface="Calibri"/>
              </a:rPr>
              <a:t>Set up Google Business Profile and Search Console</a:t>
            </a:r>
          </a:p>
        </p:txBody>
      </p:sp>
      <p:sp>
        <p:nvSpPr>
          <p:cNvPr id="40" name="box40"/>
          <p:cNvSpPr>
            <a:spLocks noGrp="1"/>
          </p:cNvSpPr>
          <p:nvPr/>
        </p:nvSpPr>
        <p:spPr>
          <a:xfrm>
            <a:off x="6355080" y="3703320"/>
            <a:ext cx="1188720" cy="56692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6355080" y="3794760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42" name="box42"/>
          <p:cNvSpPr>
            <a:spLocks noGrp="1"/>
          </p:cNvSpPr>
          <p:nvPr/>
        </p:nvSpPr>
        <p:spPr>
          <a:xfrm>
            <a:off x="7589520" y="3703320"/>
            <a:ext cx="1280160" cy="566928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t43"/>
          <p:cNvSpPr txBox="1"/>
          <p:nvPr/>
        </p:nvSpPr>
        <p:spPr>
          <a:xfrm>
            <a:off x="7589520" y="379476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Effort: 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Quick Wins: Do This Week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50392"/>
            <a:ext cx="859536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365760" y="8869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7 actions - all low-effort, high-impact, can be completed in under 1 week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274320" y="1325880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274320" y="1380744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694944" y="1325880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822960" y="136245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Unblock 3 pages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429000" y="1362456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Check Squarespace page settings - 3 pages are blocked from Google indexing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274320" y="1865376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274320" y="192024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694944" y="1865376"/>
            <a:ext cx="8174736" cy="4297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14"/>
          <p:cNvSpPr txBox="1"/>
          <p:nvPr/>
        </p:nvSpPr>
        <p:spPr>
          <a:xfrm>
            <a:off x="822960" y="190195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Fix the 1 missing title tag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3429000" y="1901952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Identify in Search Console and add a keyword-rich title immediately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274320" y="2404872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274320" y="2459736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box18"/>
          <p:cNvSpPr>
            <a:spLocks noGrp="1"/>
          </p:cNvSpPr>
          <p:nvPr/>
        </p:nvSpPr>
        <p:spPr>
          <a:xfrm>
            <a:off x="694944" y="2404872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19"/>
          <p:cNvSpPr txBox="1"/>
          <p:nvPr/>
        </p:nvSpPr>
        <p:spPr>
          <a:xfrm>
            <a:off x="822960" y="244144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Resolve 4 duplicate titles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3429000" y="2441448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Each page must have a unique title tag targeting a specific keyword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274320" y="2944368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274320" y="2999232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694944" y="2944368"/>
            <a:ext cx="8174736" cy="4297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t24"/>
          <p:cNvSpPr txBox="1"/>
          <p:nvPr/>
        </p:nvSpPr>
        <p:spPr>
          <a:xfrm>
            <a:off x="822960" y="2980944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Fix 3 duplicate meta descriptions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3429000" y="2980944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Write unique descriptions for all affected pages</a:t>
            </a:r>
          </a:p>
        </p:txBody>
      </p:sp>
      <p:sp>
        <p:nvSpPr>
          <p:cNvPr id="26" name="box26"/>
          <p:cNvSpPr>
            <a:spLocks noGrp="1"/>
          </p:cNvSpPr>
          <p:nvPr/>
        </p:nvSpPr>
        <p:spPr>
          <a:xfrm>
            <a:off x="274320" y="3483864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t27"/>
          <p:cNvSpPr txBox="1"/>
          <p:nvPr/>
        </p:nvSpPr>
        <p:spPr>
          <a:xfrm>
            <a:off x="274320" y="3538728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box28"/>
          <p:cNvSpPr>
            <a:spLocks noGrp="1"/>
          </p:cNvSpPr>
          <p:nvPr/>
        </p:nvSpPr>
        <p:spPr>
          <a:xfrm>
            <a:off x="694944" y="3483864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29"/>
          <p:cNvSpPr txBox="1"/>
          <p:nvPr/>
        </p:nvSpPr>
        <p:spPr>
          <a:xfrm>
            <a:off x="822960" y="3520440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Fix 3 broken links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3429000" y="3520440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Find and remove or redirect all 4XX error pages</a:t>
            </a:r>
          </a:p>
        </p:txBody>
      </p:sp>
      <p:sp>
        <p:nvSpPr>
          <p:cNvPr id="31" name="box31"/>
          <p:cNvSpPr>
            <a:spLocks noGrp="1"/>
          </p:cNvSpPr>
          <p:nvPr/>
        </p:nvSpPr>
        <p:spPr>
          <a:xfrm>
            <a:off x="274320" y="4023360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32"/>
          <p:cNvSpPr txBox="1"/>
          <p:nvPr/>
        </p:nvSpPr>
        <p:spPr>
          <a:xfrm>
            <a:off x="274320" y="4078224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box33"/>
          <p:cNvSpPr>
            <a:spLocks noGrp="1"/>
          </p:cNvSpPr>
          <p:nvPr/>
        </p:nvSpPr>
        <p:spPr>
          <a:xfrm>
            <a:off x="694944" y="4023360"/>
            <a:ext cx="8174736" cy="4297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t34"/>
          <p:cNvSpPr txBox="1"/>
          <p:nvPr/>
        </p:nvSpPr>
        <p:spPr>
          <a:xfrm>
            <a:off x="822960" y="4059936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Set up Google Search Console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3429000" y="4059936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Submit sitemap, confirm indexing, check for crawl errors</a:t>
            </a:r>
          </a:p>
        </p:txBody>
      </p:sp>
      <p:sp>
        <p:nvSpPr>
          <p:cNvPr id="36" name="box36"/>
          <p:cNvSpPr>
            <a:spLocks noGrp="1"/>
          </p:cNvSpPr>
          <p:nvPr/>
        </p:nvSpPr>
        <p:spPr>
          <a:xfrm>
            <a:off x="274320" y="4562856"/>
            <a:ext cx="384048" cy="42976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t37"/>
          <p:cNvSpPr txBox="1"/>
          <p:nvPr/>
        </p:nvSpPr>
        <p:spPr>
          <a:xfrm>
            <a:off x="274320" y="4617720"/>
            <a:ext cx="384048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box38"/>
          <p:cNvSpPr>
            <a:spLocks noGrp="1"/>
          </p:cNvSpPr>
          <p:nvPr/>
        </p:nvSpPr>
        <p:spPr>
          <a:xfrm>
            <a:off x="694944" y="4562856"/>
            <a:ext cx="8174736" cy="4297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39"/>
          <p:cNvSpPr txBox="1"/>
          <p:nvPr/>
        </p:nvSpPr>
        <p:spPr>
          <a:xfrm>
            <a:off x="822960" y="4599432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1B3A5C"/>
                </a:solidFill>
                <a:latin typeface="Calibri"/>
              </a:rPr>
              <a:t>Claim Google Business Profile</a:t>
            </a:r>
          </a:p>
        </p:txBody>
      </p:sp>
      <p:sp>
        <p:nvSpPr>
          <p:cNvPr id="40" name="t40"/>
          <p:cNvSpPr txBox="1"/>
          <p:nvPr/>
        </p:nvSpPr>
        <p:spPr>
          <a:xfrm>
            <a:off x="3429000" y="4599432"/>
            <a:ext cx="534924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0" dirty="0">
                <a:solidFill>
                  <a:srgbClr val="4A5568"/>
                </a:solidFill>
                <a:latin typeface="Calibri"/>
              </a:rPr>
              <a:t>Free listing - search Start Again Associates and claim it now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Technical SEO Scorecard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41248"/>
            <a:ext cx="4160520" cy="384048"/>
          </a:xfrm>
          <a:prstGeom prst="rect">
            <a:avLst/>
          </a:prstGeom>
          <a:solidFill>
            <a:srgbClr val="02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274320" y="87782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  PASSING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4709160" y="841248"/>
            <a:ext cx="4160520" cy="384048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4709160" y="877824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FFFFFF"/>
                </a:solidFill>
                <a:latin typeface="Calibri"/>
              </a:rPr>
              <a:t>  ISSUES FOUND</a:t>
            </a:r>
          </a:p>
        </p:txBody>
      </p:sp>
      <p:sp>
        <p:nvSpPr>
          <p:cNvPr id="8" name="tl8"/>
          <p:cNvSpPr txBox="1"/>
          <p:nvPr/>
        </p:nvSpPr>
        <p:spPr>
          <a:xfrm>
            <a:off x="457200" y="1325880"/>
            <a:ext cx="38404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SSL Certificate - Valid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XML Sitemap - Present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H1 Tags - All Pages Have One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Desktop Speed - 1.37s (Great)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Visual Stability (CLS) - 0.00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Content Compression - Enabled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+ No Multiple Title Tags Per Page</a:t>
            </a:r>
          </a:p>
        </p:txBody>
      </p:sp>
      <p:sp>
        <p:nvSpPr>
          <p:cNvPr id="9" name="tl9"/>
          <p:cNvSpPr txBox="1"/>
          <p:nvPr/>
        </p:nvSpPr>
        <p:spPr>
          <a:xfrm>
            <a:off x="4846320" y="1325880"/>
            <a:ext cx="3840480" cy="34747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Mobile Speed - 7.62s (POOR)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18 Pages Missing Meta Descriptions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12 Pages with Thin Content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3 Pages Blocked from Indexing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4 Duplicate Title Tags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3 Broken Links (4XX Errors)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4 Poorly Formatted URLs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! 1 Page with No Title Tag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Mobile Performance: Critical Issue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0" y="749808"/>
            <a:ext cx="9144000" cy="4389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E4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457200" y="1207008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7.62s</a:t>
            </a:r>
          </a:p>
        </p:txBody>
      </p:sp>
      <p:sp>
        <p:nvSpPr>
          <p:cNvPr id="7" name="t7"/>
          <p:cNvSpPr txBox="1"/>
          <p:nvPr/>
        </p:nvSpPr>
        <p:spPr>
          <a:xfrm>
            <a:off x="457200" y="1874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Mobile Load Time (POOR)</a:t>
            </a:r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3291840" y="1097280"/>
            <a:ext cx="2560320" cy="1645920"/>
          </a:xfrm>
          <a:prstGeom prst="rect">
            <a:avLst/>
          </a:prstGeom>
          <a:solidFill>
            <a:srgbClr val="EDFBF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3291840" y="1207008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027A3A"/>
                </a:solidFill>
                <a:latin typeface="Calibri"/>
              </a:rPr>
              <a:t>2.5s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3291840" y="1874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Google Target (Max)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6126480" y="1097280"/>
            <a:ext cx="2560320" cy="1645920"/>
          </a:xfrm>
          <a:prstGeom prst="rect">
            <a:avLst/>
          </a:prstGeom>
          <a:solidFill>
            <a:srgbClr val="FFE4E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6126480" y="1207008"/>
            <a:ext cx="2560320" cy="7772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4800" b="1" dirty="0">
                <a:solidFill>
                  <a:srgbClr val="CC2200"/>
                </a:solidFill>
                <a:latin typeface="Calibri"/>
              </a:rPr>
              <a:t>989ms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6126480" y="187452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4A5568"/>
                </a:solidFill>
                <a:latin typeface="Calibri"/>
              </a:rPr>
              <a:t>Mobile Interactivity (POOR)</a:t>
            </a:r>
          </a:p>
        </p:txBody>
      </p:sp>
      <p:sp>
        <p:nvSpPr>
          <p:cNvPr id="15" name="box12"/>
          <p:cNvSpPr>
            <a:spLocks noGrp="1"/>
          </p:cNvSpPr>
          <p:nvPr/>
        </p:nvSpPr>
        <p:spPr>
          <a:xfrm>
            <a:off x="457200" y="2880360"/>
            <a:ext cx="8229600" cy="36576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13"/>
          <p:cNvSpPr txBox="1"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CC2200"/>
                </a:solidFill>
                <a:latin typeface="Calibri"/>
              </a:rPr>
              <a:t>Why this matters:</a:t>
            </a:r>
          </a:p>
        </p:txBody>
      </p:sp>
      <p:sp>
        <p:nvSpPr>
          <p:cNvPr id="14" name="tl14"/>
          <p:cNvSpPr txBox="1"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Google uses mobile-first indexing - a slow mobile site ranks lower even for desktop searchers</a:t>
            </a:r>
          </a:p>
          <a:p>
            <a:pPr algn="l">
              <a:buNone/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At 7.62s load time, approximately 53% of mobile visitors abandon before the page loads</a:t>
            </a:r>
          </a:p>
          <a:p>
            <a:pPr algn="l">
              <a:buNone/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Fix: Audit Squarespace image sizes, enable lazy loading, review template performance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E-E-A-T Strengths and Critical Gaps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50392"/>
            <a:ext cx="4114800" cy="347472"/>
          </a:xfrm>
          <a:prstGeom prst="rect">
            <a:avLst/>
          </a:prstGeom>
          <a:solidFill>
            <a:srgbClr val="027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365760" y="87782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What You Have</a:t>
            </a:r>
          </a:p>
        </p:txBody>
      </p:sp>
      <p:sp>
        <p:nvSpPr>
          <p:cNvPr id="6" name="tl6"/>
          <p:cNvSpPr txBox="1"/>
          <p:nvPr/>
        </p:nvSpPr>
        <p:spPr>
          <a:xfrm>
            <a:off x="365760" y="1261872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Detailed staff bios with credentials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30-year founder story (powerful!)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Proprietary MET(T)A Protocol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EMDR-IA Approved program status</a:t>
            </a:r>
          </a:p>
          <a:p>
            <a:pPr algn="l">
              <a:buNone/>
            </a:pPr>
            <a:r>
              <a:rPr lang="en-US" sz="1400" b="0" dirty="0">
                <a:solidFill>
                  <a:srgbClr val="027A3A"/>
                </a:solidFill>
                <a:latin typeface="Calibri"/>
              </a:rPr>
              <a:t>  Dr. Dansiger is a published author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754880" y="850392"/>
            <a:ext cx="4114800" cy="347472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4846320" y="877824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/>
              </a:rPr>
              <a:t>What Is Missing</a:t>
            </a:r>
          </a:p>
        </p:txBody>
      </p:sp>
      <p:sp>
        <p:nvSpPr>
          <p:cNvPr id="9" name="tl9"/>
          <p:cNvSpPr txBox="1"/>
          <p:nvPr/>
        </p:nvSpPr>
        <p:spPr>
          <a:xfrm>
            <a:off x="4846320" y="1261872"/>
            <a:ext cx="393192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trainee testimonials anywhere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License numbers not displayed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press / media / books page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external validation links</a:t>
            </a:r>
          </a:p>
          <a:p>
            <a:pPr algn="l">
              <a:buNone/>
            </a:pPr>
            <a:r>
              <a:rPr lang="en-US" sz="1400" b="0" dirty="0">
                <a:solidFill>
                  <a:srgbClr val="CC2200"/>
                </a:solidFill>
                <a:latin typeface="Calibri"/>
              </a:rPr>
              <a:t>  No blog or educational content</a:t>
            </a:r>
          </a:p>
        </p:txBody>
      </p:sp>
      <p:sp>
        <p:nvSpPr>
          <p:cNvPr id="10" name="box10"/>
          <p:cNvSpPr>
            <a:spLocks noGrp="1"/>
          </p:cNvSpPr>
          <p:nvPr/>
        </p:nvSpPr>
        <p:spPr>
          <a:xfrm>
            <a:off x="274320" y="3364992"/>
            <a:ext cx="859536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11"/>
          <p:cNvSpPr txBox="1"/>
          <p:nvPr/>
        </p:nvSpPr>
        <p:spPr>
          <a:xfrm>
            <a:off x="365760" y="340156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C9A84C"/>
                </a:solidFill>
                <a:latin typeface="Calibri"/>
              </a:rPr>
              <a:t>The MET(T)A Protocol is a zero-competition branded keyword - SAA should own it completely online</a:t>
            </a:r>
          </a:p>
        </p:txBody>
      </p:sp>
      <p:sp>
        <p:nvSpPr>
          <p:cNvPr id="12" name="tl12"/>
          <p:cNvSpPr txBox="1"/>
          <p:nvPr/>
        </p:nvSpPr>
        <p:spPr>
          <a:xfrm>
            <a:off x="365760" y="3794760"/>
            <a:ext cx="8412480" cy="10972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Google Business Profile not set up - free, high-value, takes 15 minutes to claim</a:t>
            </a:r>
          </a:p>
          <a:p>
            <a:pPr algn="l">
              <a:buNone/>
            </a:pPr>
            <a:r>
              <a:rPr lang="en-US" sz="1400" b="0" dirty="0">
                <a:solidFill>
                  <a:srgbClr val="374151"/>
                </a:solidFill>
                <a:latin typeface="Calibri"/>
              </a:rPr>
              <a:t>  No blog or resource articles - competitors with content libraries are capturing all informational searches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Keyword Opportunities</a:t>
            </a:r>
          </a:p>
        </p:txBody>
      </p:sp>
      <p:sp>
        <p:nvSpPr>
          <p:cNvPr id="4" name="t4"/>
          <p:cNvSpPr txBox="1"/>
          <p:nvPr/>
        </p:nvSpPr>
        <p:spPr>
          <a:xfrm>
            <a:off x="320040" y="850392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374151"/>
                </a:solidFill>
                <a:latin typeface="Calibri"/>
              </a:rPr>
              <a:t>These are the searches your ideal clients are making right now - none currently rank for SAA.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274320" y="1261872"/>
            <a:ext cx="475488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5074920" y="1261872"/>
            <a:ext cx="146304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6583680" y="1261872"/>
            <a:ext cx="114300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box8"/>
          <p:cNvSpPr>
            <a:spLocks noGrp="1"/>
          </p:cNvSpPr>
          <p:nvPr/>
        </p:nvSpPr>
        <p:spPr>
          <a:xfrm>
            <a:off x="7772400" y="1261872"/>
            <a:ext cx="1188720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9"/>
          <p:cNvSpPr txBox="1"/>
          <p:nvPr/>
        </p:nvSpPr>
        <p:spPr>
          <a:xfrm>
            <a:off x="320040" y="1289304"/>
            <a:ext cx="466344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Keyword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5120640" y="1289304"/>
            <a:ext cx="137160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629400" y="1289304"/>
            <a:ext cx="105156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818120" y="1289304"/>
            <a:ext cx="1097280" cy="31089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274320" y="1664208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5074920" y="1664208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box15"/>
          <p:cNvSpPr>
            <a:spLocks noGrp="1"/>
          </p:cNvSpPr>
          <p:nvPr/>
        </p:nvSpPr>
        <p:spPr>
          <a:xfrm>
            <a:off x="6583680" y="1664208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7772400" y="1664208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365760" y="172821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training for therapists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5074920" y="172821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6583680" y="1728216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C07000"/>
                </a:solidFill>
                <a:latin typeface="Calibri"/>
              </a:rPr>
              <a:t>Medium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7772400" y="172821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274320" y="2057400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ox22"/>
          <p:cNvSpPr>
            <a:spLocks noGrp="1"/>
          </p:cNvSpPr>
          <p:nvPr/>
        </p:nvSpPr>
        <p:spPr>
          <a:xfrm>
            <a:off x="5074920" y="2057400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box23"/>
          <p:cNvSpPr>
            <a:spLocks noGrp="1"/>
          </p:cNvSpPr>
          <p:nvPr/>
        </p:nvSpPr>
        <p:spPr>
          <a:xfrm>
            <a:off x="6583680" y="2057400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box24"/>
          <p:cNvSpPr>
            <a:spLocks noGrp="1"/>
          </p:cNvSpPr>
          <p:nvPr/>
        </p:nvSpPr>
        <p:spPr>
          <a:xfrm>
            <a:off x="7772400" y="2057400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t25"/>
          <p:cNvSpPr txBox="1"/>
          <p:nvPr/>
        </p:nvSpPr>
        <p:spPr>
          <a:xfrm>
            <a:off x="365760" y="21214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certification program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5074920" y="212140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6583680" y="212140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C07000"/>
                </a:solidFill>
                <a:latin typeface="Calibri"/>
              </a:rPr>
              <a:t>Medium</a:t>
            </a:r>
          </a:p>
        </p:txBody>
      </p:sp>
      <p:sp>
        <p:nvSpPr>
          <p:cNvPr id="28" name="t28"/>
          <p:cNvSpPr txBox="1"/>
          <p:nvPr/>
        </p:nvSpPr>
        <p:spPr>
          <a:xfrm>
            <a:off x="7772400" y="212140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29" name="box29"/>
          <p:cNvSpPr>
            <a:spLocks noGrp="1"/>
          </p:cNvSpPr>
          <p:nvPr/>
        </p:nvSpPr>
        <p:spPr>
          <a:xfrm>
            <a:off x="274320" y="2450592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box30"/>
          <p:cNvSpPr>
            <a:spLocks noGrp="1"/>
          </p:cNvSpPr>
          <p:nvPr/>
        </p:nvSpPr>
        <p:spPr>
          <a:xfrm>
            <a:off x="5074920" y="2450592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box31"/>
          <p:cNvSpPr>
            <a:spLocks noGrp="1"/>
          </p:cNvSpPr>
          <p:nvPr/>
        </p:nvSpPr>
        <p:spPr>
          <a:xfrm>
            <a:off x="6583680" y="2450592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box32"/>
          <p:cNvSpPr>
            <a:spLocks noGrp="1"/>
          </p:cNvSpPr>
          <p:nvPr/>
        </p:nvSpPr>
        <p:spPr>
          <a:xfrm>
            <a:off x="7772400" y="2450592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t33"/>
          <p:cNvSpPr txBox="1"/>
          <p:nvPr/>
        </p:nvSpPr>
        <p:spPr>
          <a:xfrm>
            <a:off x="365760" y="2514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Part 1 training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5074920" y="251460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35" name="t35"/>
          <p:cNvSpPr txBox="1"/>
          <p:nvPr/>
        </p:nvSpPr>
        <p:spPr>
          <a:xfrm>
            <a:off x="6583680" y="25146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7772400" y="251460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37" name="box37"/>
          <p:cNvSpPr>
            <a:spLocks noGrp="1"/>
          </p:cNvSpPr>
          <p:nvPr/>
        </p:nvSpPr>
        <p:spPr>
          <a:xfrm>
            <a:off x="274320" y="2843784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box38"/>
          <p:cNvSpPr>
            <a:spLocks noGrp="1"/>
          </p:cNvSpPr>
          <p:nvPr/>
        </p:nvSpPr>
        <p:spPr>
          <a:xfrm>
            <a:off x="5074920" y="2843784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box39"/>
          <p:cNvSpPr>
            <a:spLocks noGrp="1"/>
          </p:cNvSpPr>
          <p:nvPr/>
        </p:nvSpPr>
        <p:spPr>
          <a:xfrm>
            <a:off x="6583680" y="2843784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box40"/>
          <p:cNvSpPr>
            <a:spLocks noGrp="1"/>
          </p:cNvSpPr>
          <p:nvPr/>
        </p:nvSpPr>
        <p:spPr>
          <a:xfrm>
            <a:off x="7772400" y="2843784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t41"/>
          <p:cNvSpPr txBox="1"/>
          <p:nvPr/>
        </p:nvSpPr>
        <p:spPr>
          <a:xfrm>
            <a:off x="365760" y="290779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Part 2 training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5074920" y="290779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6583680" y="290779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44" name="t44"/>
          <p:cNvSpPr txBox="1"/>
          <p:nvPr/>
        </p:nvSpPr>
        <p:spPr>
          <a:xfrm>
            <a:off x="7772400" y="2907792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45" name="box45"/>
          <p:cNvSpPr>
            <a:spLocks noGrp="1"/>
          </p:cNvSpPr>
          <p:nvPr/>
        </p:nvSpPr>
        <p:spPr>
          <a:xfrm>
            <a:off x="274320" y="3236976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box46"/>
          <p:cNvSpPr>
            <a:spLocks noGrp="1"/>
          </p:cNvSpPr>
          <p:nvPr/>
        </p:nvSpPr>
        <p:spPr>
          <a:xfrm>
            <a:off x="5074920" y="3236976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box47"/>
          <p:cNvSpPr>
            <a:spLocks noGrp="1"/>
          </p:cNvSpPr>
          <p:nvPr/>
        </p:nvSpPr>
        <p:spPr>
          <a:xfrm>
            <a:off x="6583680" y="3236976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box48"/>
          <p:cNvSpPr>
            <a:spLocks noGrp="1"/>
          </p:cNvSpPr>
          <p:nvPr/>
        </p:nvSpPr>
        <p:spPr>
          <a:xfrm>
            <a:off x="7772400" y="3236976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t49"/>
          <p:cNvSpPr txBox="1"/>
          <p:nvPr/>
        </p:nvSpPr>
        <p:spPr>
          <a:xfrm>
            <a:off x="365760" y="330098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MET(T)A Protocol training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5074920" y="3300984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Branded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6583680" y="330098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27A3A"/>
                </a:solidFill>
                <a:latin typeface="Calibri"/>
              </a:rPr>
              <a:t>Very Low</a:t>
            </a:r>
          </a:p>
        </p:txBody>
      </p:sp>
      <p:sp>
        <p:nvSpPr>
          <p:cNvPr id="52" name="t52"/>
          <p:cNvSpPr txBox="1"/>
          <p:nvPr/>
        </p:nvSpPr>
        <p:spPr>
          <a:xfrm>
            <a:off x="7772400" y="3300984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CC2200"/>
                </a:solidFill>
                <a:latin typeface="Calibri"/>
              </a:rPr>
              <a:t>Urgent</a:t>
            </a:r>
          </a:p>
        </p:txBody>
      </p:sp>
      <p:sp>
        <p:nvSpPr>
          <p:cNvPr id="53" name="box53"/>
          <p:cNvSpPr>
            <a:spLocks noGrp="1"/>
          </p:cNvSpPr>
          <p:nvPr/>
        </p:nvSpPr>
        <p:spPr>
          <a:xfrm>
            <a:off x="274320" y="3630168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5074920" y="3630168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6583680" y="3630168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7772400" y="3630168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57"/>
          <p:cNvSpPr txBox="1"/>
          <p:nvPr/>
        </p:nvSpPr>
        <p:spPr>
          <a:xfrm>
            <a:off x="365760" y="3694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for addiction treatment</a:t>
            </a:r>
          </a:p>
        </p:txBody>
      </p:sp>
      <p:sp>
        <p:nvSpPr>
          <p:cNvPr id="58" name="t58"/>
          <p:cNvSpPr txBox="1"/>
          <p:nvPr/>
        </p:nvSpPr>
        <p:spPr>
          <a:xfrm>
            <a:off x="5074920" y="369417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Informational</a:t>
            </a:r>
          </a:p>
        </p:txBody>
      </p:sp>
      <p:sp>
        <p:nvSpPr>
          <p:cNvPr id="59" name="t59"/>
          <p:cNvSpPr txBox="1"/>
          <p:nvPr/>
        </p:nvSpPr>
        <p:spPr>
          <a:xfrm>
            <a:off x="6583680" y="3694176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7772400" y="369417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4A5568"/>
                </a:solidFill>
                <a:latin typeface="Calibri"/>
              </a:rPr>
              <a:t>Medium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274320" y="4023360"/>
            <a:ext cx="475488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5074920" y="4023360"/>
            <a:ext cx="146304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6583680" y="4023360"/>
            <a:ext cx="114300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box64"/>
          <p:cNvSpPr>
            <a:spLocks noGrp="1"/>
          </p:cNvSpPr>
          <p:nvPr/>
        </p:nvSpPr>
        <p:spPr>
          <a:xfrm>
            <a:off x="7772400" y="4023360"/>
            <a:ext cx="1188720" cy="393192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t65"/>
          <p:cNvSpPr txBox="1"/>
          <p:nvPr/>
        </p:nvSpPr>
        <p:spPr>
          <a:xfrm>
            <a:off x="365760" y="408736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trauma-focused therapy training</a:t>
            </a:r>
          </a:p>
        </p:txBody>
      </p:sp>
      <p:sp>
        <p:nvSpPr>
          <p:cNvPr id="66" name="t66"/>
          <p:cNvSpPr txBox="1"/>
          <p:nvPr/>
        </p:nvSpPr>
        <p:spPr>
          <a:xfrm>
            <a:off x="5074920" y="40873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67" name="t67"/>
          <p:cNvSpPr txBox="1"/>
          <p:nvPr/>
        </p:nvSpPr>
        <p:spPr>
          <a:xfrm>
            <a:off x="6583680" y="4087368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C07000"/>
                </a:solidFill>
                <a:latin typeface="Calibri"/>
              </a:rPr>
              <a:t>Medium</a:t>
            </a:r>
          </a:p>
        </p:txBody>
      </p:sp>
      <p:sp>
        <p:nvSpPr>
          <p:cNvPr id="68" name="t68"/>
          <p:cNvSpPr txBox="1"/>
          <p:nvPr/>
        </p:nvSpPr>
        <p:spPr>
          <a:xfrm>
            <a:off x="7772400" y="408736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1B3A5C"/>
                </a:solidFill>
                <a:latin typeface="Calibri"/>
              </a:rPr>
              <a:t>High</a:t>
            </a:r>
          </a:p>
        </p:txBody>
      </p:sp>
      <p:sp>
        <p:nvSpPr>
          <p:cNvPr id="69" name="box69"/>
          <p:cNvSpPr>
            <a:spLocks noGrp="1"/>
          </p:cNvSpPr>
          <p:nvPr/>
        </p:nvSpPr>
        <p:spPr>
          <a:xfrm>
            <a:off x="274320" y="4416552"/>
            <a:ext cx="4754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0" name="box70"/>
          <p:cNvSpPr>
            <a:spLocks noGrp="1"/>
          </p:cNvSpPr>
          <p:nvPr/>
        </p:nvSpPr>
        <p:spPr>
          <a:xfrm>
            <a:off x="5074920" y="4416552"/>
            <a:ext cx="146304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box71"/>
          <p:cNvSpPr>
            <a:spLocks noGrp="1"/>
          </p:cNvSpPr>
          <p:nvPr/>
        </p:nvSpPr>
        <p:spPr>
          <a:xfrm>
            <a:off x="6583680" y="4416552"/>
            <a:ext cx="114300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box72"/>
          <p:cNvSpPr>
            <a:spLocks noGrp="1"/>
          </p:cNvSpPr>
          <p:nvPr/>
        </p:nvSpPr>
        <p:spPr>
          <a:xfrm>
            <a:off x="7772400" y="4416552"/>
            <a:ext cx="118872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73"/>
          <p:cNvSpPr txBox="1"/>
          <p:nvPr/>
        </p:nvSpPr>
        <p:spPr>
          <a:xfrm>
            <a:off x="365760" y="4480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1B3A5C"/>
                </a:solidFill>
                <a:latin typeface="Calibri"/>
              </a:rPr>
              <a:t>EMDR consultation hours</a:t>
            </a:r>
          </a:p>
        </p:txBody>
      </p:sp>
      <p:sp>
        <p:nvSpPr>
          <p:cNvPr id="74" name="t74"/>
          <p:cNvSpPr txBox="1"/>
          <p:nvPr/>
        </p:nvSpPr>
        <p:spPr>
          <a:xfrm>
            <a:off x="5074920" y="44805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0" dirty="0">
                <a:solidFill>
                  <a:srgbClr val="374151"/>
                </a:solidFill>
                <a:latin typeface="Calibri"/>
              </a:rPr>
              <a:t>Commercial</a:t>
            </a:r>
          </a:p>
        </p:txBody>
      </p:sp>
      <p:sp>
        <p:nvSpPr>
          <p:cNvPr id="75" name="t75"/>
          <p:cNvSpPr txBox="1"/>
          <p:nvPr/>
        </p:nvSpPr>
        <p:spPr>
          <a:xfrm>
            <a:off x="6583680" y="44805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028090"/>
                </a:solidFill>
                <a:latin typeface="Calibri"/>
              </a:rPr>
              <a:t>Low</a:t>
            </a:r>
          </a:p>
        </p:txBody>
      </p:sp>
      <p:sp>
        <p:nvSpPr>
          <p:cNvPr id="76" name="t76"/>
          <p:cNvSpPr txBox="1"/>
          <p:nvPr/>
        </p:nvSpPr>
        <p:spPr>
          <a:xfrm>
            <a:off x="7772400" y="448056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50" b="1" dirty="0">
                <a:solidFill>
                  <a:srgbClr val="4A5568"/>
                </a:solidFill>
                <a:latin typeface="Calibri"/>
              </a:rPr>
              <a:t>Medium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3"/>
          <p:cNvSpPr txBox="1"/>
          <p:nvPr/>
        </p:nvSpPr>
        <p:spPr>
          <a:xfrm>
            <a:off x="320040" y="109728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/>
              </a:rPr>
              <a:t>90-Day Action Plan</a:t>
            </a:r>
          </a:p>
        </p:txBody>
      </p:sp>
      <p:sp>
        <p:nvSpPr>
          <p:cNvPr id="4" name="box4"/>
          <p:cNvSpPr>
            <a:spLocks noGrp="1"/>
          </p:cNvSpPr>
          <p:nvPr/>
        </p:nvSpPr>
        <p:spPr>
          <a:xfrm>
            <a:off x="274320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5"/>
          <p:cNvSpPr txBox="1"/>
          <p:nvPr/>
        </p:nvSpPr>
        <p:spPr>
          <a:xfrm>
            <a:off x="274320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6" name="box6"/>
          <p:cNvSpPr>
            <a:spLocks noGrp="1"/>
          </p:cNvSpPr>
          <p:nvPr/>
        </p:nvSpPr>
        <p:spPr>
          <a:xfrm>
            <a:off x="274320" y="1188720"/>
            <a:ext cx="2057400" cy="3401568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7"/>
          <p:cNvSpPr txBox="1"/>
          <p:nvPr/>
        </p:nvSpPr>
        <p:spPr>
          <a:xfrm>
            <a:off x="365760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Quick Wins</a:t>
            </a:r>
          </a:p>
        </p:txBody>
      </p:sp>
      <p:sp>
        <p:nvSpPr>
          <p:cNvPr id="8" name="tl8"/>
          <p:cNvSpPr txBox="1"/>
          <p:nvPr/>
        </p:nvSpPr>
        <p:spPr>
          <a:xfrm>
            <a:off x="365760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Unblock 3 indexed pages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Set up Search Console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Claim Google Business Profile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missing + duplicate titles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2496312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2496312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WEEKS 2-3</a:t>
            </a:r>
          </a:p>
        </p:txBody>
      </p:sp>
      <p:sp>
        <p:nvSpPr>
          <p:cNvPr id="11" name="box11"/>
          <p:cNvSpPr>
            <a:spLocks noGrp="1"/>
          </p:cNvSpPr>
          <p:nvPr/>
        </p:nvSpPr>
        <p:spPr>
          <a:xfrm>
            <a:off x="2496312" y="1188720"/>
            <a:ext cx="2057400" cy="3401568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12"/>
          <p:cNvSpPr txBox="1"/>
          <p:nvPr/>
        </p:nvSpPr>
        <p:spPr>
          <a:xfrm>
            <a:off x="2587752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Homepage + Meta</a:t>
            </a:r>
          </a:p>
        </p:txBody>
      </p:sp>
      <p:sp>
        <p:nvSpPr>
          <p:cNvPr id="13" name="tl13"/>
          <p:cNvSpPr txBox="1"/>
          <p:nvPr/>
        </p:nvSpPr>
        <p:spPr>
          <a:xfrm>
            <a:off x="2587752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Write + publish homepage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Add 18 missing meta descs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short/long title tags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4 URL issues</a:t>
            </a:r>
          </a:p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718304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15"/>
          <p:cNvSpPr txBox="1"/>
          <p:nvPr/>
        </p:nvSpPr>
        <p:spPr>
          <a:xfrm>
            <a:off x="4718304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WEEKS 4-6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4718304" y="1188720"/>
            <a:ext cx="2057400" cy="3401568"/>
          </a:xfrm>
          <a:prstGeom prst="rect">
            <a:avLst/>
          </a:prstGeom>
          <a:solidFill>
            <a:srgbClr val="EEF7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4809744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Content + Schema</a:t>
            </a:r>
          </a:p>
        </p:txBody>
      </p:sp>
      <p:sp>
        <p:nvSpPr>
          <p:cNvPr id="18" name="tl18"/>
          <p:cNvSpPr txBox="1"/>
          <p:nvPr/>
        </p:nvSpPr>
        <p:spPr>
          <a:xfrm>
            <a:off x="4809744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Expand 12 thin pages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Add Organization schema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Add Course schema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Fix mobile load time</a:t>
            </a:r>
          </a:p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6940296" y="841248"/>
            <a:ext cx="2057400" cy="347472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20"/>
          <p:cNvSpPr txBox="1"/>
          <p:nvPr/>
        </p:nvSpPr>
        <p:spPr>
          <a:xfrm>
            <a:off x="6940296" y="841248"/>
            <a:ext cx="2057400" cy="34747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</a:rPr>
              <a:t>WEEKS 6-8</a:t>
            </a:r>
          </a:p>
        </p:txBody>
      </p:sp>
      <p:sp>
        <p:nvSpPr>
          <p:cNvPr id="21" name="box21"/>
          <p:cNvSpPr>
            <a:spLocks noGrp="1"/>
          </p:cNvSpPr>
          <p:nvPr/>
        </p:nvSpPr>
        <p:spPr>
          <a:xfrm>
            <a:off x="6940296" y="1188720"/>
            <a:ext cx="2057400" cy="3401568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t22"/>
          <p:cNvSpPr txBox="1"/>
          <p:nvPr/>
        </p:nvSpPr>
        <p:spPr>
          <a:xfrm>
            <a:off x="7031736" y="1225296"/>
            <a:ext cx="187452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1B3A5C"/>
                </a:solidFill>
                <a:latin typeface="Calibri"/>
              </a:rPr>
              <a:t>Strategic Growth</a:t>
            </a:r>
          </a:p>
        </p:txBody>
      </p:sp>
      <p:sp>
        <p:nvSpPr>
          <p:cNvPr id="23" name="tl23"/>
          <p:cNvSpPr txBox="1"/>
          <p:nvPr/>
        </p:nvSpPr>
        <p:spPr>
          <a:xfrm>
            <a:off x="7031736" y="1618488"/>
            <a:ext cx="1874520" cy="28803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EMDR Part I/II pages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MET(T)A Protocol page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Treatment Centers page</a:t>
            </a:r>
          </a:p>
          <a:p>
            <a:pPr algn="l">
              <a:buNone/>
            </a:pPr>
            <a:r>
              <a:rPr lang="en-US" sz="1100" b="0" dirty="0">
                <a:solidFill>
                  <a:srgbClr val="374151"/>
                </a:solidFill>
                <a:latin typeface="Calibri"/>
              </a:rPr>
              <a:t>  - First blog post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4"/>
          <p:cNvSpPr txBox="1"/>
          <p:nvPr/>
        </p:nvSpPr>
        <p:spPr>
          <a:xfrm>
            <a:off x="320040" y="118872"/>
            <a:ext cx="850392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900" b="1" dirty="0">
                <a:solidFill>
                  <a:srgbClr val="FFFFFF"/>
                </a:solidFill>
                <a:latin typeface="Calibri"/>
              </a:rPr>
              <a:t>Investment Proposal - Website Enhancement and Digital Growth Package</a:t>
            </a:r>
          </a:p>
        </p:txBody>
      </p:sp>
      <p:sp>
        <p:nvSpPr>
          <p:cNvPr id="5" name="box5"/>
          <p:cNvSpPr>
            <a:spLocks noGrp="1"/>
          </p:cNvSpPr>
          <p:nvPr/>
        </p:nvSpPr>
        <p:spPr>
          <a:xfrm>
            <a:off x="365760" y="886968"/>
            <a:ext cx="3840480" cy="1371600"/>
          </a:xfrm>
          <a:prstGeom prst="rect">
            <a:avLst/>
          </a:prstGeom>
          <a:solidFill>
            <a:srgbClr val="0D2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6"/>
          <p:cNvSpPr txBox="1"/>
          <p:nvPr/>
        </p:nvSpPr>
        <p:spPr>
          <a:xfrm>
            <a:off x="365760" y="9601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C9A84C"/>
                </a:solidFill>
                <a:latin typeface="Calibri"/>
              </a:rPr>
              <a:t>ONE-TIME</a:t>
            </a:r>
          </a:p>
        </p:txBody>
      </p:sp>
      <p:sp>
        <p:nvSpPr>
          <p:cNvPr id="7" name="t7"/>
          <p:cNvSpPr txBox="1"/>
          <p:nvPr/>
        </p:nvSpPr>
        <p:spPr>
          <a:xfrm>
            <a:off x="365760" y="141732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$700</a:t>
            </a:r>
          </a:p>
        </p:txBody>
      </p:sp>
      <p:sp>
        <p:nvSpPr>
          <p:cNvPr id="8" name="t8"/>
          <p:cNvSpPr txBox="1"/>
          <p:nvPr/>
        </p:nvSpPr>
        <p:spPr>
          <a:xfrm>
            <a:off x="365760" y="2057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A0BAD0"/>
                </a:solidFill>
                <a:latin typeface="Calibri"/>
              </a:rPr>
              <a:t>Full Implementation (Weeks 1-10)</a:t>
            </a:r>
          </a:p>
        </p:txBody>
      </p:sp>
      <p:sp>
        <p:nvSpPr>
          <p:cNvPr id="9" name="box9"/>
          <p:cNvSpPr>
            <a:spLocks noGrp="1"/>
          </p:cNvSpPr>
          <p:nvPr/>
        </p:nvSpPr>
        <p:spPr>
          <a:xfrm>
            <a:off x="4937760" y="886968"/>
            <a:ext cx="3840480" cy="1371600"/>
          </a:xfrm>
          <a:prstGeom prst="rect">
            <a:avLst/>
          </a:prstGeom>
          <a:solidFill>
            <a:srgbClr val="0D244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10"/>
          <p:cNvSpPr txBox="1"/>
          <p:nvPr/>
        </p:nvSpPr>
        <p:spPr>
          <a:xfrm>
            <a:off x="4937760" y="96012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C9A84C"/>
                </a:solidFill>
                <a:latin typeface="Calibri"/>
              </a:rPr>
              <a:t>MONTHLY RETAINER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4937760" y="1417320"/>
            <a:ext cx="3840480" cy="6858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/>
              </a:rPr>
              <a:t>$199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4937760" y="20574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A0BAD0"/>
                </a:solidFill>
                <a:latin typeface="Calibri"/>
              </a:rPr>
              <a:t>12-Month Contract</a:t>
            </a:r>
          </a:p>
        </p:txBody>
      </p:sp>
      <p:sp>
        <p:nvSpPr>
          <p:cNvPr id="13" name="box13"/>
          <p:cNvSpPr>
            <a:spLocks noGrp="1"/>
          </p:cNvSpPr>
          <p:nvPr/>
        </p:nvSpPr>
        <p:spPr>
          <a:xfrm>
            <a:off x="365760" y="2423160"/>
            <a:ext cx="384048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14"/>
          <p:cNvSpPr txBox="1"/>
          <p:nvPr/>
        </p:nvSpPr>
        <p:spPr>
          <a:xfrm>
            <a:off x="457200" y="2450592"/>
            <a:ext cx="3657600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One-Time Includes:</a:t>
            </a:r>
          </a:p>
        </p:txBody>
      </p:sp>
      <p:sp>
        <p:nvSpPr>
          <p:cNvPr id="15" name="tl15"/>
          <p:cNvSpPr txBox="1"/>
          <p:nvPr/>
        </p:nvSpPr>
        <p:spPr>
          <a:xfrm>
            <a:off x="457200" y="278892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Complete homepage rebuild + CTAs</a:t>
            </a:r>
            <a:br>
              <a:rPr lang="en-US" sz="1200" b="0" dirty="0">
                <a:solidFill>
                  <a:srgbClr val="D0E8F0"/>
                </a:solidFill>
                <a:latin typeface="Calibri"/>
              </a:rPr>
            </a:br>
            <a:r>
              <a:rPr lang="en-US" sz="1200" b="0" dirty="0">
                <a:solidFill>
                  <a:srgbClr val="D0E8F0"/>
                </a:solidFill>
                <a:latin typeface="Calibri"/>
              </a:rPr>
              <a:t>  Buildout header and footer for authority &amp; SEO 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New landing pages (Part I, II, MET(T)A)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Title tags + meta descriptions overhaul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Mobile performance optimization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Schema markup + technical fixes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Google Search Console + GBP setup</a:t>
            </a:r>
          </a:p>
        </p:txBody>
      </p:sp>
      <p:sp>
        <p:nvSpPr>
          <p:cNvPr id="16" name="box16"/>
          <p:cNvSpPr>
            <a:spLocks noGrp="1"/>
          </p:cNvSpPr>
          <p:nvPr/>
        </p:nvSpPr>
        <p:spPr>
          <a:xfrm>
            <a:off x="4937760" y="2423160"/>
            <a:ext cx="384048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17"/>
          <p:cNvSpPr txBox="1"/>
          <p:nvPr/>
        </p:nvSpPr>
        <p:spPr>
          <a:xfrm>
            <a:off x="5029200" y="2450592"/>
            <a:ext cx="3657600" cy="26517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Monthly Retainer Includes:</a:t>
            </a:r>
          </a:p>
        </p:txBody>
      </p:sp>
      <p:sp>
        <p:nvSpPr>
          <p:cNvPr id="18" name="tl18"/>
          <p:cNvSpPr txBox="1"/>
          <p:nvPr/>
        </p:nvSpPr>
        <p:spPr>
          <a:xfrm>
            <a:off x="5029200" y="278892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On-page updates + schema maintenance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Search Console + Analytics reporting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Keyword rank tracking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Quarterly strategy call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Squarespace optimization tweaks</a:t>
            </a:r>
          </a:p>
          <a:p>
            <a:pPr algn="l">
              <a:buNone/>
            </a:pPr>
            <a:r>
              <a:rPr lang="en-US" sz="1200" b="0" dirty="0">
                <a:solidFill>
                  <a:srgbClr val="D0E8F0"/>
                </a:solidFill>
                <a:latin typeface="Calibri"/>
              </a:rPr>
              <a:t>  Note: No content writing included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2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box3"/>
          <p:cNvSpPr>
            <a:spLocks noGrp="1"/>
          </p:cNvSpPr>
          <p:nvPr/>
        </p:nvSpPr>
        <p:spPr>
          <a:xfrm>
            <a:off x="0" y="2103120"/>
            <a:ext cx="164592" cy="30175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4"/>
          <p:cNvSpPr txBox="1"/>
          <p:nvPr/>
        </p:nvSpPr>
        <p:spPr>
          <a:xfrm>
            <a:off x="411480" y="10058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/>
              </a:rPr>
              <a:t>Ready to Start?</a:t>
            </a:r>
          </a:p>
        </p:txBody>
      </p:sp>
      <p:sp>
        <p:nvSpPr>
          <p:cNvPr id="5" name="t5"/>
          <p:cNvSpPr txBox="1"/>
          <p:nvPr/>
        </p:nvSpPr>
        <p:spPr>
          <a:xfrm>
            <a:off x="411480" y="1783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b="0" dirty="0">
                <a:solidFill>
                  <a:srgbClr val="A0BAD0"/>
                </a:solidFill>
                <a:latin typeface="Calibri"/>
              </a:rPr>
              <a:t>Start Again Associates has the credentials, the history, and the proprietary protocol.</a:t>
            </a:r>
          </a:p>
        </p:txBody>
      </p:sp>
      <p:sp>
        <p:nvSpPr>
          <p:cNvPr id="6" name="t6"/>
          <p:cNvSpPr txBox="1"/>
          <p:nvPr/>
        </p:nvSpPr>
        <p:spPr>
          <a:xfrm>
            <a:off x="411480" y="23317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lstStyle/>
          <a:p>
            <a:pPr algn="l">
              <a:buNone/>
            </a:pPr>
            <a:r>
              <a:rPr lang="en-US" sz="3100" b="1" dirty="0">
                <a:solidFill>
                  <a:srgbClr val="C9A84C"/>
                </a:solidFill>
                <a:latin typeface="Calibri"/>
              </a:rPr>
              <a:t>Now let us make sure the right people can find it.</a:t>
            </a:r>
          </a:p>
        </p:txBody>
      </p:sp>
      <p:sp>
        <p:nvSpPr>
          <p:cNvPr id="7" name="box7"/>
          <p:cNvSpPr>
            <a:spLocks noGrp="1"/>
          </p:cNvSpPr>
          <p:nvPr/>
        </p:nvSpPr>
        <p:spPr>
          <a:xfrm>
            <a:off x="411480" y="3017520"/>
            <a:ext cx="8229600" cy="36576"/>
          </a:xfrm>
          <a:prstGeom prst="rect">
            <a:avLst/>
          </a:prstGeom>
          <a:solidFill>
            <a:srgbClr val="77A4B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t8"/>
          <p:cNvSpPr txBox="1"/>
          <p:nvPr/>
        </p:nvSpPr>
        <p:spPr>
          <a:xfrm>
            <a:off x="411480" y="31546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700" b="1" dirty="0">
                <a:solidFill>
                  <a:srgbClr val="77A4BC"/>
                </a:solidFill>
                <a:latin typeface="Calibri"/>
              </a:rPr>
              <a:t>Immediate Next Steps:</a:t>
            </a:r>
          </a:p>
        </p:txBody>
      </p:sp>
      <p:sp>
        <p:nvSpPr>
          <p:cNvPr id="9" name="tl9"/>
          <p:cNvSpPr txBox="1"/>
          <p:nvPr/>
        </p:nvSpPr>
        <p:spPr>
          <a:xfrm>
            <a:off x="411480" y="36118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rmAutofit/>
          </a:bodyPr>
          <a:lstStyle/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  1.  Confirm scope and sign off on proposal</a:t>
            </a:r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  2.  Start Team provides Squarespace access and confirms GBP details</a:t>
            </a:r>
          </a:p>
          <a:p>
            <a:pPr algn="l">
              <a:buNone/>
            </a:pPr>
            <a:r>
              <a:rPr lang="en-US" sz="1500" b="0" dirty="0">
                <a:solidFill>
                  <a:srgbClr val="FFFFFF"/>
                </a:solidFill>
                <a:latin typeface="Calibri"/>
              </a:rPr>
              <a:t>  3.  POP begins Week 1 quick wins - target completion within 5 business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A Theme">
  <a:themeElements>
    <a:clrScheme name="SAA">
      <a:dk1>
        <a:srgbClr val="1B3A5C"/>
      </a:dk1>
      <a:lt1>
        <a:srgbClr val="FFFFFF"/>
      </a:lt1>
      <a:dk2>
        <a:srgbClr val="028090"/>
      </a:dk2>
      <a:lt2>
        <a:srgbClr val="EBF3FB"/>
      </a:lt2>
      <a:accent1>
        <a:srgbClr val="1B3A5C"/>
      </a:accent1>
      <a:accent2>
        <a:srgbClr val="028090"/>
      </a:accent2>
      <a:accent3>
        <a:srgbClr val="C9A84C"/>
      </a:accent3>
      <a:accent4>
        <a:srgbClr val="CC2200"/>
      </a:accent4>
      <a:accent5>
        <a:srgbClr val="027A3A"/>
      </a:accent5>
      <a:accent6>
        <a:srgbClr val="4A5568"/>
      </a:accent6>
      <a:hlink>
        <a:srgbClr val="028090"/>
      </a:hlink>
      <a:folHlink>
        <a:srgbClr val="1B3A5C"/>
      </a:folHlink>
    </a:clrScheme>
    <a:fontScheme name="SA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A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1097</Words>
  <Application>Microsoft Office PowerPoint</Application>
  <PresentationFormat>On-screen Show (16:9)</PresentationFormat>
  <Paragraphs>223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Calibri</vt:lpstr>
      <vt:lpstr>SAA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Audit Report - Start Again Associates</dc:title>
  <dc:creator>Richard</dc:creator>
  <cp:lastModifiedBy>Richard Brashear</cp:lastModifiedBy>
  <cp:revision>2</cp:revision>
  <dcterms:modified xsi:type="dcterms:W3CDTF">2026-05-26T19:51:47Z</dcterms:modified>
</cp:coreProperties>
</file>